
<file path=[Content_Types].xml><?xml version="1.0" encoding="utf-8"?>
<Types xmlns="http://schemas.openxmlformats.org/package/2006/content-types">
  <Default Extension="Default" ContentType="image/png"/>
  <Default Extension="fntdata" ContentType="application/x-fontdata"/>
  <Default Extension="glb" ContentType="model/gltf.binary"/>
  <Default Extension="jpg" ContentType="image/jpeg"/>
  <Default Extension="org&amp;utm_campaign=index&amp;utm_content=thumbnai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257" r:id="rId2"/>
    <p:sldId id="282" r:id="rId3"/>
    <p:sldId id="292" r:id="rId4"/>
    <p:sldId id="324" r:id="rId5"/>
    <p:sldId id="347" r:id="rId6"/>
    <p:sldId id="348" r:id="rId7"/>
    <p:sldId id="367" r:id="rId8"/>
    <p:sldId id="298" r:id="rId9"/>
    <p:sldId id="349" r:id="rId10"/>
    <p:sldId id="366" r:id="rId11"/>
    <p:sldId id="350" r:id="rId12"/>
    <p:sldId id="351" r:id="rId13"/>
    <p:sldId id="352" r:id="rId14"/>
    <p:sldId id="370" r:id="rId15"/>
    <p:sldId id="371" r:id="rId16"/>
    <p:sldId id="368" r:id="rId17"/>
    <p:sldId id="355" r:id="rId18"/>
    <p:sldId id="356" r:id="rId19"/>
    <p:sldId id="357" r:id="rId20"/>
    <p:sldId id="359" r:id="rId21"/>
    <p:sldId id="373" r:id="rId22"/>
    <p:sldId id="362" r:id="rId23"/>
    <p:sldId id="363" r:id="rId24"/>
    <p:sldId id="372" r:id="rId25"/>
    <p:sldId id="364" r:id="rId26"/>
    <p:sldId id="365" r:id="rId27"/>
    <p:sldId id="290" r:id="rId28"/>
  </p:sldIdLst>
  <p:sldSz cx="14630400" cy="8229600"/>
  <p:notesSz cx="8229600" cy="14630400"/>
  <p:embeddedFontLst>
    <p:embeddedFont>
      <p:font typeface="Arimo Semi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25" autoAdjust="0"/>
    <p:restoredTop sz="94641" autoAdjust="0"/>
  </p:normalViewPr>
  <p:slideViewPr>
    <p:cSldViewPr snapToGrid="0" snapToObjects="1">
      <p:cViewPr varScale="1">
        <p:scale>
          <a:sx n="65" d="100"/>
          <a:sy n="65" d="100"/>
        </p:scale>
        <p:origin x="114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310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h81cb5bd205af495_1_64: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h81cb5bd205af495_1_64:notes"/>
          <p:cNvSpPr txBox="1">
            <a:spLocks noGrp="1"/>
          </p:cNvSpPr>
          <p:nvPr>
            <p:ph type="body" idx="1"/>
          </p:nvPr>
        </p:nvSpPr>
        <p:spPr>
          <a:xfrm>
            <a:off x="822950" y="6949425"/>
            <a:ext cx="6583800" cy="658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1162-1624-0BAD-2E0B-2974F9C0B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06B7B-2F37-7622-FBCD-B4BD05B1D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A0464-B7E9-EC79-955B-65DF9B8947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86D1F4-310C-D66C-874D-56EEB5B62B2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77082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78D87-C967-E1D9-B080-C0C1D789C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139C6-4B12-D0B9-693D-1F673D630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57687-4C7C-146C-A1EA-48252F934E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8A7706-0BEF-99B1-1007-4B0462C5346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073790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C5164-B530-DA3F-5A5A-B70DB27A5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659965-BDA7-FF98-FBAA-62A1904709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E37F6-2627-12F7-7B52-FD5C41E3F0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60A8E2-9841-CE50-7DEE-33E4AC5C775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988030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66987-5F32-18F9-0B6E-24BF0BDE1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D152D-6BD9-DCBA-7BCC-74E84F0A4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2132F-F994-6DF4-4DD8-D912352197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3E5EE9-B5F7-3796-FBAE-BA8A162E635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467699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36E3A-8A8C-06B7-F19C-807E4F3B2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34C59-B13E-76A7-46C3-30F9D41013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C844B-49E0-E9EF-FA81-24039584B3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313038-4140-1B54-B10E-9CDBAB8E987B}"/>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84744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D8CD6-1D90-3E1C-0347-75F6E347B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C77E6A-F52F-AF4F-3180-A2B46034E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54758-682E-551D-49E8-DABD3322A5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4D9EF-7813-CD28-6F09-A7D73B23331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881244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0070E-FFDE-A9A7-C046-76A7621F4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1814C-B83B-16D6-7D3C-F81460BF05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13807-FEF0-19A9-0BEA-06FDBA20B8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53C066-F0CA-51C9-4015-A9B989B365A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47632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CFA26-0879-0F71-A332-90653E345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D800D-8E26-B1AD-EDEA-A9A890155B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5EA48-3924-3462-66FC-51E6EF055F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B906B5-2842-9C8B-BACE-4C7C97E06A4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55836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5855E-6234-2736-9713-D80108874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E6807-61AF-3FB1-23D0-CC83D3E8D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50B14F-6BFB-9A3D-D8EE-4950E9FB41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B10582-61D7-8666-3A9F-9487E1F6BB5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350443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8C813-1129-839F-6EF3-EEFFB2F2C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A7FDB-E1AB-B7D5-6CF1-C5FD320B1F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8C1AB-18A2-D594-656F-CF237157C4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D3D056-E74E-F277-B868-4C4AAF63E6E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090669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3259-E49F-B609-B4D8-047F5D4AF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A9AD96-95E8-CB75-9E87-3BF352C54D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974959-10B5-B3F2-E2CE-363F47FD3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0ACEC8-8ADE-8779-7EC2-8BCF547600B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637951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AD3E2-CC15-6FAB-7582-A9B74D25D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0B504-45BC-DAEB-ED17-7D7BD323C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2858E-CD2D-3539-9871-16196CA709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F0D9DE-D657-3C62-6B84-3712EE79888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82251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2FF15-CF4A-CF2A-7C3A-2332495DA7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7EF3C-0440-8291-6867-3E55C1AFF1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38B90E-03E8-A579-8240-ABC986CD03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9B5332-056A-1E9B-E454-B6FD67BFE02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08764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3F187-E839-304C-9454-B56596363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0E8573-D2E8-93EC-F78E-17123901AC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4C9CA9-366A-2E99-4D5D-28BF306496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0EA4D4-7346-309D-D06C-1E5DCB317C6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86802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A693B-E2B0-2DFA-D844-5DC97B95B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D9EFD-34FE-1D8A-7DF6-5B686DBE3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44819-B16E-7EE8-5D71-362F55D354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EA0DBF-0705-E14D-2909-92A9B0FD7D4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235509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756D1-8B70-8CAF-4D6C-EA7313EFB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92FED-637C-3FA9-8802-EC91C3E11D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CC6C6-08D4-3226-B872-C6B378B9F8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62A680-50CC-98AE-6ECA-098A08023E3D}"/>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959331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47462-473E-5D32-BF42-11F89C609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81D46-3E66-876A-C428-529A38F9D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7501FD-66A5-3A34-583D-6C088EB2FA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7827EE-749D-E580-150D-3E5E1648735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462153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759BE-A996-19A3-8E07-8B00CB82C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5434B-B4EC-5063-0581-8A63608FD7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56ECB-6496-E5F2-2782-C6A6E12210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32AD4E-0FAE-9507-6D1D-88677F435A8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6056648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B5672-996F-2361-E86E-0BCC8583A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229D1-BEAD-DFEB-E4B8-C6356C9E9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62FC9-F307-9E21-CD05-E857F22123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FDCEDA-FA85-042C-F302-4EB2CADF8AB6}"/>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5828957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598F1-8799-29B0-C392-189BE8112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3B9011-AD48-0F8C-13B1-9B6283BAC8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A9B84-782B-6C8A-EA59-1AAED7A45A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DF3AC7-790E-34C9-1D0E-D411BAAD051D}"/>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202974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F4C24-BB6F-C5C5-1794-47769B330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223A2-3030-D2AB-070D-6172DE4391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9F0AE6-9B84-E5AE-996C-70A703E00F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CDC3C2-7E03-8207-0531-E93DA05CFAA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421926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1B3F8-2594-853D-288C-A8E24B83A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B9BD7-34A9-90DD-E649-17F54E6F0A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127CDA-A72A-6FFE-6D86-81F721D1EA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4A0E3-206D-6FAD-172F-D53DEB948C27}"/>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218849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DCE20-5A04-C463-1206-B8A7FB613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589A08-AAC2-7671-D757-B4FE7A937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B5181-FE9E-CD03-A138-2CEB2691DA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2EE8AD-58A8-44CD-3B8B-E02ED814238C}"/>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4151146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8EE96-2CFF-DE26-DAD8-3CA1C0484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12FCC2-7A27-E592-90F6-30CDF9222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D1855-B7D7-5930-4094-B9182A2AE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3668B7-730D-5441-26D6-F4F850833F6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8081025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7B5CC-51BF-5F59-8C8A-F6A3BD59B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22FA2-43A8-A850-3093-449E05061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45749-10DE-3F25-7FB5-E6FFC5FFC3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2DC82B-E912-D947-B071-98EC7FBBAAA0}"/>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84583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h81cb5bd205af495_8_0)">
  <p:cSld name="Generated (h81cb5bd205af495_8_0)">
    <p:spTree>
      <p:nvGrpSpPr>
        <p:cNvPr id="1" name="Shape 89"/>
        <p:cNvGrpSpPr/>
        <p:nvPr/>
      </p:nvGrpSpPr>
      <p:grpSpPr>
        <a:xfrm>
          <a:off x="0" y="0"/>
          <a:ext cx="0" cy="0"/>
          <a:chOff x="0" y="0"/>
          <a:chExt cx="0" cy="0"/>
        </a:xfrm>
      </p:grpSpPr>
    </p:spTree>
    <p:extLst>
      <p:ext uri="{BB962C8B-B14F-4D97-AF65-F5344CB8AC3E}">
        <p14:creationId xmlns:p14="http://schemas.microsoft.com/office/powerpoint/2010/main" val="360409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png"/><Relationship Id="rId4" Type="http://schemas.microsoft.com/office/2017/06/relationships/model3d" Target="../media/model3d1.glb"/></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3.org&amp;utm_campaign=index&amp;utm_content=thumbnail"/><Relationship Id="rId3" Type="http://schemas.openxmlformats.org/officeDocument/2006/relationships/image" Target="../media/image10.png"/><Relationship Id="rId7" Type="http://schemas.openxmlformats.org/officeDocument/2006/relationships/image" Target="../media/image22.Default"/><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org&amp;utm_campaign=index&amp;utm_content=thumbnail"/><Relationship Id="rId5" Type="http://schemas.openxmlformats.org/officeDocument/2006/relationships/image" Target="../media/image20.png"/><Relationship Id="rId4" Type="http://schemas.openxmlformats.org/officeDocument/2006/relationships/image" Target="../media/image19.org&amp;utm_campaign=index&amp;utm_content=thumbnai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hyperlink" Target="../Unity_Project/StereoPanoramaViewer/Builds/version_2/StereoPanoramaViewer.exe"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23" name="Google Shape;123;p27"/>
          <p:cNvPicPr preferRelativeResize="0"/>
          <p:nvPr/>
        </p:nvPicPr>
        <p:blipFill rotWithShape="1">
          <a:blip r:embed="rId3">
            <a:alphaModFix/>
          </a:blip>
          <a:srcRect l="15660" r="15654"/>
          <a:stretch/>
        </p:blipFill>
        <p:spPr>
          <a:xfrm rot="5400000">
            <a:off x="13160763" y="7084635"/>
            <a:ext cx="468600" cy="1657800"/>
          </a:xfrm>
          <a:prstGeom prst="rect">
            <a:avLst/>
          </a:prstGeom>
          <a:noFill/>
          <a:ln>
            <a:noFill/>
          </a:ln>
        </p:spPr>
      </p:pic>
      <p:pic>
        <p:nvPicPr>
          <p:cNvPr id="106" name="Google Shape;106;p27"/>
          <p:cNvPicPr preferRelativeResize="0"/>
          <p:nvPr/>
        </p:nvPicPr>
        <p:blipFill rotWithShape="1">
          <a:blip r:embed="rId4">
            <a:alphaModFix/>
          </a:blip>
          <a:srcRect/>
          <a:stretch/>
        </p:blipFill>
        <p:spPr>
          <a:xfrm>
            <a:off x="0" y="0"/>
            <a:ext cx="14630400" cy="8229600"/>
          </a:xfrm>
          <a:prstGeom prst="rect">
            <a:avLst/>
          </a:prstGeom>
          <a:noFill/>
          <a:ln>
            <a:noFill/>
          </a:ln>
        </p:spPr>
      </p:pic>
      <p:pic>
        <p:nvPicPr>
          <p:cNvPr id="107" name="Google Shape;107;p27"/>
          <p:cNvPicPr preferRelativeResize="0"/>
          <p:nvPr/>
        </p:nvPicPr>
        <p:blipFill rotWithShape="1">
          <a:blip r:embed="rId5">
            <a:alphaModFix/>
          </a:blip>
          <a:srcRect/>
          <a:stretch/>
        </p:blipFill>
        <p:spPr>
          <a:xfrm>
            <a:off x="571500" y="381000"/>
            <a:ext cx="3405300" cy="1050300"/>
          </a:xfrm>
          <a:prstGeom prst="roundRect">
            <a:avLst>
              <a:gd name="adj" fmla="val 7254"/>
            </a:avLst>
          </a:prstGeom>
          <a:noFill/>
          <a:ln>
            <a:noFill/>
          </a:ln>
        </p:spPr>
      </p:pic>
      <p:sp>
        <p:nvSpPr>
          <p:cNvPr id="108" name="Google Shape;108;p27"/>
          <p:cNvSpPr txBox="1"/>
          <p:nvPr/>
        </p:nvSpPr>
        <p:spPr>
          <a:xfrm>
            <a:off x="4095750" y="285750"/>
            <a:ext cx="9963300" cy="1047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3330" b="1">
                <a:solidFill>
                  <a:srgbClr val="D32F2F"/>
                </a:solidFill>
                <a:latin typeface="Arial"/>
                <a:ea typeface="Arial"/>
                <a:cs typeface="Arial"/>
                <a:sym typeface="Arial"/>
              </a:rPr>
              <a:t>MÔN HỌC: PHÁT TRIỂN ỨNG DỤNG THỰC TẾ ẢO VR</a:t>
            </a:r>
            <a:endParaRPr sz="3330" b="1">
              <a:solidFill>
                <a:srgbClr val="D32F2F"/>
              </a:solidFill>
              <a:latin typeface="Arial"/>
              <a:ea typeface="Arial"/>
              <a:cs typeface="Arial"/>
              <a:sym typeface="Arial"/>
            </a:endParaRPr>
          </a:p>
        </p:txBody>
      </p:sp>
      <p:pic>
        <p:nvPicPr>
          <p:cNvPr id="109" name="Google Shape;109;p27"/>
          <p:cNvPicPr preferRelativeResize="0"/>
          <p:nvPr/>
        </p:nvPicPr>
        <p:blipFill rotWithShape="1">
          <a:blip r:embed="rId6">
            <a:alphaModFix/>
          </a:blip>
          <a:srcRect/>
          <a:stretch/>
        </p:blipFill>
        <p:spPr>
          <a:xfrm>
            <a:off x="571500" y="1524000"/>
            <a:ext cx="13487400" cy="38100"/>
          </a:xfrm>
          <a:prstGeom prst="rect">
            <a:avLst/>
          </a:prstGeom>
          <a:noFill/>
          <a:ln>
            <a:noFill/>
          </a:ln>
        </p:spPr>
      </p:pic>
      <p:sp>
        <p:nvSpPr>
          <p:cNvPr id="110" name="Google Shape;110;p27"/>
          <p:cNvSpPr txBox="1"/>
          <p:nvPr/>
        </p:nvSpPr>
        <p:spPr>
          <a:xfrm>
            <a:off x="571500" y="1714500"/>
            <a:ext cx="13487400" cy="714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4000" b="1">
                <a:solidFill>
                  <a:srgbClr val="111827"/>
                </a:solidFill>
                <a:latin typeface="Arial"/>
                <a:ea typeface="Arial"/>
                <a:cs typeface="Arial"/>
                <a:sym typeface="Arial"/>
              </a:rPr>
              <a:t>Trình xem Stereo Panorama với Thị sai Độ sâu</a:t>
            </a:r>
            <a:endParaRPr sz="4000" b="1">
              <a:solidFill>
                <a:srgbClr val="111827"/>
              </a:solidFill>
              <a:latin typeface="Arial"/>
              <a:ea typeface="Arial"/>
              <a:cs typeface="Arial"/>
              <a:sym typeface="Arial"/>
            </a:endParaRPr>
          </a:p>
        </p:txBody>
      </p:sp>
      <p:grpSp>
        <p:nvGrpSpPr>
          <p:cNvPr id="111" name="Google Shape;111;p27"/>
          <p:cNvGrpSpPr/>
          <p:nvPr/>
        </p:nvGrpSpPr>
        <p:grpSpPr>
          <a:xfrm>
            <a:off x="561975" y="2657475"/>
            <a:ext cx="3638700" cy="2400300"/>
            <a:chOff x="-9525" y="-9525"/>
            <a:chExt cx="3638700" cy="2400300"/>
          </a:xfrm>
        </p:grpSpPr>
        <p:pic>
          <p:nvPicPr>
            <p:cNvPr id="112" name="Google Shape;112;p27"/>
            <p:cNvPicPr preferRelativeResize="0"/>
            <p:nvPr/>
          </p:nvPicPr>
          <p:blipFill rotWithShape="1">
            <a:blip r:embed="rId7">
              <a:alphaModFix/>
            </a:blip>
            <a:srcRect/>
            <a:stretch/>
          </p:blipFill>
          <p:spPr>
            <a:xfrm>
              <a:off x="-9525" y="-9525"/>
              <a:ext cx="3638700" cy="2400300"/>
            </a:xfrm>
            <a:prstGeom prst="rect">
              <a:avLst/>
            </a:prstGeom>
            <a:noFill/>
            <a:ln>
              <a:noFill/>
            </a:ln>
          </p:spPr>
        </p:pic>
        <p:sp>
          <p:nvSpPr>
            <p:cNvPr id="113" name="Google Shape;113;p27"/>
            <p:cNvSpPr/>
            <p:nvPr/>
          </p:nvSpPr>
          <p:spPr>
            <a:xfrm>
              <a:off x="0" y="0"/>
              <a:ext cx="76200" cy="2381400"/>
            </a:xfrm>
            <a:prstGeom prst="roundRect">
              <a:avLst>
                <a:gd name="adj" fmla="val 50000"/>
              </a:avLst>
            </a:prstGeom>
            <a:solidFill>
              <a:srgbClr val="D32F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4" name="Google Shape;114;p27"/>
            <p:cNvSpPr txBox="1"/>
            <p:nvPr/>
          </p:nvSpPr>
          <p:spPr>
            <a:xfrm>
              <a:off x="228600" y="190500"/>
              <a:ext cx="3238500" cy="2000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330" b="1">
                  <a:solidFill>
                    <a:srgbClr val="1F2937"/>
                  </a:solidFill>
                  <a:latin typeface="Arial"/>
                  <a:ea typeface="Arial"/>
                  <a:cs typeface="Arial"/>
                  <a:sym typeface="Arial"/>
                </a:rPr>
                <a:t>Thực hiện:</a:t>
              </a:r>
              <a:endParaRPr sz="3330" b="1">
                <a:solidFill>
                  <a:srgbClr val="1F2937"/>
                </a:solidFill>
                <a:latin typeface="Arial"/>
                <a:ea typeface="Arial"/>
                <a:cs typeface="Arial"/>
                <a:sym typeface="Arial"/>
              </a:endParaRPr>
            </a:p>
            <a:p>
              <a:pPr marL="0" lvl="0" indent="0" algn="l" rtl="0">
                <a:spcBef>
                  <a:spcPts val="600"/>
                </a:spcBef>
                <a:spcAft>
                  <a:spcPts val="0"/>
                </a:spcAft>
                <a:buNone/>
              </a:pPr>
              <a:r>
                <a:rPr lang="en-US" sz="3330" b="0">
                  <a:solidFill>
                    <a:srgbClr val="4B5563"/>
                  </a:solidFill>
                  <a:latin typeface="Arial"/>
                  <a:ea typeface="Arial"/>
                  <a:cs typeface="Arial"/>
                  <a:sym typeface="Arial"/>
                </a:rPr>
                <a:t>Ng Tuấn Anh</a:t>
              </a:r>
              <a:endParaRPr sz="3330" b="0">
                <a:solidFill>
                  <a:srgbClr val="4B5563"/>
                </a:solidFill>
                <a:latin typeface="Arial"/>
                <a:ea typeface="Arial"/>
                <a:cs typeface="Arial"/>
                <a:sym typeface="Arial"/>
              </a:endParaRPr>
            </a:p>
            <a:p>
              <a:pPr marL="0" lvl="0" indent="0" algn="l" rtl="0">
                <a:spcBef>
                  <a:spcPts val="0"/>
                </a:spcBef>
                <a:spcAft>
                  <a:spcPts val="0"/>
                </a:spcAft>
                <a:buNone/>
              </a:pPr>
              <a:r>
                <a:rPr lang="en-US" sz="3330" b="0">
                  <a:solidFill>
                    <a:srgbClr val="4B5563"/>
                  </a:solidFill>
                  <a:latin typeface="Arial"/>
                  <a:ea typeface="Arial"/>
                  <a:cs typeface="Arial"/>
                  <a:sym typeface="Arial"/>
                </a:rPr>
                <a:t>23050118</a:t>
              </a:r>
              <a:endParaRPr sz="3330" b="0">
                <a:solidFill>
                  <a:srgbClr val="4B5563"/>
                </a:solidFill>
                <a:latin typeface="Arial"/>
                <a:ea typeface="Arial"/>
                <a:cs typeface="Arial"/>
                <a:sym typeface="Arial"/>
              </a:endParaRPr>
            </a:p>
          </p:txBody>
        </p:sp>
      </p:grpSp>
      <p:grpSp>
        <p:nvGrpSpPr>
          <p:cNvPr id="115" name="Google Shape;115;p27"/>
          <p:cNvGrpSpPr/>
          <p:nvPr/>
        </p:nvGrpSpPr>
        <p:grpSpPr>
          <a:xfrm>
            <a:off x="561975" y="5324475"/>
            <a:ext cx="3638700" cy="2114700"/>
            <a:chOff x="-9525" y="-9525"/>
            <a:chExt cx="3638700" cy="2114700"/>
          </a:xfrm>
        </p:grpSpPr>
        <p:pic>
          <p:nvPicPr>
            <p:cNvPr id="116" name="Google Shape;116;p27"/>
            <p:cNvPicPr preferRelativeResize="0"/>
            <p:nvPr/>
          </p:nvPicPr>
          <p:blipFill rotWithShape="1">
            <a:blip r:embed="rId8">
              <a:alphaModFix/>
            </a:blip>
            <a:srcRect/>
            <a:stretch/>
          </p:blipFill>
          <p:spPr>
            <a:xfrm>
              <a:off x="-9525" y="-9525"/>
              <a:ext cx="3638700" cy="2114700"/>
            </a:xfrm>
            <a:prstGeom prst="rect">
              <a:avLst/>
            </a:prstGeom>
            <a:noFill/>
            <a:ln>
              <a:noFill/>
            </a:ln>
          </p:spPr>
        </p:pic>
        <p:sp>
          <p:nvSpPr>
            <p:cNvPr id="117" name="Google Shape;117;p27"/>
            <p:cNvSpPr/>
            <p:nvPr/>
          </p:nvSpPr>
          <p:spPr>
            <a:xfrm>
              <a:off x="0" y="0"/>
              <a:ext cx="76200" cy="2095500"/>
            </a:xfrm>
            <a:prstGeom prst="roundRect">
              <a:avLst>
                <a:gd name="adj" fmla="val 50000"/>
              </a:avLst>
            </a:prstGeom>
            <a:solidFill>
              <a:srgbClr val="1976D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8" name="Google Shape;118;p27"/>
            <p:cNvSpPr txBox="1"/>
            <p:nvPr/>
          </p:nvSpPr>
          <p:spPr>
            <a:xfrm>
              <a:off x="228600" y="190500"/>
              <a:ext cx="3238500" cy="17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330" b="1">
                  <a:solidFill>
                    <a:srgbClr val="1F2937"/>
                  </a:solidFill>
                  <a:latin typeface="Arial"/>
                  <a:ea typeface="Arial"/>
                  <a:cs typeface="Arial"/>
                  <a:sym typeface="Arial"/>
                </a:rPr>
                <a:t>GVHD:</a:t>
              </a:r>
              <a:endParaRPr sz="3330" b="1">
                <a:solidFill>
                  <a:srgbClr val="1F2937"/>
                </a:solidFill>
                <a:latin typeface="Arial"/>
                <a:ea typeface="Arial"/>
                <a:cs typeface="Arial"/>
                <a:sym typeface="Arial"/>
              </a:endParaRPr>
            </a:p>
            <a:p>
              <a:pPr marL="0" lvl="0" indent="0" algn="l" rtl="0">
                <a:spcBef>
                  <a:spcPts val="600"/>
                </a:spcBef>
                <a:spcAft>
                  <a:spcPts val="0"/>
                </a:spcAft>
                <a:buNone/>
              </a:pPr>
              <a:r>
                <a:rPr lang="en-US" sz="3330" b="0">
                  <a:solidFill>
                    <a:srgbClr val="4B5563"/>
                  </a:solidFill>
                  <a:latin typeface="Arial"/>
                  <a:ea typeface="Arial"/>
                  <a:cs typeface="Arial"/>
                  <a:sym typeface="Arial"/>
                </a:rPr>
                <a:t>ThS. Đỗ Trí Nhựt</a:t>
              </a:r>
              <a:endParaRPr sz="3330" b="0">
                <a:solidFill>
                  <a:srgbClr val="4B5563"/>
                </a:solidFill>
                <a:latin typeface="Arial"/>
                <a:ea typeface="Arial"/>
                <a:cs typeface="Arial"/>
                <a:sym typeface="Arial"/>
              </a:endParaRPr>
            </a:p>
          </p:txBody>
        </p:sp>
      </p:grpSp>
      <p:grpSp>
        <p:nvGrpSpPr>
          <p:cNvPr id="119" name="Google Shape;119;p27"/>
          <p:cNvGrpSpPr/>
          <p:nvPr/>
        </p:nvGrpSpPr>
        <p:grpSpPr>
          <a:xfrm>
            <a:off x="4224338" y="2609850"/>
            <a:ext cx="10068000" cy="5805600"/>
            <a:chOff x="-157162" y="-9525"/>
            <a:chExt cx="10068000" cy="5805600"/>
          </a:xfrm>
        </p:grpSpPr>
        <p:pic>
          <p:nvPicPr>
            <p:cNvPr id="120" name="Google Shape;120;p27"/>
            <p:cNvPicPr preferRelativeResize="0"/>
            <p:nvPr/>
          </p:nvPicPr>
          <p:blipFill rotWithShape="1">
            <a:blip r:embed="rId9">
              <a:alphaModFix/>
            </a:blip>
            <a:srcRect/>
            <a:stretch/>
          </p:blipFill>
          <p:spPr>
            <a:xfrm>
              <a:off x="-157162" y="-9525"/>
              <a:ext cx="10068000" cy="5805600"/>
            </a:xfrm>
            <a:prstGeom prst="rect">
              <a:avLst/>
            </a:prstGeom>
            <a:noFill/>
            <a:ln>
              <a:noFill/>
            </a:ln>
          </p:spPr>
        </p:pic>
        <p:pic>
          <p:nvPicPr>
            <p:cNvPr id="121" name="Google Shape;121;p27"/>
            <p:cNvPicPr preferRelativeResize="0"/>
            <p:nvPr/>
          </p:nvPicPr>
          <p:blipFill rotWithShape="1">
            <a:blip r:embed="rId10">
              <a:alphaModFix/>
            </a:blip>
            <a:srcRect/>
            <a:stretch/>
          </p:blipFill>
          <p:spPr>
            <a:xfrm>
              <a:off x="0" y="0"/>
              <a:ext cx="9753600" cy="5448300"/>
            </a:xfrm>
            <a:prstGeom prst="roundRect">
              <a:avLst>
                <a:gd name="adj" fmla="val 2797"/>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888D9-787E-2170-DC01-63FA949625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E460A88-3CDF-C91B-EEB4-00BDF68CE955}"/>
              </a:ext>
            </a:extLst>
          </p:cNvPr>
          <p:cNvSpPr/>
          <p:nvPr/>
        </p:nvSpPr>
        <p:spPr>
          <a:xfrm>
            <a:off x="496132" y="245027"/>
            <a:ext cx="13638133" cy="443032"/>
          </a:xfrm>
          <a:prstGeom prst="rect">
            <a:avLst/>
          </a:prstGeom>
          <a:noFill/>
          <a:ln/>
        </p:spPr>
        <p:txBody>
          <a:bodyPr wrap="none" lIns="0" tIns="0" rIns="0" bIns="0" rtlCol="0" anchor="t"/>
          <a:lstStyle/>
          <a:p>
            <a:pPr marL="0" indent="0" algn="ctr">
              <a:lnSpc>
                <a:spcPts val="3450"/>
              </a:lnSpc>
              <a:buNone/>
            </a:pPr>
            <a:r>
              <a:rPr lang="en-US" sz="3600" b="1">
                <a:solidFill>
                  <a:srgbClr val="FF0000"/>
                </a:solidFill>
                <a:latin typeface="Arimo Semi Bold" pitchFamily="34" charset="0"/>
                <a:ea typeface="Arimo Semi Bold" pitchFamily="34" charset="-122"/>
                <a:cs typeface="Arimo Semi Bold" pitchFamily="34" charset="-120"/>
              </a:rPr>
              <a:t>Nội dung thuyết trình: </a:t>
            </a:r>
            <a:endParaRPr lang="en-US" sz="3600" b="1" dirty="0">
              <a:solidFill>
                <a:srgbClr val="FF0000"/>
              </a:solidFill>
            </a:endParaRPr>
          </a:p>
        </p:txBody>
      </p:sp>
      <p:grpSp>
        <p:nvGrpSpPr>
          <p:cNvPr id="50" name="Group 49">
            <a:extLst>
              <a:ext uri="{FF2B5EF4-FFF2-40B4-BE49-F238E27FC236}">
                <a16:creationId xmlns:a16="http://schemas.microsoft.com/office/drawing/2014/main" id="{3B09D2A2-59E7-1DCD-7815-7BAC2E97CBB5}"/>
              </a:ext>
            </a:extLst>
          </p:cNvPr>
          <p:cNvGrpSpPr/>
          <p:nvPr/>
        </p:nvGrpSpPr>
        <p:grpSpPr>
          <a:xfrm>
            <a:off x="511251" y="1555139"/>
            <a:ext cx="13650815" cy="1194698"/>
            <a:chOff x="326528" y="4114800"/>
            <a:chExt cx="13650815" cy="1194698"/>
          </a:xfrm>
        </p:grpSpPr>
        <p:sp>
          <p:nvSpPr>
            <p:cNvPr id="40" name="Shape 3">
              <a:extLst>
                <a:ext uri="{FF2B5EF4-FFF2-40B4-BE49-F238E27FC236}">
                  <a16:creationId xmlns:a16="http://schemas.microsoft.com/office/drawing/2014/main" id="{8E48BD07-5D6F-2C3E-05D2-3F3233D2CE5F}"/>
                </a:ext>
              </a:extLst>
            </p:cNvPr>
            <p:cNvSpPr/>
            <p:nvPr/>
          </p:nvSpPr>
          <p:spPr>
            <a:xfrm>
              <a:off x="354329" y="4126230"/>
              <a:ext cx="724020" cy="1170754"/>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33E84447-8B03-FAD7-A218-04E03556F404}"/>
                </a:ext>
              </a:extLst>
            </p:cNvPr>
            <p:cNvSpPr/>
            <p:nvPr/>
          </p:nvSpPr>
          <p:spPr>
            <a:xfrm>
              <a:off x="804427" y="4135766"/>
              <a:ext cx="280263" cy="116121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C928F64C-A0CE-6B01-DB71-08E088E1E174}"/>
                </a:ext>
              </a:extLst>
            </p:cNvPr>
            <p:cNvSpPr/>
            <p:nvPr/>
          </p:nvSpPr>
          <p:spPr>
            <a:xfrm>
              <a:off x="339210" y="4114800"/>
              <a:ext cx="13638133" cy="1194698"/>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A774DF55-ADB8-1088-491A-CA0B788F990C}"/>
                </a:ext>
              </a:extLst>
            </p:cNvPr>
            <p:cNvSpPr txBox="1"/>
            <p:nvPr/>
          </p:nvSpPr>
          <p:spPr>
            <a:xfrm>
              <a:off x="326528" y="4350008"/>
              <a:ext cx="724020" cy="441102"/>
            </a:xfrm>
            <a:prstGeom prst="rect">
              <a:avLst/>
            </a:prstGeom>
            <a:noFill/>
          </p:spPr>
          <p:txBody>
            <a:bodyPr wrap="square" rtlCol="0">
              <a:spAutoFit/>
            </a:bodyPr>
            <a:lstStyle/>
            <a:p>
              <a:pPr algn="ctr"/>
              <a:r>
                <a:rPr lang="en-US" sz="4000" b="1">
                  <a:solidFill>
                    <a:schemeClr val="bg1"/>
                  </a:solidFill>
                </a:rPr>
                <a:t>1</a:t>
              </a:r>
            </a:p>
          </p:txBody>
        </p:sp>
        <p:sp>
          <p:nvSpPr>
            <p:cNvPr id="44" name="TextBox 43">
              <a:extLst>
                <a:ext uri="{FF2B5EF4-FFF2-40B4-BE49-F238E27FC236}">
                  <a16:creationId xmlns:a16="http://schemas.microsoft.com/office/drawing/2014/main" id="{730AE851-E7CC-A7D8-C79D-62B19C5A7707}"/>
                </a:ext>
              </a:extLst>
            </p:cNvPr>
            <p:cNvSpPr txBox="1"/>
            <p:nvPr/>
          </p:nvSpPr>
          <p:spPr>
            <a:xfrm>
              <a:off x="1091031" y="4155690"/>
              <a:ext cx="5136621" cy="553998"/>
            </a:xfrm>
            <a:prstGeom prst="rect">
              <a:avLst/>
            </a:prstGeom>
            <a:noFill/>
          </p:spPr>
          <p:txBody>
            <a:bodyPr wrap="square" rtlCol="0">
              <a:spAutoFit/>
            </a:bodyPr>
            <a:lstStyle/>
            <a:p>
              <a:r>
                <a:rPr lang="en-US" sz="3000" b="1"/>
                <a:t>Giới thiệu về đề tài</a:t>
              </a:r>
            </a:p>
          </p:txBody>
        </p:sp>
        <p:sp>
          <p:nvSpPr>
            <p:cNvPr id="46" name="TextBox 45">
              <a:extLst>
                <a:ext uri="{FF2B5EF4-FFF2-40B4-BE49-F238E27FC236}">
                  <a16:creationId xmlns:a16="http://schemas.microsoft.com/office/drawing/2014/main" id="{7F792EFE-B1A0-7C85-0BC2-2E0F284537B0}"/>
                </a:ext>
              </a:extLst>
            </p:cNvPr>
            <p:cNvSpPr txBox="1"/>
            <p:nvPr/>
          </p:nvSpPr>
          <p:spPr>
            <a:xfrm>
              <a:off x="1091031" y="4697363"/>
              <a:ext cx="12886312" cy="461665"/>
            </a:xfrm>
            <a:prstGeom prst="rect">
              <a:avLst/>
            </a:prstGeom>
            <a:noFill/>
          </p:spPr>
          <p:txBody>
            <a:bodyPr wrap="square" rtlCol="0">
              <a:spAutoFit/>
            </a:bodyPr>
            <a:lstStyle/>
            <a:p>
              <a:r>
                <a:rPr lang="en-US" sz="2400"/>
                <a:t>Bài toán, mục đích đề tài</a:t>
              </a:r>
            </a:p>
          </p:txBody>
        </p:sp>
      </p:grpSp>
      <p:grpSp>
        <p:nvGrpSpPr>
          <p:cNvPr id="52" name="Group 51">
            <a:extLst>
              <a:ext uri="{FF2B5EF4-FFF2-40B4-BE49-F238E27FC236}">
                <a16:creationId xmlns:a16="http://schemas.microsoft.com/office/drawing/2014/main" id="{159D8680-43EE-BA5E-CF66-C7464F5EFE68}"/>
              </a:ext>
            </a:extLst>
          </p:cNvPr>
          <p:cNvGrpSpPr/>
          <p:nvPr/>
        </p:nvGrpSpPr>
        <p:grpSpPr>
          <a:xfrm>
            <a:off x="496132" y="3295342"/>
            <a:ext cx="13650815" cy="1194698"/>
            <a:chOff x="326528" y="4114800"/>
            <a:chExt cx="13650815" cy="1194698"/>
          </a:xfrm>
        </p:grpSpPr>
        <p:sp>
          <p:nvSpPr>
            <p:cNvPr id="53" name="Shape 3">
              <a:extLst>
                <a:ext uri="{FF2B5EF4-FFF2-40B4-BE49-F238E27FC236}">
                  <a16:creationId xmlns:a16="http://schemas.microsoft.com/office/drawing/2014/main" id="{B379C747-DF3D-E048-3F7A-EE2476D5E750}"/>
                </a:ext>
              </a:extLst>
            </p:cNvPr>
            <p:cNvSpPr/>
            <p:nvPr/>
          </p:nvSpPr>
          <p:spPr>
            <a:xfrm>
              <a:off x="354329" y="4126230"/>
              <a:ext cx="724020" cy="1170754"/>
            </a:xfrm>
            <a:prstGeom prst="roundRect">
              <a:avLst>
                <a:gd name="adj" fmla="val 10264"/>
              </a:avLst>
            </a:prstGeom>
            <a:solidFill>
              <a:srgbClr val="00B050"/>
            </a:solidFill>
            <a:ln/>
          </p:spPr>
          <p:txBody>
            <a:bodyPr/>
            <a:lstStyle/>
            <a:p>
              <a:endParaRPr lang="en-US"/>
            </a:p>
          </p:txBody>
        </p:sp>
        <p:sp>
          <p:nvSpPr>
            <p:cNvPr id="54" name="Rectangle 53">
              <a:extLst>
                <a:ext uri="{FF2B5EF4-FFF2-40B4-BE49-F238E27FC236}">
                  <a16:creationId xmlns:a16="http://schemas.microsoft.com/office/drawing/2014/main" id="{B27E7A22-5D42-38C7-A27A-1DBD0FC0147A}"/>
                </a:ext>
              </a:extLst>
            </p:cNvPr>
            <p:cNvSpPr/>
            <p:nvPr/>
          </p:nvSpPr>
          <p:spPr>
            <a:xfrm>
              <a:off x="804427" y="4135766"/>
              <a:ext cx="280263" cy="116121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Shape 2">
              <a:extLst>
                <a:ext uri="{FF2B5EF4-FFF2-40B4-BE49-F238E27FC236}">
                  <a16:creationId xmlns:a16="http://schemas.microsoft.com/office/drawing/2014/main" id="{ED82E3A7-72E2-2ECA-97CE-5BB54F2BCC81}"/>
                </a:ext>
              </a:extLst>
            </p:cNvPr>
            <p:cNvSpPr/>
            <p:nvPr/>
          </p:nvSpPr>
          <p:spPr>
            <a:xfrm>
              <a:off x="339210" y="4114800"/>
              <a:ext cx="13638133" cy="1194698"/>
            </a:xfrm>
            <a:prstGeom prst="roundRect">
              <a:avLst>
                <a:gd name="adj" fmla="val 7000"/>
              </a:avLst>
            </a:prstGeom>
            <a:noFill/>
            <a:ln w="28575">
              <a:solidFill>
                <a:schemeClr val="tx2"/>
              </a:solidFill>
              <a:prstDash val="solid"/>
            </a:ln>
          </p:spPr>
          <p:txBody>
            <a:bodyPr/>
            <a:lstStyle/>
            <a:p>
              <a:endParaRPr lang="en-US"/>
            </a:p>
          </p:txBody>
        </p:sp>
        <p:sp>
          <p:nvSpPr>
            <p:cNvPr id="56" name="TextBox 55">
              <a:extLst>
                <a:ext uri="{FF2B5EF4-FFF2-40B4-BE49-F238E27FC236}">
                  <a16:creationId xmlns:a16="http://schemas.microsoft.com/office/drawing/2014/main" id="{23029F21-1F2D-2E46-E323-483CC5AA0F7A}"/>
                </a:ext>
              </a:extLst>
            </p:cNvPr>
            <p:cNvSpPr txBox="1"/>
            <p:nvPr/>
          </p:nvSpPr>
          <p:spPr>
            <a:xfrm>
              <a:off x="326528" y="4350008"/>
              <a:ext cx="724020" cy="707886"/>
            </a:xfrm>
            <a:prstGeom prst="rect">
              <a:avLst/>
            </a:prstGeom>
            <a:noFill/>
          </p:spPr>
          <p:txBody>
            <a:bodyPr wrap="square" rtlCol="0">
              <a:spAutoFit/>
            </a:bodyPr>
            <a:lstStyle/>
            <a:p>
              <a:pPr algn="ctr"/>
              <a:r>
                <a:rPr lang="en-US" sz="4000" b="1">
                  <a:solidFill>
                    <a:schemeClr val="bg1"/>
                  </a:solidFill>
                </a:rPr>
                <a:t>2</a:t>
              </a:r>
            </a:p>
          </p:txBody>
        </p:sp>
        <p:sp>
          <p:nvSpPr>
            <p:cNvPr id="57" name="TextBox 56">
              <a:extLst>
                <a:ext uri="{FF2B5EF4-FFF2-40B4-BE49-F238E27FC236}">
                  <a16:creationId xmlns:a16="http://schemas.microsoft.com/office/drawing/2014/main" id="{5ACD98E2-867E-5E35-0A89-F837FBD87752}"/>
                </a:ext>
              </a:extLst>
            </p:cNvPr>
            <p:cNvSpPr txBox="1"/>
            <p:nvPr/>
          </p:nvSpPr>
          <p:spPr>
            <a:xfrm>
              <a:off x="1091031" y="4155690"/>
              <a:ext cx="12886312" cy="553998"/>
            </a:xfrm>
            <a:prstGeom prst="rect">
              <a:avLst/>
            </a:prstGeom>
            <a:noFill/>
          </p:spPr>
          <p:txBody>
            <a:bodyPr wrap="square" rtlCol="0">
              <a:spAutoFit/>
            </a:bodyPr>
            <a:lstStyle/>
            <a:p>
              <a:r>
                <a:rPr lang="en-US" sz="3000" b="1"/>
                <a:t>Triển khai dự án</a:t>
              </a:r>
            </a:p>
          </p:txBody>
        </p:sp>
        <p:sp>
          <p:nvSpPr>
            <p:cNvPr id="58" name="TextBox 57">
              <a:extLst>
                <a:ext uri="{FF2B5EF4-FFF2-40B4-BE49-F238E27FC236}">
                  <a16:creationId xmlns:a16="http://schemas.microsoft.com/office/drawing/2014/main" id="{D251E1B9-C5AE-3230-2D45-69450A16A646}"/>
                </a:ext>
              </a:extLst>
            </p:cNvPr>
            <p:cNvSpPr txBox="1"/>
            <p:nvPr/>
          </p:nvSpPr>
          <p:spPr>
            <a:xfrm>
              <a:off x="1091031" y="4697363"/>
              <a:ext cx="12886312" cy="461665"/>
            </a:xfrm>
            <a:prstGeom prst="rect">
              <a:avLst/>
            </a:prstGeom>
            <a:noFill/>
          </p:spPr>
          <p:txBody>
            <a:bodyPr wrap="square" rtlCol="0">
              <a:spAutoFit/>
            </a:bodyPr>
            <a:lstStyle/>
            <a:p>
              <a:r>
                <a:rPr lang="en-US" sz="2400"/>
                <a:t>Ý tưởng cốt lõi, quá trình thực hiện</a:t>
              </a:r>
            </a:p>
          </p:txBody>
        </p:sp>
      </p:grpSp>
      <p:grpSp>
        <p:nvGrpSpPr>
          <p:cNvPr id="59" name="Group 58">
            <a:extLst>
              <a:ext uri="{FF2B5EF4-FFF2-40B4-BE49-F238E27FC236}">
                <a16:creationId xmlns:a16="http://schemas.microsoft.com/office/drawing/2014/main" id="{1392DD2A-BD37-6C40-AADA-13764034A028}"/>
              </a:ext>
            </a:extLst>
          </p:cNvPr>
          <p:cNvGrpSpPr/>
          <p:nvPr/>
        </p:nvGrpSpPr>
        <p:grpSpPr>
          <a:xfrm>
            <a:off x="511251" y="4953670"/>
            <a:ext cx="13650815" cy="1194698"/>
            <a:chOff x="326528" y="4114800"/>
            <a:chExt cx="13650815" cy="1194698"/>
          </a:xfrm>
        </p:grpSpPr>
        <p:sp>
          <p:nvSpPr>
            <p:cNvPr id="60" name="Shape 3">
              <a:extLst>
                <a:ext uri="{FF2B5EF4-FFF2-40B4-BE49-F238E27FC236}">
                  <a16:creationId xmlns:a16="http://schemas.microsoft.com/office/drawing/2014/main" id="{5F4DBAD3-3A4E-775C-93D4-E6A30779B28C}"/>
                </a:ext>
              </a:extLst>
            </p:cNvPr>
            <p:cNvSpPr/>
            <p:nvPr/>
          </p:nvSpPr>
          <p:spPr>
            <a:xfrm>
              <a:off x="354329" y="4126230"/>
              <a:ext cx="724020" cy="1170754"/>
            </a:xfrm>
            <a:prstGeom prst="roundRect">
              <a:avLst>
                <a:gd name="adj" fmla="val 10264"/>
              </a:avLst>
            </a:prstGeom>
            <a:solidFill>
              <a:srgbClr val="00B050"/>
            </a:solidFill>
            <a:ln/>
          </p:spPr>
          <p:txBody>
            <a:bodyPr/>
            <a:lstStyle/>
            <a:p>
              <a:endParaRPr lang="en-US"/>
            </a:p>
          </p:txBody>
        </p:sp>
        <p:sp>
          <p:nvSpPr>
            <p:cNvPr id="61" name="Rectangle 60">
              <a:extLst>
                <a:ext uri="{FF2B5EF4-FFF2-40B4-BE49-F238E27FC236}">
                  <a16:creationId xmlns:a16="http://schemas.microsoft.com/office/drawing/2014/main" id="{0CD54531-0565-7D34-F591-32ADECB98D0A}"/>
                </a:ext>
              </a:extLst>
            </p:cNvPr>
            <p:cNvSpPr/>
            <p:nvPr/>
          </p:nvSpPr>
          <p:spPr>
            <a:xfrm>
              <a:off x="804427" y="4135766"/>
              <a:ext cx="280263" cy="116121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Shape 2">
              <a:extLst>
                <a:ext uri="{FF2B5EF4-FFF2-40B4-BE49-F238E27FC236}">
                  <a16:creationId xmlns:a16="http://schemas.microsoft.com/office/drawing/2014/main" id="{350D9548-4F1C-71C6-9263-4C92669EB724}"/>
                </a:ext>
              </a:extLst>
            </p:cNvPr>
            <p:cNvSpPr/>
            <p:nvPr/>
          </p:nvSpPr>
          <p:spPr>
            <a:xfrm>
              <a:off x="339210" y="4114800"/>
              <a:ext cx="13638133" cy="1194698"/>
            </a:xfrm>
            <a:prstGeom prst="roundRect">
              <a:avLst>
                <a:gd name="adj" fmla="val 7000"/>
              </a:avLst>
            </a:prstGeom>
            <a:noFill/>
            <a:ln w="28575">
              <a:solidFill>
                <a:schemeClr val="tx2"/>
              </a:solidFill>
              <a:prstDash val="solid"/>
            </a:ln>
          </p:spPr>
          <p:txBody>
            <a:bodyPr/>
            <a:lstStyle/>
            <a:p>
              <a:endParaRPr lang="en-US"/>
            </a:p>
          </p:txBody>
        </p:sp>
        <p:sp>
          <p:nvSpPr>
            <p:cNvPr id="63" name="TextBox 62">
              <a:extLst>
                <a:ext uri="{FF2B5EF4-FFF2-40B4-BE49-F238E27FC236}">
                  <a16:creationId xmlns:a16="http://schemas.microsoft.com/office/drawing/2014/main" id="{19C1FF7F-6F93-134E-D495-35D429F148EB}"/>
                </a:ext>
              </a:extLst>
            </p:cNvPr>
            <p:cNvSpPr txBox="1"/>
            <p:nvPr/>
          </p:nvSpPr>
          <p:spPr>
            <a:xfrm>
              <a:off x="326528" y="4350008"/>
              <a:ext cx="724020" cy="707886"/>
            </a:xfrm>
            <a:prstGeom prst="rect">
              <a:avLst/>
            </a:prstGeom>
            <a:noFill/>
          </p:spPr>
          <p:txBody>
            <a:bodyPr wrap="square" rtlCol="0">
              <a:spAutoFit/>
            </a:bodyPr>
            <a:lstStyle/>
            <a:p>
              <a:pPr algn="ctr"/>
              <a:r>
                <a:rPr lang="en-US" sz="4000" b="1">
                  <a:solidFill>
                    <a:schemeClr val="bg1"/>
                  </a:solidFill>
                </a:rPr>
                <a:t>3</a:t>
              </a:r>
            </a:p>
          </p:txBody>
        </p:sp>
        <p:sp>
          <p:nvSpPr>
            <p:cNvPr id="64" name="TextBox 63">
              <a:extLst>
                <a:ext uri="{FF2B5EF4-FFF2-40B4-BE49-F238E27FC236}">
                  <a16:creationId xmlns:a16="http://schemas.microsoft.com/office/drawing/2014/main" id="{358DF59C-0171-958C-6952-FEDC69A92466}"/>
                </a:ext>
              </a:extLst>
            </p:cNvPr>
            <p:cNvSpPr txBox="1"/>
            <p:nvPr/>
          </p:nvSpPr>
          <p:spPr>
            <a:xfrm>
              <a:off x="1091031" y="4155690"/>
              <a:ext cx="12886312" cy="553998"/>
            </a:xfrm>
            <a:prstGeom prst="rect">
              <a:avLst/>
            </a:prstGeom>
            <a:noFill/>
          </p:spPr>
          <p:txBody>
            <a:bodyPr wrap="square" rtlCol="0">
              <a:spAutoFit/>
            </a:bodyPr>
            <a:lstStyle/>
            <a:p>
              <a:r>
                <a:rPr lang="en-US" sz="3000" b="1"/>
                <a:t>Thực hiện</a:t>
              </a:r>
            </a:p>
          </p:txBody>
        </p:sp>
        <p:sp>
          <p:nvSpPr>
            <p:cNvPr id="65" name="TextBox 64">
              <a:extLst>
                <a:ext uri="{FF2B5EF4-FFF2-40B4-BE49-F238E27FC236}">
                  <a16:creationId xmlns:a16="http://schemas.microsoft.com/office/drawing/2014/main" id="{9F608610-D39E-862A-E326-53D33EA6BF5D}"/>
                </a:ext>
              </a:extLst>
            </p:cNvPr>
            <p:cNvSpPr txBox="1"/>
            <p:nvPr/>
          </p:nvSpPr>
          <p:spPr>
            <a:xfrm>
              <a:off x="1091031" y="4697363"/>
              <a:ext cx="12886312" cy="461665"/>
            </a:xfrm>
            <a:prstGeom prst="rect">
              <a:avLst/>
            </a:prstGeom>
            <a:noFill/>
          </p:spPr>
          <p:txBody>
            <a:bodyPr wrap="square" rtlCol="0">
              <a:spAutoFit/>
            </a:bodyPr>
            <a:lstStyle/>
            <a:p>
              <a:r>
                <a:rPr lang="en-US" sz="2400"/>
                <a:t>Demo dự án, đánh giá hiệu suất, nhận xét dự án </a:t>
              </a:r>
            </a:p>
          </p:txBody>
        </p:sp>
      </p:grpSp>
      <p:pic>
        <p:nvPicPr>
          <p:cNvPr id="4" name="Picture 3">
            <a:extLst>
              <a:ext uri="{FF2B5EF4-FFF2-40B4-BE49-F238E27FC236}">
                <a16:creationId xmlns:a16="http://schemas.microsoft.com/office/drawing/2014/main" id="{FE6B506F-A15A-03EB-57DA-8456084AAB2D}"/>
              </a:ext>
            </a:extLst>
          </p:cNvPr>
          <p:cNvPicPr>
            <a:picLocks noChangeAspect="1"/>
          </p:cNvPicPr>
          <p:nvPr/>
        </p:nvPicPr>
        <p:blipFill>
          <a:blip r:embed="rId3"/>
          <a:stretch>
            <a:fillRect/>
          </a:stretch>
        </p:blipFill>
        <p:spPr>
          <a:xfrm>
            <a:off x="12778451" y="7743463"/>
            <a:ext cx="1851949" cy="408634"/>
          </a:xfrm>
          <a:prstGeom prst="rect">
            <a:avLst/>
          </a:prstGeom>
        </p:spPr>
      </p:pic>
    </p:spTree>
    <p:extLst>
      <p:ext uri="{BB962C8B-B14F-4D97-AF65-F5344CB8AC3E}">
        <p14:creationId xmlns:p14="http://schemas.microsoft.com/office/powerpoint/2010/main" val="272544762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EE575-2A37-26C4-1F29-DA15A241F20B}"/>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D0A1D483-E041-6F8F-8702-03EDDF1856DE}"/>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DFB0336F-B611-954B-6B08-92C3A8A5AC4D}"/>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33F0658E-86E6-80B5-5845-769C169EA21C}"/>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7874F3EC-6FF1-CFD5-F15D-6DCE92920529}"/>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1</a:t>
            </a:r>
          </a:p>
        </p:txBody>
      </p:sp>
      <p:sp>
        <p:nvSpPr>
          <p:cNvPr id="44" name="TextBox 43">
            <a:extLst>
              <a:ext uri="{FF2B5EF4-FFF2-40B4-BE49-F238E27FC236}">
                <a16:creationId xmlns:a16="http://schemas.microsoft.com/office/drawing/2014/main" id="{FBA54979-58A8-A663-5C2B-A74ABBBB555A}"/>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Giới thiệu đề tài</a:t>
            </a:r>
          </a:p>
        </p:txBody>
      </p:sp>
      <p:pic>
        <p:nvPicPr>
          <p:cNvPr id="7" name="Picture 6">
            <a:extLst>
              <a:ext uri="{FF2B5EF4-FFF2-40B4-BE49-F238E27FC236}">
                <a16:creationId xmlns:a16="http://schemas.microsoft.com/office/drawing/2014/main" id="{80689E7E-E793-8755-B121-12636E6469FE}"/>
              </a:ext>
            </a:extLst>
          </p:cNvPr>
          <p:cNvPicPr>
            <a:picLocks noChangeAspect="1"/>
          </p:cNvPicPr>
          <p:nvPr/>
        </p:nvPicPr>
        <p:blipFill>
          <a:blip r:embed="rId3"/>
          <a:stretch>
            <a:fillRect/>
          </a:stretch>
        </p:blipFill>
        <p:spPr>
          <a:xfrm>
            <a:off x="12778451" y="7743463"/>
            <a:ext cx="1851949" cy="408634"/>
          </a:xfrm>
          <a:prstGeom prst="rect">
            <a:avLst/>
          </a:prstGeom>
        </p:spPr>
      </p:pic>
      <mc:AlternateContent xmlns:mc="http://schemas.openxmlformats.org/markup-compatibility/2006">
        <mc:Choice xmlns:am3d="http://schemas.microsoft.com/office/drawing/2017/model3d" Requires="am3d">
          <p:graphicFrame>
            <p:nvGraphicFramePr>
              <p:cNvPr id="9" name="3D Model 8" descr="Dark Gray Sphere">
                <a:extLst>
                  <a:ext uri="{FF2B5EF4-FFF2-40B4-BE49-F238E27FC236}">
                    <a16:creationId xmlns:a16="http://schemas.microsoft.com/office/drawing/2014/main" id="{E3D752E7-F16E-5ACA-F49B-882036E36CC9}"/>
                  </a:ext>
                </a:extLst>
              </p:cNvPr>
              <p:cNvGraphicFramePr>
                <a:graphicFrameLocks noChangeAspect="1"/>
              </p:cNvGraphicFramePr>
              <p:nvPr>
                <p:extLst>
                  <p:ext uri="{D42A27DB-BD31-4B8C-83A1-F6EECF244321}">
                    <p14:modId xmlns:p14="http://schemas.microsoft.com/office/powerpoint/2010/main" val="325591261"/>
                  </p:ext>
                </p:extLst>
              </p:nvPr>
            </p:nvGraphicFramePr>
            <p:xfrm>
              <a:off x="9516243" y="2460125"/>
              <a:ext cx="2995601" cy="3014620"/>
            </p:xfrm>
            <a:graphic>
              <a:graphicData uri="http://schemas.microsoft.com/office/drawing/2017/model3d">
                <am3d:model3d r:embed="rId4">
                  <am3d:spPr>
                    <a:xfrm>
                      <a:off x="0" y="0"/>
                      <a:ext cx="2995601" cy="301462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m3d:postTrans dx="0" dy="0" dz="0"/>
                  </am3d:trans>
                  <am3d:raster rName="Office3DRenderer" rVer="16.0.8326">
                    <am3d:blip r:embed="rId5"/>
                  </am3d:raster>
                  <am3d:objViewport viewportSz="535404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3D Model 8" descr="Dark Gray Sphere">
                <a:extLst>
                  <a:ext uri="{FF2B5EF4-FFF2-40B4-BE49-F238E27FC236}">
                    <a16:creationId xmlns:a16="http://schemas.microsoft.com/office/drawing/2014/main" id="{E3D752E7-F16E-5ACA-F49B-882036E36CC9}"/>
                  </a:ext>
                </a:extLst>
              </p:cNvPr>
              <p:cNvPicPr>
                <a:picLocks noGrp="1" noRot="1" noChangeAspect="1" noMove="1" noResize="1" noEditPoints="1" noAdjustHandles="1" noChangeArrowheads="1" noChangeShapeType="1" noCrop="1"/>
              </p:cNvPicPr>
              <p:nvPr/>
            </p:nvPicPr>
            <p:blipFill>
              <a:blip r:embed="rId5"/>
              <a:stretch>
                <a:fillRect/>
              </a:stretch>
            </p:blipFill>
            <p:spPr>
              <a:xfrm>
                <a:off x="9516243" y="2460125"/>
                <a:ext cx="2995601" cy="3014620"/>
              </a:xfrm>
              <a:prstGeom prst="rect">
                <a:avLst/>
              </a:prstGeom>
            </p:spPr>
          </p:pic>
        </mc:Fallback>
      </mc:AlternateContent>
      <p:pic>
        <p:nvPicPr>
          <p:cNvPr id="11" name="Picture 10" descr="Google Lat Long: Only clear skies on Google Maps and Earth">
            <a:extLst>
              <a:ext uri="{FF2B5EF4-FFF2-40B4-BE49-F238E27FC236}">
                <a16:creationId xmlns:a16="http://schemas.microsoft.com/office/drawing/2014/main" id="{2B45D657-FB25-72EC-8300-416F69EE80EA}"/>
              </a:ext>
            </a:extLst>
          </p:cNvPr>
          <p:cNvPicPr>
            <a:picLocks noChangeAspect="1"/>
          </p:cNvPicPr>
          <p:nvPr/>
        </p:nvPicPr>
        <p:blipFill>
          <a:blip r:embed="rId6"/>
          <a:stretch>
            <a:fillRect/>
          </a:stretch>
        </p:blipFill>
        <p:spPr>
          <a:xfrm>
            <a:off x="457200" y="2377440"/>
            <a:ext cx="8220456" cy="3288182"/>
          </a:xfrm>
          <a:prstGeom prst="roundRect">
            <a:avLst>
              <a:gd name="adj" fmla="val 3500"/>
            </a:avLst>
          </a:prstGeom>
          <a:ln w="15875">
            <a:solidFill>
              <a:srgbClr val="D8DEE6"/>
            </a:solidFill>
          </a:ln>
        </p:spPr>
      </p:pic>
      <p:sp>
        <p:nvSpPr>
          <p:cNvPr id="401" name="Card"/>
          <p:cNvSpPr/>
          <p:nvPr/>
        </p:nvSpPr>
        <p:spPr>
          <a:xfrm>
            <a:off x="457200" y="914400"/>
            <a:ext cx="13716000" cy="122529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65760" tIns="137160" rIns="365760" bIns="137160" rtlCol="0" anchor="ctr">
            <a:noAutofit/>
          </a:bodyPr>
          <a:lstStyle/>
          <a:p>
            <a:pPr marL="0" indent="0" algn="ctr">
              <a:lnSpc>
                <a:spcPct val="100000"/>
              </a:lnSpc>
              <a:spcBef>
                <a:spcPts val="0"/>
              </a:spcBef>
              <a:buNone/>
            </a:pPr>
            <a:r>
              <a:rPr lang="en-US" sz="3200" b="1" i="1">
                <a:solidFill>
                  <a:srgbClr val="0B7A3E"/>
                </a:solidFill>
                <a:latin typeface="Arial" panose="020B0604020202020204" pitchFamily="34" charset="0"/>
                <a:cs typeface="Arial" panose="020B0604020202020204" pitchFamily="34" charset="0"/>
              </a:rPr>
              <a:t>“ Trình xem Stereo Panorama Photosphere / Moviesphere với Thị sai độ sâu “</a:t>
            </a:r>
          </a:p>
        </p:txBody>
      </p:sp>
      <p:sp>
        <p:nvSpPr>
          <p:cNvPr id="402" name="Card"/>
          <p:cNvSpPr/>
          <p:nvPr/>
        </p:nvSpPr>
        <p:spPr>
          <a:xfrm>
            <a:off x="457200" y="5897880"/>
            <a:ext cx="667512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182880" rIns="320040" bIns="182880" rtlCol="0" anchor="ctr">
            <a:noAutofit/>
          </a:bodyPr>
          <a:lstStyle/>
          <a:p>
            <a:pPr marL="0" indent="0" algn="l">
              <a:lnSpc>
                <a:spcPct val="100000"/>
              </a:lnSpc>
              <a:spcBef>
                <a:spcPts val="0"/>
              </a:spcBef>
              <a:buNone/>
            </a:pPr>
            <a:r>
              <a:rPr lang="en-US" sz="2800"/>
              <a:t>Dán ảnh panorama 360° lên mặt trong hình cầu, camera đặt ở tâm, xem bằng hai mắt (stereo).</a:t>
            </a:r>
          </a:p>
        </p:txBody>
      </p:sp>
      <p:sp>
        <p:nvSpPr>
          <p:cNvPr id="403" name="Card"/>
          <p:cNvSpPr/>
          <p:nvPr/>
        </p:nvSpPr>
        <p:spPr>
          <a:xfrm>
            <a:off x="7498080" y="5897880"/>
            <a:ext cx="667512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182880" rIns="320040" bIns="182880" rtlCol="0" anchor="ctr">
            <a:noAutofit/>
          </a:bodyPr>
          <a:lstStyle/>
          <a:p>
            <a:pPr marL="0" indent="0" algn="l">
              <a:lnSpc>
                <a:spcPct val="100000"/>
              </a:lnSpc>
              <a:spcBef>
                <a:spcPts val="0"/>
              </a:spcBef>
              <a:buNone/>
            </a:pPr>
            <a:r>
              <a:rPr lang="en-US" sz="2800"/>
              <a:t>Mục tiêu: có cảm giác chiều sâu thật khi dịch đầu, vật gần dịch nhiều hơn vật xa.</a:t>
            </a:r>
          </a:p>
        </p:txBody>
      </p:sp>
    </p:spTree>
    <p:extLst>
      <p:ext uri="{BB962C8B-B14F-4D97-AF65-F5344CB8AC3E}">
        <p14:creationId xmlns:p14="http://schemas.microsoft.com/office/powerpoint/2010/main" val="86965635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2776C-AB0F-1A68-F12D-7274049572E0}"/>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8515EB15-CFCA-C652-448A-AA9D76BEC6F9}"/>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FEB762E5-5F62-695C-5FD7-905BE62716A4}"/>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C3C38270-82BF-CCFD-00A5-B3FC07BB64EA}"/>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D2A8637F-C537-9D3D-CF66-FF680428B8CF}"/>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1</a:t>
            </a:r>
          </a:p>
        </p:txBody>
      </p:sp>
      <p:sp>
        <p:nvSpPr>
          <p:cNvPr id="44" name="TextBox 43">
            <a:extLst>
              <a:ext uri="{FF2B5EF4-FFF2-40B4-BE49-F238E27FC236}">
                <a16:creationId xmlns:a16="http://schemas.microsoft.com/office/drawing/2014/main" id="{BC65F12E-3144-07AD-A9E0-836D95010A0C}"/>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Giới thiệu đề tài</a:t>
            </a:r>
          </a:p>
        </p:txBody>
      </p:sp>
      <p:sp>
        <p:nvSpPr>
          <p:cNvPr id="2" name="TextBox 1">
            <a:extLst>
              <a:ext uri="{FF2B5EF4-FFF2-40B4-BE49-F238E27FC236}">
                <a16:creationId xmlns:a16="http://schemas.microsoft.com/office/drawing/2014/main" id="{CEBAD1DD-1B82-A15F-FDE6-B4B0D364BA42}"/>
              </a:ext>
            </a:extLst>
          </p:cNvPr>
          <p:cNvSpPr txBox="1"/>
          <p:nvPr/>
        </p:nvSpPr>
        <p:spPr>
          <a:xfrm>
            <a:off x="523896" y="877824"/>
            <a:ext cx="13607407" cy="584775"/>
          </a:xfrm>
          <a:prstGeom prst="rect">
            <a:avLst/>
          </a:prstGeom>
          <a:noFill/>
        </p:spPr>
        <p:txBody>
          <a:bodyPr wrap="square" rtlCol="0">
            <a:spAutoFit/>
          </a:bodyPr>
          <a:lstStyle/>
          <a:p>
            <a:r>
              <a:rPr lang="en-US" sz="3200" b="1" i="1">
                <a:latin typeface="Arial" panose="020B0604020202020204" pitchFamily="34" charset="0"/>
                <a:cs typeface="Arial" panose="020B0604020202020204" pitchFamily="34" charset="0"/>
              </a:rPr>
              <a:t>Vấn đề của dự án: </a:t>
            </a:r>
          </a:p>
        </p:txBody>
      </p:sp>
      <p:pic>
        <p:nvPicPr>
          <p:cNvPr id="7" name="Picture 6">
            <a:extLst>
              <a:ext uri="{FF2B5EF4-FFF2-40B4-BE49-F238E27FC236}">
                <a16:creationId xmlns:a16="http://schemas.microsoft.com/office/drawing/2014/main" id="{5089EED1-1537-A767-163F-A1F9A48C14CF}"/>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401" name="Card"/>
          <p:cNvSpPr/>
          <p:nvPr/>
        </p:nvSpPr>
        <p:spPr>
          <a:xfrm>
            <a:off x="457200" y="2103120"/>
            <a:ext cx="6172200" cy="4023360"/>
          </a:xfrm>
          <a:prstGeom prst="roundRect">
            <a:avLst>
              <a:gd name="adj" fmla="val 6500"/>
            </a:avLst>
          </a:prstGeom>
          <a:solidFill>
            <a:srgbClr val="FEF1F0"/>
          </a:solidFill>
          <a:ln w="12700">
            <a:solidFill>
              <a:srgbClr val="F4C7C3"/>
            </a:solidFill>
          </a:ln>
          <a:effectLst>
            <a:outerShdw blurRad="76200" dist="25400" dir="5400000" algn="t" rotWithShape="0">
              <a:srgbClr val="000000">
                <a:alpha val="13000"/>
              </a:srgbClr>
            </a:outerShdw>
          </a:effectLst>
        </p:spPr>
        <p:txBody>
          <a:bodyPr wrap="square" lIns="365760" tIns="978408" rIns="365760" bIns="274320" rtlCol="0" anchor="t">
            <a:noAutofit/>
          </a:bodyPr>
          <a:lstStyle/>
          <a:p>
            <a:pPr marL="0" indent="0" algn="l">
              <a:lnSpc>
                <a:spcPct val="100000"/>
              </a:lnSpc>
              <a:spcBef>
                <a:spcPts val="0"/>
              </a:spcBef>
              <a:buNone/>
            </a:pPr>
            <a:r>
              <a:rPr lang="en-US" sz="2800" b="1">
                <a:solidFill>
                  <a:srgbClr val="B42318"/>
                </a:solidFill>
              </a:rPr>
              <a:t>Hình cầu tròn</a:t>
            </a:r>
            <a:r>
              <a:rPr lang="en-US" sz="2800"/>
              <a:t>: mọi điểm cách tâm như nhau, khi dịch đầu cả ảnh dịch như nhau nên không có chiều sâu.</a:t>
            </a:r>
          </a:p>
        </p:txBody>
      </p:sp>
      <p:sp>
        <p:nvSpPr>
          <p:cNvPr id="402" name="Badge 1"/>
          <p:cNvSpPr/>
          <p:nvPr/>
        </p:nvSpPr>
        <p:spPr>
          <a:xfrm>
            <a:off x="822960" y="2377440"/>
            <a:ext cx="566928" cy="566928"/>
          </a:xfrm>
          <a:prstGeom prst="ellipse">
            <a:avLst/>
          </a:prstGeom>
          <a:solidFill>
            <a:srgbClr val="D92D20"/>
          </a:solidFill>
          <a:ln>
            <a:noFill/>
          </a:ln>
        </p:spPr>
        <p:txBody>
          <a:bodyPr wrap="none" lIns="0" tIns="0" rIns="0" bIns="0" rtlCol="0" anchor="ctr">
            <a:noAutofit/>
          </a:bodyPr>
          <a:lstStyle/>
          <a:p>
            <a:pPr algn="ctr"/>
            <a:r>
              <a:rPr lang="en-US" sz="2800" b="1">
                <a:solidFill>
                  <a:srgbClr val="FFFFFF"/>
                </a:solidFill>
              </a:rPr>
              <a:t>1</a:t>
            </a:r>
          </a:p>
        </p:txBody>
      </p:sp>
      <p:sp>
        <p:nvSpPr>
          <p:cNvPr id="403" name="Card"/>
          <p:cNvSpPr/>
          <p:nvPr/>
        </p:nvSpPr>
        <p:spPr>
          <a:xfrm>
            <a:off x="8001000" y="2103120"/>
            <a:ext cx="6172200" cy="4023360"/>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65760" tIns="978408" rIns="365760" bIns="274320" rtlCol="0" anchor="t">
            <a:noAutofit/>
          </a:bodyPr>
          <a:lstStyle/>
          <a:p>
            <a:pPr marL="0" indent="0" algn="l">
              <a:lnSpc>
                <a:spcPct val="100000"/>
              </a:lnSpc>
              <a:spcBef>
                <a:spcPts val="0"/>
              </a:spcBef>
              <a:buNone/>
            </a:pPr>
            <a:r>
              <a:rPr lang="en-US" sz="2800" b="1">
                <a:solidFill>
                  <a:srgbClr val="0B7A3E"/>
                </a:solidFill>
              </a:rPr>
              <a:t>Mesh cầu </a:t>
            </a:r>
            <a:r>
              <a:rPr lang="en-US" sz="2800"/>
              <a:t>theo độ sâu: mỗi điểm được đẩy vào hoặc ra theo độ sâu dựa theo ảnh depth map, nên vật gần dịch nhiều hơn vật xa.</a:t>
            </a:r>
          </a:p>
        </p:txBody>
      </p:sp>
      <p:sp>
        <p:nvSpPr>
          <p:cNvPr id="404" name="Badge 2"/>
          <p:cNvSpPr/>
          <p:nvPr/>
        </p:nvSpPr>
        <p:spPr>
          <a:xfrm>
            <a:off x="8366760" y="2377440"/>
            <a:ext cx="566928" cy="566928"/>
          </a:xfrm>
          <a:prstGeom prst="ellipse">
            <a:avLst/>
          </a:prstGeom>
          <a:solidFill>
            <a:srgbClr val="00B050"/>
          </a:solidFill>
          <a:ln>
            <a:noFill/>
          </a:ln>
        </p:spPr>
        <p:txBody>
          <a:bodyPr wrap="none" lIns="0" tIns="0" rIns="0" bIns="0" rtlCol="0" anchor="ctr">
            <a:noAutofit/>
          </a:bodyPr>
          <a:lstStyle/>
          <a:p>
            <a:pPr algn="ctr"/>
            <a:r>
              <a:rPr lang="en-US" sz="2800" b="1">
                <a:solidFill>
                  <a:srgbClr val="FFFFFF"/>
                </a:solidFill>
              </a:rPr>
              <a:t>2</a:t>
            </a:r>
          </a:p>
        </p:txBody>
      </p:sp>
      <p:sp>
        <p:nvSpPr>
          <p:cNvPr id="405" name="Arrow"/>
          <p:cNvSpPr/>
          <p:nvPr/>
        </p:nvSpPr>
        <p:spPr>
          <a:xfrm>
            <a:off x="6903720" y="3703320"/>
            <a:ext cx="822960" cy="822960"/>
          </a:xfrm>
          <a:prstGeom prst="rightArrow">
            <a:avLst/>
          </a:prstGeom>
          <a:solidFill>
            <a:srgbClr val="00B050"/>
          </a:solidFill>
          <a:ln>
            <a:noFill/>
          </a:ln>
        </p:spPr>
        <p:txBody>
          <a:bodyPr wrap="square" lIns="182880" tIns="109728" rIns="182880" bIns="109728" rtlCol="0" anchor="ctr">
            <a:noAutofit/>
          </a:bodyPr>
          <a:lstStyle/>
          <a:p>
            <a:endParaRPr lang="en-US"/>
          </a:p>
        </p:txBody>
      </p:sp>
    </p:spTree>
    <p:extLst>
      <p:ext uri="{BB962C8B-B14F-4D97-AF65-F5344CB8AC3E}">
        <p14:creationId xmlns:p14="http://schemas.microsoft.com/office/powerpoint/2010/main" val="23695778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E65FD-8FBB-1F60-FC30-C26059104A10}"/>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68B71557-94D0-1C70-B26A-018AE5F14667}"/>
              </a:ext>
            </a:extLst>
          </p:cNvPr>
          <p:cNvPicPr>
            <a:picLocks noChangeAspect="1"/>
          </p:cNvPicPr>
          <p:nvPr/>
        </p:nvPicPr>
        <p:blipFill>
          <a:blip r:embed="rId3"/>
          <a:stretch>
            <a:fillRect/>
          </a:stretch>
        </p:blipFill>
        <p:spPr>
          <a:xfrm>
            <a:off x="2148839" y="1497965"/>
            <a:ext cx="11555585" cy="6643866"/>
          </a:xfrm>
          <a:prstGeom prst="rect">
            <a:avLst/>
          </a:prstGeom>
        </p:spPr>
      </p:pic>
      <p:sp>
        <p:nvSpPr>
          <p:cNvPr id="40" name="Shape 3">
            <a:extLst>
              <a:ext uri="{FF2B5EF4-FFF2-40B4-BE49-F238E27FC236}">
                <a16:creationId xmlns:a16="http://schemas.microsoft.com/office/drawing/2014/main" id="{DE3FE391-82BF-3CE2-B3E0-AB4AD3CAE32E}"/>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3F99D732-BB52-B71B-E8D4-E0F160A0C0B1}"/>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DC467BAD-54CF-DED6-B9E3-7A0173BFC1A8}"/>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67EC0B21-1E66-9B4E-5F9D-FC10784F99B3}"/>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1</a:t>
            </a:r>
          </a:p>
        </p:txBody>
      </p:sp>
      <p:sp>
        <p:nvSpPr>
          <p:cNvPr id="44" name="TextBox 43">
            <a:extLst>
              <a:ext uri="{FF2B5EF4-FFF2-40B4-BE49-F238E27FC236}">
                <a16:creationId xmlns:a16="http://schemas.microsoft.com/office/drawing/2014/main" id="{ED49DF88-C770-FE63-A3A5-AC95EC0517AB}"/>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Giới thiệu đề tài</a:t>
            </a:r>
          </a:p>
        </p:txBody>
      </p:sp>
      <p:sp>
        <p:nvSpPr>
          <p:cNvPr id="2" name="TextBox 1">
            <a:extLst>
              <a:ext uri="{FF2B5EF4-FFF2-40B4-BE49-F238E27FC236}">
                <a16:creationId xmlns:a16="http://schemas.microsoft.com/office/drawing/2014/main" id="{35EF4CDA-AD00-AB6C-F524-2A1AE3A6F650}"/>
              </a:ext>
            </a:extLst>
          </p:cNvPr>
          <p:cNvSpPr txBox="1"/>
          <p:nvPr/>
        </p:nvSpPr>
        <p:spPr>
          <a:xfrm>
            <a:off x="511496" y="812412"/>
            <a:ext cx="13607407" cy="584775"/>
          </a:xfrm>
          <a:prstGeom prst="rect">
            <a:avLst/>
          </a:prstGeom>
          <a:noFill/>
        </p:spPr>
        <p:txBody>
          <a:bodyPr wrap="square" rtlCol="0">
            <a:spAutoFit/>
          </a:bodyPr>
          <a:lstStyle/>
          <a:p>
            <a:r>
              <a:rPr lang="en-US" sz="3200" b="1" i="1">
                <a:latin typeface="Arial" panose="020B0604020202020204" pitchFamily="34" charset="0"/>
                <a:cs typeface="Arial" panose="020B0604020202020204" pitchFamily="34" charset="0"/>
              </a:rPr>
              <a:t>Vấn đề của dự án: </a:t>
            </a:r>
          </a:p>
        </p:txBody>
      </p:sp>
      <p:pic>
        <p:nvPicPr>
          <p:cNvPr id="7" name="Picture 6">
            <a:extLst>
              <a:ext uri="{FF2B5EF4-FFF2-40B4-BE49-F238E27FC236}">
                <a16:creationId xmlns:a16="http://schemas.microsoft.com/office/drawing/2014/main" id="{72C06252-1F29-3493-E826-4A690A1F8514}"/>
              </a:ext>
            </a:extLst>
          </p:cNvPr>
          <p:cNvPicPr>
            <a:picLocks noChangeAspect="1"/>
          </p:cNvPicPr>
          <p:nvPr/>
        </p:nvPicPr>
        <p:blipFill>
          <a:blip r:embed="rId4"/>
          <a:stretch>
            <a:fillRect/>
          </a:stretch>
        </p:blipFill>
        <p:spPr>
          <a:xfrm>
            <a:off x="12778451" y="7743463"/>
            <a:ext cx="1851949" cy="408634"/>
          </a:xfrm>
          <a:prstGeom prst="rect">
            <a:avLst/>
          </a:prstGeom>
        </p:spPr>
      </p:pic>
    </p:spTree>
    <p:extLst>
      <p:ext uri="{BB962C8B-B14F-4D97-AF65-F5344CB8AC3E}">
        <p14:creationId xmlns:p14="http://schemas.microsoft.com/office/powerpoint/2010/main" val="38428143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43312-946E-3FEA-F467-2708ADAC45E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260AC6-C141-7AA7-0F2C-8C13DFFA58F3}"/>
              </a:ext>
            </a:extLst>
          </p:cNvPr>
          <p:cNvPicPr>
            <a:picLocks noChangeAspect="1"/>
          </p:cNvPicPr>
          <p:nvPr/>
        </p:nvPicPr>
        <p:blipFill>
          <a:blip r:embed="rId3"/>
          <a:stretch>
            <a:fillRect/>
          </a:stretch>
        </p:blipFill>
        <p:spPr>
          <a:xfrm>
            <a:off x="3566160" y="1104799"/>
            <a:ext cx="9799319" cy="7171148"/>
          </a:xfrm>
          <a:prstGeom prst="rect">
            <a:avLst/>
          </a:prstGeom>
        </p:spPr>
      </p:pic>
      <p:sp>
        <p:nvSpPr>
          <p:cNvPr id="40" name="Shape 3">
            <a:extLst>
              <a:ext uri="{FF2B5EF4-FFF2-40B4-BE49-F238E27FC236}">
                <a16:creationId xmlns:a16="http://schemas.microsoft.com/office/drawing/2014/main" id="{A82FE46F-A97B-ADC7-493C-EA1285BCBE4B}"/>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F895C5F9-08EE-EB29-52C1-974E5932D1CA}"/>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34454570-F950-A516-FB98-546515F4FDA8}"/>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09B0DF08-7CF3-8A72-9519-88358431A129}"/>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1</a:t>
            </a:r>
          </a:p>
        </p:txBody>
      </p:sp>
      <p:sp>
        <p:nvSpPr>
          <p:cNvPr id="44" name="TextBox 43">
            <a:extLst>
              <a:ext uri="{FF2B5EF4-FFF2-40B4-BE49-F238E27FC236}">
                <a16:creationId xmlns:a16="http://schemas.microsoft.com/office/drawing/2014/main" id="{E9341C8C-DE79-1099-0B75-858FC7159059}"/>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Giới thiệu đề tài</a:t>
            </a:r>
          </a:p>
        </p:txBody>
      </p:sp>
      <p:sp>
        <p:nvSpPr>
          <p:cNvPr id="2" name="TextBox 1">
            <a:extLst>
              <a:ext uri="{FF2B5EF4-FFF2-40B4-BE49-F238E27FC236}">
                <a16:creationId xmlns:a16="http://schemas.microsoft.com/office/drawing/2014/main" id="{6E3E2391-AB6F-1B3F-582D-AA7B819810DF}"/>
              </a:ext>
            </a:extLst>
          </p:cNvPr>
          <p:cNvSpPr txBox="1"/>
          <p:nvPr/>
        </p:nvSpPr>
        <p:spPr>
          <a:xfrm>
            <a:off x="511496" y="812412"/>
            <a:ext cx="13607407" cy="584775"/>
          </a:xfrm>
          <a:prstGeom prst="rect">
            <a:avLst/>
          </a:prstGeom>
          <a:noFill/>
        </p:spPr>
        <p:txBody>
          <a:bodyPr wrap="square" rtlCol="0">
            <a:spAutoFit/>
          </a:bodyPr>
          <a:lstStyle/>
          <a:p>
            <a:r>
              <a:rPr lang="en-US" sz="3200" b="1" i="1">
                <a:latin typeface="Arial" panose="020B0604020202020204" pitchFamily="34" charset="0"/>
                <a:cs typeface="Arial" panose="020B0604020202020204" pitchFamily="34" charset="0"/>
              </a:rPr>
              <a:t>Vấn đề của dự án: </a:t>
            </a:r>
          </a:p>
        </p:txBody>
      </p:sp>
      <p:pic>
        <p:nvPicPr>
          <p:cNvPr id="7" name="Picture 6">
            <a:extLst>
              <a:ext uri="{FF2B5EF4-FFF2-40B4-BE49-F238E27FC236}">
                <a16:creationId xmlns:a16="http://schemas.microsoft.com/office/drawing/2014/main" id="{5CA26FFF-C1F4-5570-54E7-429A919D36A9}"/>
              </a:ext>
            </a:extLst>
          </p:cNvPr>
          <p:cNvPicPr>
            <a:picLocks noChangeAspect="1"/>
          </p:cNvPicPr>
          <p:nvPr/>
        </p:nvPicPr>
        <p:blipFill>
          <a:blip r:embed="rId4"/>
          <a:stretch>
            <a:fillRect/>
          </a:stretch>
        </p:blipFill>
        <p:spPr>
          <a:xfrm>
            <a:off x="12778451" y="7743463"/>
            <a:ext cx="1851949" cy="408634"/>
          </a:xfrm>
          <a:prstGeom prst="rect">
            <a:avLst/>
          </a:prstGeom>
        </p:spPr>
      </p:pic>
    </p:spTree>
    <p:extLst>
      <p:ext uri="{BB962C8B-B14F-4D97-AF65-F5344CB8AC3E}">
        <p14:creationId xmlns:p14="http://schemas.microsoft.com/office/powerpoint/2010/main" val="87961466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274-149F-6AC7-74DF-5C3F15BA26B1}"/>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A08C3568-6732-73AF-F720-F6EA18A570FB}"/>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F333935E-90CB-CE45-A2C0-AC668A79E7C7}"/>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9C239D7F-5A39-789E-34E8-42ED1F2934E6}"/>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1C0B72AB-758D-9F25-584E-92AFB3C04AF3}"/>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85566AAB-24EE-E3D6-E52E-A2C3BDE225A1}"/>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pic>
        <p:nvPicPr>
          <p:cNvPr id="7" name="Picture 6">
            <a:extLst>
              <a:ext uri="{FF2B5EF4-FFF2-40B4-BE49-F238E27FC236}">
                <a16:creationId xmlns:a16="http://schemas.microsoft.com/office/drawing/2014/main" id="{1D4A545D-6A64-6EDF-7903-D3C3034B847F}"/>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0F55CED1-4CBB-62F0-7E31-BE220282DE43}"/>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2.1 Ý tưởng cốt lõi</a:t>
            </a:r>
          </a:p>
        </p:txBody>
      </p:sp>
      <p:pic>
        <p:nvPicPr>
          <p:cNvPr id="8" name="Picture 7">
            <a:extLst>
              <a:ext uri="{FF2B5EF4-FFF2-40B4-BE49-F238E27FC236}">
                <a16:creationId xmlns:a16="http://schemas.microsoft.com/office/drawing/2014/main" id="{0BAD6D4E-332B-16B4-3D1C-C7EE30F18EA0}"/>
              </a:ext>
            </a:extLst>
          </p:cNvPr>
          <p:cNvPicPr>
            <a:picLocks noChangeAspect="1"/>
          </p:cNvPicPr>
          <p:nvPr/>
        </p:nvPicPr>
        <p:blipFill>
          <a:blip r:embed="rId4"/>
          <a:stretch>
            <a:fillRect/>
          </a:stretch>
        </p:blipFill>
        <p:spPr>
          <a:xfrm>
            <a:off x="7435401" y="4306824"/>
            <a:ext cx="6579127" cy="3282696"/>
          </a:xfrm>
          <a:prstGeom prst="roundRect">
            <a:avLst>
              <a:gd name="adj" fmla="val 3500"/>
            </a:avLst>
          </a:prstGeom>
          <a:ln w="15875">
            <a:solidFill>
              <a:srgbClr val="D8DEE6"/>
            </a:solidFill>
          </a:ln>
        </p:spPr>
      </p:pic>
      <p:pic>
        <p:nvPicPr>
          <p:cNvPr id="10" name="Picture 9">
            <a:extLst>
              <a:ext uri="{FF2B5EF4-FFF2-40B4-BE49-F238E27FC236}">
                <a16:creationId xmlns:a16="http://schemas.microsoft.com/office/drawing/2014/main" id="{91379DD3-C2F4-093F-8C11-358D518B6F80}"/>
              </a:ext>
            </a:extLst>
          </p:cNvPr>
          <p:cNvPicPr>
            <a:picLocks noChangeAspect="1"/>
          </p:cNvPicPr>
          <p:nvPr/>
        </p:nvPicPr>
        <p:blipFill>
          <a:blip r:embed="rId5"/>
          <a:stretch>
            <a:fillRect/>
          </a:stretch>
        </p:blipFill>
        <p:spPr>
          <a:xfrm>
            <a:off x="615871" y="4306824"/>
            <a:ext cx="6453770" cy="3282696"/>
          </a:xfrm>
          <a:prstGeom prst="roundRect">
            <a:avLst>
              <a:gd name="adj" fmla="val 3500"/>
            </a:avLst>
          </a:prstGeom>
          <a:ln w="15875">
            <a:solidFill>
              <a:srgbClr val="D8DEE6"/>
            </a:solidFill>
          </a:ln>
        </p:spPr>
      </p:pic>
      <p:sp>
        <p:nvSpPr>
          <p:cNvPr id="401" name="Card"/>
          <p:cNvSpPr/>
          <p:nvPr/>
        </p:nvSpPr>
        <p:spPr>
          <a:xfrm>
            <a:off x="457200" y="1645920"/>
            <a:ext cx="667512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182880" rIns="274320" bIns="182880" rtlCol="0" anchor="ctr">
            <a:noAutofit/>
          </a:bodyPr>
          <a:lstStyle/>
          <a:p>
            <a:pPr marL="0" indent="0" algn="l">
              <a:lnSpc>
                <a:spcPct val="100000"/>
              </a:lnSpc>
              <a:spcBef>
                <a:spcPts val="0"/>
              </a:spcBef>
              <a:buNone/>
            </a:pPr>
            <a:r>
              <a:rPr lang="en-US" sz="2800" b="1">
                <a:solidFill>
                  <a:srgbClr val="0B7A3E"/>
                </a:solidFill>
                <a:latin typeface="Arial" panose="020B0604020202020204" pitchFamily="34" charset="0"/>
                <a:cs typeface="Arial" panose="020B0604020202020204" pitchFamily="34" charset="0"/>
              </a:rPr>
              <a:t>Thị sai hai mắt: </a:t>
            </a:r>
            <a:r>
              <a:rPr lang="en-US" sz="2800">
                <a:latin typeface="Arial" panose="020B0604020202020204" pitchFamily="34" charset="0"/>
                <a:cs typeface="Arial" panose="020B0604020202020204" pitchFamily="34" charset="0"/>
              </a:rPr>
              <a:t>Blender render sẵn cặp ảnh trái/phải; mỗi mắt xem một ảnh.</a:t>
            </a:r>
          </a:p>
        </p:txBody>
      </p:sp>
      <p:sp>
        <p:nvSpPr>
          <p:cNvPr id="402" name="Badge 1"/>
          <p:cNvSpPr/>
          <p:nvPr/>
        </p:nvSpPr>
        <p:spPr>
          <a:xfrm>
            <a:off x="731520" y="2169414"/>
            <a:ext cx="566928" cy="566928"/>
          </a:xfrm>
          <a:prstGeom prst="ellipse">
            <a:avLst/>
          </a:prstGeom>
          <a:solidFill>
            <a:srgbClr val="00B050"/>
          </a:solidFill>
          <a:ln>
            <a:noFill/>
          </a:ln>
        </p:spPr>
        <p:txBody>
          <a:bodyPr wrap="none" lIns="0" tIns="0" rIns="0" bIns="0" rtlCol="0" anchor="ctr">
            <a:noAutofit/>
          </a:bodyPr>
          <a:lstStyle/>
          <a:p>
            <a:pPr algn="ctr"/>
            <a:r>
              <a:rPr lang="en-US" sz="2800" b="1">
                <a:solidFill>
                  <a:srgbClr val="FFFFFF"/>
                </a:solidFill>
              </a:rPr>
              <a:t>1</a:t>
            </a:r>
          </a:p>
        </p:txBody>
      </p:sp>
      <p:sp>
        <p:nvSpPr>
          <p:cNvPr id="403" name="Card"/>
          <p:cNvSpPr/>
          <p:nvPr/>
        </p:nvSpPr>
        <p:spPr>
          <a:xfrm>
            <a:off x="7498080" y="1645920"/>
            <a:ext cx="667512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182880" rIns="274320" bIns="182880" rtlCol="0" anchor="ctr">
            <a:noAutofit/>
          </a:bodyPr>
          <a:lstStyle/>
          <a:p>
            <a:pPr marL="0" indent="0" algn="l">
              <a:lnSpc>
                <a:spcPct val="100000"/>
              </a:lnSpc>
              <a:spcBef>
                <a:spcPts val="0"/>
              </a:spcBef>
              <a:buNone/>
            </a:pPr>
            <a:r>
              <a:rPr lang="en-US" sz="2800" b="1">
                <a:solidFill>
                  <a:srgbClr val="0B7A3E"/>
                </a:solidFill>
                <a:latin typeface="Arial" panose="020B0604020202020204" pitchFamily="34" charset="0"/>
                <a:cs typeface="Arial" panose="020B0604020202020204" pitchFamily="34" charset="0"/>
              </a:rPr>
              <a:t>Thị sai chuyển động: </a:t>
            </a:r>
            <a:r>
              <a:rPr lang="en-US" sz="2800">
                <a:latin typeface="Arial" panose="020B0604020202020204" pitchFamily="34" charset="0"/>
                <a:cs typeface="Arial" panose="020B0604020202020204" pitchFamily="34" charset="0"/>
              </a:rPr>
              <a:t>dùng ảnh độ sâu để đẩy các điểm của mặt cầu vào hoặc ra.</a:t>
            </a:r>
          </a:p>
        </p:txBody>
      </p:sp>
      <p:sp>
        <p:nvSpPr>
          <p:cNvPr id="404" name="Badge 2"/>
          <p:cNvSpPr/>
          <p:nvPr/>
        </p:nvSpPr>
        <p:spPr>
          <a:xfrm>
            <a:off x="7772400" y="2169414"/>
            <a:ext cx="566928" cy="566928"/>
          </a:xfrm>
          <a:prstGeom prst="ellipse">
            <a:avLst/>
          </a:prstGeom>
          <a:solidFill>
            <a:srgbClr val="00B050"/>
          </a:solidFill>
          <a:ln>
            <a:noFill/>
          </a:ln>
        </p:spPr>
        <p:txBody>
          <a:bodyPr wrap="none" lIns="0" tIns="0" rIns="0" bIns="0" rtlCol="0" anchor="ctr">
            <a:noAutofit/>
          </a:bodyPr>
          <a:lstStyle/>
          <a:p>
            <a:pPr algn="ctr"/>
            <a:r>
              <a:rPr lang="en-US" sz="2800" b="1">
                <a:solidFill>
                  <a:srgbClr val="FFFFFF"/>
                </a:solidFill>
              </a:rPr>
              <a:t>2</a:t>
            </a:r>
          </a:p>
        </p:txBody>
      </p:sp>
      <p:sp>
        <p:nvSpPr>
          <p:cNvPr id="405" name="Banner"/>
          <p:cNvSpPr/>
          <p:nvPr/>
        </p:nvSpPr>
        <p:spPr>
          <a:xfrm>
            <a:off x="457200" y="3442716"/>
            <a:ext cx="13716000" cy="635508"/>
          </a:xfrm>
          <a:prstGeom prst="roundRect">
            <a:avLst>
              <a:gd name="adj" fmla="val 6500"/>
            </a:avLst>
          </a:prstGeom>
          <a:solidFill>
            <a:srgbClr val="0B7A3E"/>
          </a:solidFill>
          <a:ln>
            <a:noFill/>
          </a:ln>
          <a:effectLst>
            <a:outerShdw blurRad="76200" dist="25400" dir="5400000" algn="t" rotWithShape="0">
              <a:srgbClr val="000000">
                <a:alpha val="13000"/>
              </a:srgbClr>
            </a:outerShdw>
          </a:effectLst>
        </p:spPr>
        <p:txBody>
          <a:bodyPr wrap="square" lIns="274320" tIns="109728" rIns="274320" bIns="109728" rtlCol="0" anchor="ctr">
            <a:noAutofit/>
          </a:bodyPr>
          <a:lstStyle/>
          <a:p>
            <a:pPr marL="0" indent="0" algn="ctr">
              <a:lnSpc>
                <a:spcPct val="100000"/>
              </a:lnSpc>
              <a:spcBef>
                <a:spcPts val="0"/>
              </a:spcBef>
              <a:buNone/>
            </a:pPr>
            <a:r>
              <a:rPr lang="en-US" sz="2800" b="1">
                <a:solidFill>
                  <a:srgbClr val="FFFFFF"/>
                </a:solidFill>
                <a:latin typeface="Arial" panose="020B0604020202020204" pitchFamily="34" charset="0"/>
                <a:cs typeface="Arial" panose="020B0604020202020204" pitchFamily="34" charset="0"/>
              </a:rPr>
              <a:t>Cần cả hai thì mới đủ chiều sâu.</a:t>
            </a:r>
          </a:p>
        </p:txBody>
      </p:sp>
    </p:spTree>
    <p:extLst>
      <p:ext uri="{BB962C8B-B14F-4D97-AF65-F5344CB8AC3E}">
        <p14:creationId xmlns:p14="http://schemas.microsoft.com/office/powerpoint/2010/main" val="12378164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F30AA-BAAD-2FDE-B134-D7367366D708}"/>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0C4EE1E5-B4AD-1ECF-2322-33F7C9EE75B5}"/>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3730180B-A537-B300-DB6E-4C00EC2CB3E8}"/>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F8E8FD85-7936-738B-4C02-91D0C88A0420}"/>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C87A97E5-A3B0-14D6-EB15-A5E4A9B87DAC}"/>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4C0261C9-06AD-0EC1-DF26-F8D5F23192BD}"/>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pic>
        <p:nvPicPr>
          <p:cNvPr id="7" name="Picture 6">
            <a:extLst>
              <a:ext uri="{FF2B5EF4-FFF2-40B4-BE49-F238E27FC236}">
                <a16:creationId xmlns:a16="http://schemas.microsoft.com/office/drawing/2014/main" id="{70AE9E4B-810C-C30C-511A-F778D03E1AD5}"/>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068FEA78-EBE3-C256-C7CB-8B610BD001BE}"/>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2.1 Ý tưởng cốt lõi</a:t>
            </a:r>
          </a:p>
        </p:txBody>
      </p:sp>
      <p:pic>
        <p:nvPicPr>
          <p:cNvPr id="5" name="Picture 4">
            <a:extLst>
              <a:ext uri="{FF2B5EF4-FFF2-40B4-BE49-F238E27FC236}">
                <a16:creationId xmlns:a16="http://schemas.microsoft.com/office/drawing/2014/main" id="{BDD3D2DB-B51C-58E3-616B-A030B5EE6AF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6928" y="4306824"/>
            <a:ext cx="6565392" cy="3282696"/>
          </a:xfrm>
          <a:prstGeom prst="roundRect">
            <a:avLst>
              <a:gd name="adj" fmla="val 3500"/>
            </a:avLst>
          </a:prstGeom>
          <a:ln w="15875">
            <a:solidFill>
              <a:srgbClr val="D8DEE6"/>
            </a:solidFill>
          </a:ln>
        </p:spPr>
      </p:pic>
      <p:pic>
        <p:nvPicPr>
          <p:cNvPr id="6" name="Picture 5">
            <a:extLst>
              <a:ext uri="{FF2B5EF4-FFF2-40B4-BE49-F238E27FC236}">
                <a16:creationId xmlns:a16="http://schemas.microsoft.com/office/drawing/2014/main" id="{51B957CA-C4C5-7A9A-B7DF-C568703DC5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98080" y="4306824"/>
            <a:ext cx="6565392" cy="3282696"/>
          </a:xfrm>
          <a:prstGeom prst="roundRect">
            <a:avLst>
              <a:gd name="adj" fmla="val 3500"/>
            </a:avLst>
          </a:prstGeom>
          <a:ln w="15875">
            <a:solidFill>
              <a:srgbClr val="D8DEE6"/>
            </a:solidFill>
          </a:ln>
        </p:spPr>
      </p:pic>
      <p:sp>
        <p:nvSpPr>
          <p:cNvPr id="401" name="Card"/>
          <p:cNvSpPr/>
          <p:nvPr/>
        </p:nvSpPr>
        <p:spPr>
          <a:xfrm>
            <a:off x="457200" y="1645920"/>
            <a:ext cx="667512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182880" rIns="274320" bIns="182880" rtlCol="0" anchor="ctr">
            <a:noAutofit/>
          </a:bodyPr>
          <a:lstStyle/>
          <a:p>
            <a:pPr marL="0" indent="0" algn="l">
              <a:lnSpc>
                <a:spcPct val="100000"/>
              </a:lnSpc>
              <a:spcBef>
                <a:spcPts val="0"/>
              </a:spcBef>
              <a:buNone/>
            </a:pPr>
            <a:r>
              <a:rPr lang="en-US" sz="2800" b="1">
                <a:solidFill>
                  <a:srgbClr val="0B7A3E"/>
                </a:solidFill>
                <a:latin typeface="Arial" panose="020B0604020202020204" pitchFamily="34" charset="0"/>
                <a:cs typeface="Arial" panose="020B0604020202020204" pitchFamily="34" charset="0"/>
              </a:rPr>
              <a:t>Thị sai hai mắt: </a:t>
            </a:r>
            <a:r>
              <a:rPr lang="en-US" sz="2800">
                <a:latin typeface="Arial" panose="020B0604020202020204" pitchFamily="34" charset="0"/>
                <a:cs typeface="Arial" panose="020B0604020202020204" pitchFamily="34" charset="0"/>
              </a:rPr>
              <a:t>Blender render sẵn cặp ảnh trái/phải; mỗi mắt xem một ảnh.</a:t>
            </a:r>
          </a:p>
        </p:txBody>
      </p:sp>
      <p:sp>
        <p:nvSpPr>
          <p:cNvPr id="402" name="Badge 1"/>
          <p:cNvSpPr/>
          <p:nvPr/>
        </p:nvSpPr>
        <p:spPr>
          <a:xfrm>
            <a:off x="731520" y="2169414"/>
            <a:ext cx="566928" cy="566928"/>
          </a:xfrm>
          <a:prstGeom prst="ellipse">
            <a:avLst/>
          </a:prstGeom>
          <a:solidFill>
            <a:srgbClr val="00B050"/>
          </a:solidFill>
          <a:ln>
            <a:noFill/>
          </a:ln>
        </p:spPr>
        <p:txBody>
          <a:bodyPr wrap="none" lIns="0" tIns="0" rIns="0" bIns="0" rtlCol="0" anchor="ctr">
            <a:noAutofit/>
          </a:bodyPr>
          <a:lstStyle/>
          <a:p>
            <a:pPr algn="ctr"/>
            <a:r>
              <a:rPr lang="en-US" sz="2800" b="1">
                <a:solidFill>
                  <a:srgbClr val="FFFFFF"/>
                </a:solidFill>
              </a:rPr>
              <a:t>1</a:t>
            </a:r>
          </a:p>
        </p:txBody>
      </p:sp>
      <p:sp>
        <p:nvSpPr>
          <p:cNvPr id="403" name="Card"/>
          <p:cNvSpPr/>
          <p:nvPr/>
        </p:nvSpPr>
        <p:spPr>
          <a:xfrm>
            <a:off x="7498080" y="1645920"/>
            <a:ext cx="667512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182880" rIns="274320" bIns="182880" rtlCol="0" anchor="ctr">
            <a:noAutofit/>
          </a:bodyPr>
          <a:lstStyle/>
          <a:p>
            <a:pPr marL="0" indent="0" algn="l">
              <a:lnSpc>
                <a:spcPct val="100000"/>
              </a:lnSpc>
              <a:spcBef>
                <a:spcPts val="0"/>
              </a:spcBef>
              <a:buNone/>
            </a:pPr>
            <a:r>
              <a:rPr lang="en-US" sz="2800" b="1">
                <a:solidFill>
                  <a:srgbClr val="0B7A3E"/>
                </a:solidFill>
                <a:latin typeface="Arial" panose="020B0604020202020204" pitchFamily="34" charset="0"/>
                <a:cs typeface="Arial" panose="020B0604020202020204" pitchFamily="34" charset="0"/>
              </a:rPr>
              <a:t>Thị sai chuyển động: </a:t>
            </a:r>
            <a:r>
              <a:rPr lang="en-US" sz="2800">
                <a:latin typeface="Arial" panose="020B0604020202020204" pitchFamily="34" charset="0"/>
                <a:cs typeface="Arial" panose="020B0604020202020204" pitchFamily="34" charset="0"/>
              </a:rPr>
              <a:t>dùng ảnh độ sâu để đẩy các điểm của mặt cầu vào hoặc ra.</a:t>
            </a:r>
          </a:p>
        </p:txBody>
      </p:sp>
      <p:sp>
        <p:nvSpPr>
          <p:cNvPr id="404" name="Badge 2"/>
          <p:cNvSpPr/>
          <p:nvPr/>
        </p:nvSpPr>
        <p:spPr>
          <a:xfrm>
            <a:off x="7772400" y="2169414"/>
            <a:ext cx="566928" cy="566928"/>
          </a:xfrm>
          <a:prstGeom prst="ellipse">
            <a:avLst/>
          </a:prstGeom>
          <a:solidFill>
            <a:srgbClr val="00B050"/>
          </a:solidFill>
          <a:ln>
            <a:noFill/>
          </a:ln>
        </p:spPr>
        <p:txBody>
          <a:bodyPr wrap="none" lIns="0" tIns="0" rIns="0" bIns="0" rtlCol="0" anchor="ctr">
            <a:noAutofit/>
          </a:bodyPr>
          <a:lstStyle/>
          <a:p>
            <a:pPr algn="ctr"/>
            <a:r>
              <a:rPr lang="en-US" sz="2800" b="1">
                <a:solidFill>
                  <a:srgbClr val="FFFFFF"/>
                </a:solidFill>
              </a:rPr>
              <a:t>2</a:t>
            </a:r>
          </a:p>
        </p:txBody>
      </p:sp>
      <p:sp>
        <p:nvSpPr>
          <p:cNvPr id="405" name="Banner"/>
          <p:cNvSpPr/>
          <p:nvPr/>
        </p:nvSpPr>
        <p:spPr>
          <a:xfrm>
            <a:off x="457200" y="3442716"/>
            <a:ext cx="13716000" cy="635508"/>
          </a:xfrm>
          <a:prstGeom prst="roundRect">
            <a:avLst>
              <a:gd name="adj" fmla="val 6500"/>
            </a:avLst>
          </a:prstGeom>
          <a:solidFill>
            <a:srgbClr val="0B7A3E"/>
          </a:solidFill>
          <a:ln>
            <a:noFill/>
          </a:ln>
          <a:effectLst>
            <a:outerShdw blurRad="76200" dist="25400" dir="5400000" algn="t" rotWithShape="0">
              <a:srgbClr val="000000">
                <a:alpha val="13000"/>
              </a:srgbClr>
            </a:outerShdw>
          </a:effectLst>
        </p:spPr>
        <p:txBody>
          <a:bodyPr wrap="square" lIns="274320" tIns="109728" rIns="274320" bIns="109728" rtlCol="0" anchor="ctr">
            <a:noAutofit/>
          </a:bodyPr>
          <a:lstStyle/>
          <a:p>
            <a:pPr marL="0" indent="0" algn="ctr">
              <a:lnSpc>
                <a:spcPct val="100000"/>
              </a:lnSpc>
              <a:spcBef>
                <a:spcPts val="0"/>
              </a:spcBef>
              <a:buNone/>
            </a:pPr>
            <a:r>
              <a:rPr lang="en-US" sz="2800" b="1">
                <a:solidFill>
                  <a:srgbClr val="FFFFFF"/>
                </a:solidFill>
                <a:latin typeface="Arial" panose="020B0604020202020204" pitchFamily="34" charset="0"/>
                <a:cs typeface="Arial" panose="020B0604020202020204" pitchFamily="34" charset="0"/>
              </a:rPr>
              <a:t>Cần cả hai thì mới đủ chiều sâu.</a:t>
            </a:r>
          </a:p>
        </p:txBody>
      </p:sp>
    </p:spTree>
    <p:extLst>
      <p:ext uri="{BB962C8B-B14F-4D97-AF65-F5344CB8AC3E}">
        <p14:creationId xmlns:p14="http://schemas.microsoft.com/office/powerpoint/2010/main" val="342169887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07E7A-8230-6E65-5875-3944A8761214}"/>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F31B3226-050C-C82A-0E2F-E09ECF45C2ED}"/>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6BDA9565-306A-F8E4-B5B1-0CA6EABDD192}"/>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9A78D152-3484-D088-D68D-9C761A664F1D}"/>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5AAD757C-7C61-A103-7DDF-FB43AFF236A2}"/>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D4D9AF05-6EB8-F5FA-39DC-9FDA6DEBA562}"/>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sp>
        <p:nvSpPr>
          <p:cNvPr id="4" name="TextBox 3">
            <a:extLst>
              <a:ext uri="{FF2B5EF4-FFF2-40B4-BE49-F238E27FC236}">
                <a16:creationId xmlns:a16="http://schemas.microsoft.com/office/drawing/2014/main" id="{8A70EB62-7F30-D4E5-2807-8E3FEA842940}"/>
              </a:ext>
            </a:extLst>
          </p:cNvPr>
          <p:cNvSpPr txBox="1"/>
          <p:nvPr/>
        </p:nvSpPr>
        <p:spPr>
          <a:xfrm>
            <a:off x="2306648" y="5367583"/>
            <a:ext cx="11966465" cy="594202"/>
          </a:xfrm>
          <a:prstGeom prst="rect">
            <a:avLst/>
          </a:prstGeom>
          <a:noFill/>
        </p:spPr>
        <p:txBody>
          <a:bodyPr wrap="square" rtlCol="0">
            <a:spAutoFit/>
          </a:bodyPr>
          <a:lstStyle/>
          <a:p>
            <a:pPr marL="342900" indent="-342900" algn="just">
              <a:lnSpc>
                <a:spcPct val="130000"/>
              </a:lnSpc>
              <a:spcBef>
                <a:spcPts val="600"/>
              </a:spcBef>
              <a:buFont typeface="Arial" panose="020B0604020202020204" pitchFamily="34" charset="0"/>
              <a:buChar char="•"/>
            </a:pPr>
            <a:r>
              <a:rPr lang="en-US" sz="2800" b="1">
                <a:latin typeface="Arial" panose="020B0604020202020204" pitchFamily="34" charset="0"/>
                <a:cs typeface="Arial" panose="020B0604020202020204" pitchFamily="34" charset="0"/>
              </a:rPr>
              <a:t>Công nghệ: </a:t>
            </a:r>
            <a:r>
              <a:rPr lang="en-US" sz="2800">
                <a:latin typeface="Arial" panose="020B0604020202020204" pitchFamily="34" charset="0"/>
                <a:cs typeface="Arial" panose="020B0604020202020204" pitchFamily="34" charset="0"/>
              </a:rPr>
              <a:t>Blender, Unity URP, Visual Studio, Gitbash, GitHub.</a:t>
            </a:r>
          </a:p>
        </p:txBody>
      </p:sp>
      <p:pic>
        <p:nvPicPr>
          <p:cNvPr id="7" name="Picture 6">
            <a:extLst>
              <a:ext uri="{FF2B5EF4-FFF2-40B4-BE49-F238E27FC236}">
                <a16:creationId xmlns:a16="http://schemas.microsoft.com/office/drawing/2014/main" id="{1C78F867-D287-C1F7-DB67-3A3751B327B5}"/>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C1BD64A0-BB63-86B2-954F-81CDB4CE143F}"/>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2.2 Dữ liệu và luồng xử lý</a:t>
            </a:r>
          </a:p>
        </p:txBody>
      </p:sp>
      <p:sp>
        <p:nvSpPr>
          <p:cNvPr id="2" name="Rectangle 1">
            <a:extLst>
              <a:ext uri="{FF2B5EF4-FFF2-40B4-BE49-F238E27FC236}">
                <a16:creationId xmlns:a16="http://schemas.microsoft.com/office/drawing/2014/main" id="{5794D273-A494-12E5-CBB0-9738E4808036}"/>
              </a:ext>
            </a:extLst>
          </p:cNvPr>
          <p:cNvSpPr/>
          <p:nvPr/>
        </p:nvSpPr>
        <p:spPr>
          <a:xfrm>
            <a:off x="2010410" y="2217180"/>
            <a:ext cx="4008001" cy="23770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F5505D6-3484-E9CE-D630-CFB2A567D7D8}"/>
              </a:ext>
            </a:extLst>
          </p:cNvPr>
          <p:cNvSpPr txBox="1"/>
          <p:nvPr/>
        </p:nvSpPr>
        <p:spPr>
          <a:xfrm>
            <a:off x="2010409" y="2333813"/>
            <a:ext cx="4008002" cy="523220"/>
          </a:xfrm>
          <a:prstGeom prst="rect">
            <a:avLst/>
          </a:prstGeom>
          <a:noFill/>
        </p:spPr>
        <p:txBody>
          <a:bodyPr wrap="square" rtlCol="0">
            <a:spAutoFit/>
          </a:bodyPr>
          <a:lstStyle/>
          <a:p>
            <a:pPr algn="ctr"/>
            <a:r>
              <a:rPr lang="en-US" sz="2800" b="1"/>
              <a:t>Blender</a:t>
            </a:r>
          </a:p>
        </p:txBody>
      </p:sp>
      <p:sp>
        <p:nvSpPr>
          <p:cNvPr id="11" name="TextBox 10">
            <a:extLst>
              <a:ext uri="{FF2B5EF4-FFF2-40B4-BE49-F238E27FC236}">
                <a16:creationId xmlns:a16="http://schemas.microsoft.com/office/drawing/2014/main" id="{A0105C96-FC95-3AED-DF47-BADD3578A52F}"/>
              </a:ext>
            </a:extLst>
          </p:cNvPr>
          <p:cNvSpPr txBox="1"/>
          <p:nvPr/>
        </p:nvSpPr>
        <p:spPr>
          <a:xfrm>
            <a:off x="2010411" y="2903238"/>
            <a:ext cx="4008000" cy="1384995"/>
          </a:xfrm>
          <a:prstGeom prst="rect">
            <a:avLst/>
          </a:prstGeom>
          <a:noFill/>
        </p:spPr>
        <p:txBody>
          <a:bodyPr wrap="square" rtlCol="0">
            <a:spAutoFit/>
          </a:bodyPr>
          <a:lstStyle/>
          <a:p>
            <a:pPr algn="ctr"/>
            <a:r>
              <a:rPr lang="en-US" sz="2800">
                <a:latin typeface="Arial" panose="020B0604020202020204" pitchFamily="34" charset="0"/>
                <a:cs typeface="Arial" panose="020B0604020202020204" pitchFamily="34" charset="0"/>
              </a:rPr>
              <a:t>render stereo, khoảng cách hai mắt 0,065 m, độ sâu 0–20 m → 1–0</a:t>
            </a:r>
            <a:endParaRPr lang="en-US" sz="2800" b="1"/>
          </a:p>
        </p:txBody>
      </p:sp>
      <p:sp>
        <p:nvSpPr>
          <p:cNvPr id="14" name="Rectangle 13">
            <a:extLst>
              <a:ext uri="{FF2B5EF4-FFF2-40B4-BE49-F238E27FC236}">
                <a16:creationId xmlns:a16="http://schemas.microsoft.com/office/drawing/2014/main" id="{BBDBD0C8-38C4-3974-B418-AE7EADE5627E}"/>
              </a:ext>
            </a:extLst>
          </p:cNvPr>
          <p:cNvSpPr/>
          <p:nvPr/>
        </p:nvSpPr>
        <p:spPr>
          <a:xfrm>
            <a:off x="7199451" y="2212710"/>
            <a:ext cx="2223572" cy="23770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64CCB02-9EBE-AB6D-C753-2975FC49B1F2}"/>
              </a:ext>
            </a:extLst>
          </p:cNvPr>
          <p:cNvSpPr txBox="1"/>
          <p:nvPr/>
        </p:nvSpPr>
        <p:spPr>
          <a:xfrm>
            <a:off x="7199452" y="2309664"/>
            <a:ext cx="2223573" cy="523220"/>
          </a:xfrm>
          <a:prstGeom prst="rect">
            <a:avLst/>
          </a:prstGeom>
          <a:noFill/>
        </p:spPr>
        <p:txBody>
          <a:bodyPr wrap="square" rtlCol="0">
            <a:spAutoFit/>
          </a:bodyPr>
          <a:lstStyle/>
          <a:p>
            <a:pPr algn="ctr"/>
            <a:r>
              <a:rPr lang="en-US" sz="2800" b="1"/>
              <a:t>Unity</a:t>
            </a:r>
          </a:p>
        </p:txBody>
      </p:sp>
      <p:sp>
        <p:nvSpPr>
          <p:cNvPr id="16" name="TextBox 15">
            <a:extLst>
              <a:ext uri="{FF2B5EF4-FFF2-40B4-BE49-F238E27FC236}">
                <a16:creationId xmlns:a16="http://schemas.microsoft.com/office/drawing/2014/main" id="{FEFC84AB-44A7-9EAF-0E65-1368EE74A4C7}"/>
              </a:ext>
            </a:extLst>
          </p:cNvPr>
          <p:cNvSpPr txBox="1"/>
          <p:nvPr/>
        </p:nvSpPr>
        <p:spPr>
          <a:xfrm>
            <a:off x="7218501" y="3041394"/>
            <a:ext cx="2223572" cy="954107"/>
          </a:xfrm>
          <a:prstGeom prst="rect">
            <a:avLst/>
          </a:prstGeom>
          <a:noFill/>
        </p:spPr>
        <p:txBody>
          <a:bodyPr wrap="square" rtlCol="0">
            <a:spAutoFit/>
          </a:bodyPr>
          <a:lstStyle/>
          <a:p>
            <a:pPr algn="ctr"/>
            <a:r>
              <a:rPr lang="en-US" sz="2800">
                <a:latin typeface="Arial" panose="020B0604020202020204" pitchFamily="34" charset="0"/>
                <a:cs typeface="Arial" panose="020B0604020202020204" pitchFamily="34" charset="0"/>
              </a:rPr>
              <a:t>mesh cầu, shader</a:t>
            </a:r>
            <a:endParaRPr lang="en-US" sz="2800" b="1"/>
          </a:p>
        </p:txBody>
      </p:sp>
      <p:sp>
        <p:nvSpPr>
          <p:cNvPr id="20" name="Rectangle 19">
            <a:extLst>
              <a:ext uri="{FF2B5EF4-FFF2-40B4-BE49-F238E27FC236}">
                <a16:creationId xmlns:a16="http://schemas.microsoft.com/office/drawing/2014/main" id="{3A6B3017-5799-E785-2BF6-06E3EF95B16B}"/>
              </a:ext>
            </a:extLst>
          </p:cNvPr>
          <p:cNvSpPr/>
          <p:nvPr/>
        </p:nvSpPr>
        <p:spPr>
          <a:xfrm>
            <a:off x="11007291" y="2137221"/>
            <a:ext cx="2223572" cy="89279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139CCA2-BB60-AD4A-B970-7D1CC97C75B6}"/>
              </a:ext>
            </a:extLst>
          </p:cNvPr>
          <p:cNvSpPr txBox="1"/>
          <p:nvPr/>
        </p:nvSpPr>
        <p:spPr>
          <a:xfrm>
            <a:off x="11045391" y="2311266"/>
            <a:ext cx="2223573" cy="523220"/>
          </a:xfrm>
          <a:prstGeom prst="rect">
            <a:avLst/>
          </a:prstGeom>
          <a:noFill/>
        </p:spPr>
        <p:txBody>
          <a:bodyPr wrap="square" rtlCol="0">
            <a:spAutoFit/>
          </a:bodyPr>
          <a:lstStyle/>
          <a:p>
            <a:pPr algn="ctr"/>
            <a:r>
              <a:rPr lang="en-US" sz="2800" b="1"/>
              <a:t>Camera</a:t>
            </a:r>
          </a:p>
        </p:txBody>
      </p:sp>
      <p:sp>
        <p:nvSpPr>
          <p:cNvPr id="24" name="Rectangle 23">
            <a:extLst>
              <a:ext uri="{FF2B5EF4-FFF2-40B4-BE49-F238E27FC236}">
                <a16:creationId xmlns:a16="http://schemas.microsoft.com/office/drawing/2014/main" id="{83C01FFA-2A80-56C8-1F60-6F85E9CBA7C9}"/>
              </a:ext>
            </a:extLst>
          </p:cNvPr>
          <p:cNvSpPr/>
          <p:nvPr/>
        </p:nvSpPr>
        <p:spPr>
          <a:xfrm>
            <a:off x="11007292" y="3744630"/>
            <a:ext cx="2223572" cy="89279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5DF0598-14DD-03EF-7E72-ACA49912A22C}"/>
              </a:ext>
            </a:extLst>
          </p:cNvPr>
          <p:cNvSpPr txBox="1"/>
          <p:nvPr/>
        </p:nvSpPr>
        <p:spPr>
          <a:xfrm>
            <a:off x="10915729" y="3963213"/>
            <a:ext cx="2223573" cy="523220"/>
          </a:xfrm>
          <a:prstGeom prst="rect">
            <a:avLst/>
          </a:prstGeom>
          <a:noFill/>
        </p:spPr>
        <p:txBody>
          <a:bodyPr wrap="square" rtlCol="0">
            <a:spAutoFit/>
          </a:bodyPr>
          <a:lstStyle/>
          <a:p>
            <a:pPr algn="ctr"/>
            <a:r>
              <a:rPr lang="en-US" sz="2800" b="1"/>
              <a:t>Màn hình</a:t>
            </a:r>
          </a:p>
        </p:txBody>
      </p:sp>
      <p:cxnSp>
        <p:nvCxnSpPr>
          <p:cNvPr id="31" name="Straight Arrow Connector 30">
            <a:extLst>
              <a:ext uri="{FF2B5EF4-FFF2-40B4-BE49-F238E27FC236}">
                <a16:creationId xmlns:a16="http://schemas.microsoft.com/office/drawing/2014/main" id="{F7623B0F-D288-5FBA-53D6-56B784B38F65}"/>
              </a:ext>
            </a:extLst>
          </p:cNvPr>
          <p:cNvCxnSpPr>
            <a:stCxn id="2" idx="3"/>
            <a:endCxn id="14" idx="1"/>
          </p:cNvCxnSpPr>
          <p:nvPr/>
        </p:nvCxnSpPr>
        <p:spPr>
          <a:xfrm flipV="1">
            <a:off x="6018411" y="3401238"/>
            <a:ext cx="1181040" cy="447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BE664D3F-2484-3085-BCA8-428F5DA61345}"/>
              </a:ext>
            </a:extLst>
          </p:cNvPr>
          <p:cNvCxnSpPr>
            <a:cxnSpLocks/>
            <a:stCxn id="21" idx="3"/>
            <a:endCxn id="24" idx="3"/>
          </p:cNvCxnSpPr>
          <p:nvPr/>
        </p:nvCxnSpPr>
        <p:spPr>
          <a:xfrm flipH="1">
            <a:off x="13230864" y="2572876"/>
            <a:ext cx="38100" cy="1618151"/>
          </a:xfrm>
          <a:prstGeom prst="bentConnector3">
            <a:avLst>
              <a:gd name="adj1" fmla="val -168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05B5E27-F3DF-4459-7C7D-75FD917C0F98}"/>
              </a:ext>
            </a:extLst>
          </p:cNvPr>
          <p:cNvCxnSpPr>
            <a:cxnSpLocks/>
            <a:stCxn id="14" idx="3"/>
          </p:cNvCxnSpPr>
          <p:nvPr/>
        </p:nvCxnSpPr>
        <p:spPr>
          <a:xfrm flipV="1">
            <a:off x="9423023" y="2508352"/>
            <a:ext cx="1660468" cy="89288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5" name="Picture 54" descr="Tập tin:Blender logo no text.svg – Wikipedia tiếng Việt">
            <a:extLst>
              <a:ext uri="{FF2B5EF4-FFF2-40B4-BE49-F238E27FC236}">
                <a16:creationId xmlns:a16="http://schemas.microsoft.com/office/drawing/2014/main" id="{A89ABB5D-6EE8-5C34-8E97-5251222CD7E4}"/>
              </a:ext>
            </a:extLst>
          </p:cNvPr>
          <p:cNvPicPr>
            <a:picLocks noChangeAspect="1"/>
          </p:cNvPicPr>
          <p:nvPr/>
        </p:nvPicPr>
        <p:blipFill>
          <a:blip r:embed="rId4"/>
          <a:stretch>
            <a:fillRect/>
          </a:stretch>
        </p:blipFill>
        <p:spPr>
          <a:xfrm>
            <a:off x="2463219" y="6586560"/>
            <a:ext cx="1693752" cy="1384995"/>
          </a:xfrm>
          <a:prstGeom prst="rect">
            <a:avLst/>
          </a:prstGeom>
        </p:spPr>
      </p:pic>
      <p:pic>
        <p:nvPicPr>
          <p:cNvPr id="56" name="Picture 55" descr="Unity Logo, symbol, meaning, history, PNG, brand">
            <a:extLst>
              <a:ext uri="{FF2B5EF4-FFF2-40B4-BE49-F238E27FC236}">
                <a16:creationId xmlns:a16="http://schemas.microsoft.com/office/drawing/2014/main" id="{676E4B35-AD7D-4EF2-C9DF-9BABA656D943}"/>
              </a:ext>
            </a:extLst>
          </p:cNvPr>
          <p:cNvPicPr>
            <a:picLocks noChangeAspect="1"/>
          </p:cNvPicPr>
          <p:nvPr/>
        </p:nvPicPr>
        <p:blipFill>
          <a:blip r:embed="rId5"/>
          <a:srcRect l="23750" r="23333"/>
          <a:stretch>
            <a:fillRect/>
          </a:stretch>
        </p:blipFill>
        <p:spPr>
          <a:xfrm>
            <a:off x="4824063" y="6510460"/>
            <a:ext cx="1490585" cy="1584480"/>
          </a:xfrm>
          <a:prstGeom prst="rect">
            <a:avLst/>
          </a:prstGeom>
        </p:spPr>
      </p:pic>
      <p:pic>
        <p:nvPicPr>
          <p:cNvPr id="57" name="Picture 56" descr="Tập tin:Visual Studio Icon 2022.svg – Wikipedia tiếng Việt">
            <a:extLst>
              <a:ext uri="{FF2B5EF4-FFF2-40B4-BE49-F238E27FC236}">
                <a16:creationId xmlns:a16="http://schemas.microsoft.com/office/drawing/2014/main" id="{BA7C37D9-9FD6-A429-1F4F-614B091A19F6}"/>
              </a:ext>
            </a:extLst>
          </p:cNvPr>
          <p:cNvPicPr>
            <a:picLocks noChangeAspect="1"/>
          </p:cNvPicPr>
          <p:nvPr/>
        </p:nvPicPr>
        <p:blipFill>
          <a:blip r:embed="rId6"/>
          <a:stretch>
            <a:fillRect/>
          </a:stretch>
        </p:blipFill>
        <p:spPr>
          <a:xfrm>
            <a:off x="6981740" y="6414476"/>
            <a:ext cx="1490585" cy="1490585"/>
          </a:xfrm>
          <a:prstGeom prst="rect">
            <a:avLst/>
          </a:prstGeom>
        </p:spPr>
      </p:pic>
      <p:pic>
        <p:nvPicPr>
          <p:cNvPr id="58" name="Picture 57" descr="Start git-bash - Visual Studio Marketplace">
            <a:extLst>
              <a:ext uri="{FF2B5EF4-FFF2-40B4-BE49-F238E27FC236}">
                <a16:creationId xmlns:a16="http://schemas.microsoft.com/office/drawing/2014/main" id="{386D227D-DFCF-9394-4CBF-53D4CE1F4BD7}"/>
              </a:ext>
            </a:extLst>
          </p:cNvPr>
          <p:cNvPicPr>
            <a:picLocks noChangeAspect="1"/>
          </p:cNvPicPr>
          <p:nvPr/>
        </p:nvPicPr>
        <p:blipFill>
          <a:blip r:embed="rId7"/>
          <a:stretch>
            <a:fillRect/>
          </a:stretch>
        </p:blipFill>
        <p:spPr>
          <a:xfrm>
            <a:off x="9139417" y="6490766"/>
            <a:ext cx="1330098" cy="1330098"/>
          </a:xfrm>
          <a:prstGeom prst="rect">
            <a:avLst/>
          </a:prstGeom>
        </p:spPr>
      </p:pic>
      <p:pic>
        <p:nvPicPr>
          <p:cNvPr id="59" name="Picture 58" descr="Tập tin:GitHub Invertocat Logo.svg – Wikipedia tiếng Việt">
            <a:extLst>
              <a:ext uri="{FF2B5EF4-FFF2-40B4-BE49-F238E27FC236}">
                <a16:creationId xmlns:a16="http://schemas.microsoft.com/office/drawing/2014/main" id="{E0DD238E-5710-E2D5-2F2C-C2705C01E181}"/>
              </a:ext>
            </a:extLst>
          </p:cNvPr>
          <p:cNvPicPr>
            <a:picLocks noChangeAspect="1"/>
          </p:cNvPicPr>
          <p:nvPr/>
        </p:nvPicPr>
        <p:blipFill>
          <a:blip r:embed="rId8"/>
          <a:stretch>
            <a:fillRect/>
          </a:stretch>
        </p:blipFill>
        <p:spPr>
          <a:xfrm>
            <a:off x="11211966" y="6310976"/>
            <a:ext cx="1581524" cy="1581524"/>
          </a:xfrm>
          <a:prstGeom prst="rect">
            <a:avLst/>
          </a:prstGeom>
        </p:spPr>
      </p:pic>
    </p:spTree>
    <p:extLst>
      <p:ext uri="{BB962C8B-B14F-4D97-AF65-F5344CB8AC3E}">
        <p14:creationId xmlns:p14="http://schemas.microsoft.com/office/powerpoint/2010/main" val="37626167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AE9F9-22E9-AAF1-171F-5A1BAD1D0C4E}"/>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BF0FDC8D-F6F7-F50A-F048-E7DA5D66FFFE}"/>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D62A158B-4DB6-B1E6-5074-ACAE1CE2AA41}"/>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49804942-D5DA-8727-AF0C-E2A11514AED5}"/>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ECA5E6BD-39F8-F17F-10DE-8F987ECF0B18}"/>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B77AB3EA-4A8C-3EA2-C969-817C9BFF14CD}"/>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pic>
        <p:nvPicPr>
          <p:cNvPr id="7" name="Picture 6">
            <a:extLst>
              <a:ext uri="{FF2B5EF4-FFF2-40B4-BE49-F238E27FC236}">
                <a16:creationId xmlns:a16="http://schemas.microsoft.com/office/drawing/2014/main" id="{A6F7BF01-4924-7426-0B4A-5211BA2026E1}"/>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A88503F4-72E4-E658-9658-D17F3A83DC5C}"/>
              </a:ext>
            </a:extLst>
          </p:cNvPr>
          <p:cNvSpPr txBox="1"/>
          <p:nvPr/>
        </p:nvSpPr>
        <p:spPr>
          <a:xfrm>
            <a:off x="511496" y="878736"/>
            <a:ext cx="13607407" cy="584775"/>
          </a:xfrm>
          <a:prstGeom prst="rect">
            <a:avLst/>
          </a:prstGeom>
          <a:noFill/>
        </p:spPr>
        <p:txBody>
          <a:bodyPr wrap="square" rtlCol="0">
            <a:spAutoFit/>
          </a:bodyPr>
          <a:lstStyle/>
          <a:p>
            <a:r>
              <a:rPr lang="en-US" sz="3200" b="1">
                <a:solidFill>
                  <a:srgbClr val="00B050"/>
                </a:solidFill>
                <a:latin typeface="Arial" panose="020B0604020202020204" pitchFamily="34" charset="0"/>
                <a:cs typeface="Arial" panose="020B0604020202020204" pitchFamily="34" charset="0"/>
              </a:rPr>
              <a:t>Kế hoạch triển khai:</a:t>
            </a:r>
          </a:p>
        </p:txBody>
      </p:sp>
      <p:sp>
        <p:nvSpPr>
          <p:cNvPr id="401" name="Timeline"/>
          <p:cNvSpPr/>
          <p:nvPr/>
        </p:nvSpPr>
        <p:spPr>
          <a:xfrm>
            <a:off x="681228" y="1951264"/>
            <a:ext cx="45720" cy="5287191"/>
          </a:xfrm>
          <a:prstGeom prst="rect">
            <a:avLst/>
          </a:prstGeom>
          <a:solidFill>
            <a:srgbClr val="C9D3CD"/>
          </a:solidFill>
          <a:ln>
            <a:noFill/>
          </a:ln>
        </p:spPr>
        <p:txBody>
          <a:bodyPr wrap="square" lIns="182880" tIns="109728" rIns="182880" bIns="109728" rtlCol="0" anchor="ctr">
            <a:noAutofit/>
          </a:bodyPr>
          <a:lstStyle/>
          <a:p>
            <a:endParaRPr lang="en-US"/>
          </a:p>
        </p:txBody>
      </p:sp>
      <p:sp>
        <p:nvSpPr>
          <p:cNvPr id="402" name="Card"/>
          <p:cNvSpPr/>
          <p:nvPr/>
        </p:nvSpPr>
        <p:spPr>
          <a:xfrm>
            <a:off x="1371600" y="1600200"/>
            <a:ext cx="12801600" cy="702129"/>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82296" rIns="274320" bIns="82296" rtlCol="0" anchor="ctr">
            <a:noAutofit/>
          </a:bodyPr>
          <a:lstStyle/>
          <a:p>
            <a:pPr marL="0" indent="0" algn="l">
              <a:lnSpc>
                <a:spcPct val="100000"/>
              </a:lnSpc>
              <a:spcBef>
                <a:spcPts val="0"/>
              </a:spcBef>
              <a:buNone/>
            </a:pPr>
            <a:r>
              <a:rPr lang="en-US" sz="2800" b="1">
                <a:solidFill>
                  <a:srgbClr val="0B7A3E"/>
                </a:solidFill>
                <a:latin typeface="Arial" panose="020B0604020202020204" pitchFamily="34" charset="0"/>
                <a:cs typeface="Arial" panose="020B0604020202020204" pitchFamily="34" charset="0"/>
              </a:rPr>
              <a:t>Chặng 0: </a:t>
            </a:r>
            <a:r>
              <a:rPr lang="en-US" sz="2800">
                <a:latin typeface="Arial" panose="020B0604020202020204" pitchFamily="34" charset="0"/>
                <a:cs typeface="Arial" panose="020B0604020202020204" pitchFamily="34" charset="0"/>
              </a:rPr>
              <a:t>Thiết lập môi trường Unity URP, Blender, VisualStudio, Github. </a:t>
            </a:r>
          </a:p>
        </p:txBody>
      </p:sp>
      <p:sp>
        <p:nvSpPr>
          <p:cNvPr id="403" name="Dot"/>
          <p:cNvSpPr/>
          <p:nvPr/>
        </p:nvSpPr>
        <p:spPr>
          <a:xfrm>
            <a:off x="502920" y="1750096"/>
            <a:ext cx="402336" cy="402336"/>
          </a:xfrm>
          <a:prstGeom prst="ellipse">
            <a:avLst/>
          </a:prstGeom>
          <a:solidFill>
            <a:srgbClr val="00B050"/>
          </a:solidFill>
          <a:ln w="38100">
            <a:solidFill>
              <a:srgbClr val="FFFFFF"/>
            </a:solidFill>
          </a:ln>
        </p:spPr>
        <p:txBody>
          <a:bodyPr wrap="square" lIns="182880" tIns="109728" rIns="182880" bIns="109728" rtlCol="0" anchor="ctr">
            <a:noAutofit/>
          </a:bodyPr>
          <a:lstStyle/>
          <a:p>
            <a:endParaRPr lang="en-US"/>
          </a:p>
        </p:txBody>
      </p:sp>
      <p:sp>
        <p:nvSpPr>
          <p:cNvPr id="404" name="Card"/>
          <p:cNvSpPr/>
          <p:nvPr/>
        </p:nvSpPr>
        <p:spPr>
          <a:xfrm>
            <a:off x="1371600" y="2412057"/>
            <a:ext cx="12801600" cy="1118181"/>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82296" rIns="274320" bIns="82296" rtlCol="0" anchor="ctr">
            <a:noAutofit/>
          </a:bodyPr>
          <a:lstStyle/>
          <a:p>
            <a:pPr marL="0" indent="0" algn="l">
              <a:lnSpc>
                <a:spcPct val="100000"/>
              </a:lnSpc>
              <a:spcBef>
                <a:spcPts val="0"/>
              </a:spcBef>
              <a:buNone/>
            </a:pPr>
            <a:r>
              <a:rPr lang="en-US" sz="2800" b="1">
                <a:solidFill>
                  <a:srgbClr val="0B7A3E"/>
                </a:solidFill>
                <a:cs typeface="Arial" panose="020B0604020202020204" pitchFamily="34" charset="0"/>
              </a:rPr>
              <a:t>Chặng 1: </a:t>
            </a:r>
            <a:r>
              <a:rPr lang="en-US" sz="2800">
                <a:cs typeface="Arial" panose="020B0604020202020204" pitchFamily="34" charset="0"/>
              </a:rPr>
              <a:t>Chuẩn bị dữ liệu đầu vào từ Blender (cặp ảnh panorama trái/phải, depth map). </a:t>
            </a:r>
          </a:p>
        </p:txBody>
      </p:sp>
      <p:sp>
        <p:nvSpPr>
          <p:cNvPr id="405" name="Dot"/>
          <p:cNvSpPr/>
          <p:nvPr/>
        </p:nvSpPr>
        <p:spPr>
          <a:xfrm>
            <a:off x="502920" y="2769979"/>
            <a:ext cx="402336" cy="402336"/>
          </a:xfrm>
          <a:prstGeom prst="ellipse">
            <a:avLst/>
          </a:prstGeom>
          <a:solidFill>
            <a:srgbClr val="00B050"/>
          </a:solidFill>
          <a:ln w="38100">
            <a:solidFill>
              <a:srgbClr val="FFFFFF"/>
            </a:solidFill>
          </a:ln>
        </p:spPr>
        <p:txBody>
          <a:bodyPr wrap="square" lIns="182880" tIns="109728" rIns="182880" bIns="109728" rtlCol="0" anchor="ctr">
            <a:noAutofit/>
          </a:bodyPr>
          <a:lstStyle/>
          <a:p>
            <a:endParaRPr lang="en-US"/>
          </a:p>
        </p:txBody>
      </p:sp>
      <p:sp>
        <p:nvSpPr>
          <p:cNvPr id="406" name="Card"/>
          <p:cNvSpPr/>
          <p:nvPr/>
        </p:nvSpPr>
        <p:spPr>
          <a:xfrm>
            <a:off x="1371600" y="3639965"/>
            <a:ext cx="12801600" cy="702129"/>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82296" rIns="274320" bIns="82296" rtlCol="0" anchor="ctr">
            <a:noAutofit/>
          </a:bodyPr>
          <a:lstStyle/>
          <a:p>
            <a:pPr marL="0" indent="0" algn="l">
              <a:lnSpc>
                <a:spcPct val="100000"/>
              </a:lnSpc>
              <a:spcBef>
                <a:spcPts val="0"/>
              </a:spcBef>
              <a:buNone/>
            </a:pPr>
            <a:r>
              <a:rPr lang="en-US" sz="2800" b="1">
                <a:solidFill>
                  <a:srgbClr val="0B7A3E"/>
                </a:solidFill>
                <a:cs typeface="Arial" panose="020B0604020202020204" pitchFamily="34" charset="0"/>
              </a:rPr>
              <a:t>Chặng 2: </a:t>
            </a:r>
            <a:r>
              <a:rPr lang="vi-VN" sz="2800">
                <a:cs typeface="Arial" panose="020B0604020202020204" pitchFamily="34" charset="0"/>
              </a:rPr>
              <a:t>Trình xem 360° cơ bản (mặt cầu, điều khiển nhìn quanh)</a:t>
            </a:r>
            <a:endParaRPr lang="en-US" sz="2800">
              <a:cs typeface="Arial" panose="020B0604020202020204" pitchFamily="34" charset="0"/>
            </a:endParaRPr>
          </a:p>
        </p:txBody>
      </p:sp>
      <p:sp>
        <p:nvSpPr>
          <p:cNvPr id="407" name="Dot"/>
          <p:cNvSpPr/>
          <p:nvPr/>
        </p:nvSpPr>
        <p:spPr>
          <a:xfrm>
            <a:off x="502920" y="3789861"/>
            <a:ext cx="402336" cy="402336"/>
          </a:xfrm>
          <a:prstGeom prst="ellipse">
            <a:avLst/>
          </a:prstGeom>
          <a:solidFill>
            <a:srgbClr val="00B050"/>
          </a:solidFill>
          <a:ln w="38100">
            <a:solidFill>
              <a:srgbClr val="FFFFFF"/>
            </a:solidFill>
          </a:ln>
        </p:spPr>
        <p:txBody>
          <a:bodyPr wrap="square" lIns="182880" tIns="109728" rIns="182880" bIns="109728" rtlCol="0" anchor="ctr">
            <a:noAutofit/>
          </a:bodyPr>
          <a:lstStyle/>
          <a:p>
            <a:endParaRPr lang="en-US"/>
          </a:p>
        </p:txBody>
      </p:sp>
      <p:sp>
        <p:nvSpPr>
          <p:cNvPr id="408" name="Card"/>
          <p:cNvSpPr/>
          <p:nvPr/>
        </p:nvSpPr>
        <p:spPr>
          <a:xfrm>
            <a:off x="1371600" y="4451822"/>
            <a:ext cx="12801600" cy="702129"/>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82296" rIns="274320" bIns="82296" rtlCol="0" anchor="ctr">
            <a:noAutofit/>
          </a:bodyPr>
          <a:lstStyle/>
          <a:p>
            <a:pPr marL="0" indent="0" algn="l">
              <a:lnSpc>
                <a:spcPct val="100000"/>
              </a:lnSpc>
              <a:spcBef>
                <a:spcPts val="0"/>
              </a:spcBef>
              <a:buNone/>
            </a:pPr>
            <a:r>
              <a:rPr lang="en-US" sz="2800" b="1">
                <a:solidFill>
                  <a:srgbClr val="0B7A3E"/>
                </a:solidFill>
                <a:cs typeface="Arial" panose="020B0604020202020204" pitchFamily="34" charset="0"/>
              </a:rPr>
              <a:t>Chặng 3: </a:t>
            </a:r>
            <a:r>
              <a:rPr lang="en-US" sz="2800">
                <a:cs typeface="Arial" panose="020B0604020202020204" pitchFamily="34" charset="0"/>
              </a:rPr>
              <a:t>Triển khai </a:t>
            </a:r>
            <a:r>
              <a:rPr lang="it-IT" sz="2800">
                <a:cs typeface="Arial" panose="020B0604020202020204" pitchFamily="34" charset="0"/>
              </a:rPr>
              <a:t>Stereo (hai camera, chia viewport)</a:t>
            </a:r>
          </a:p>
        </p:txBody>
      </p:sp>
      <p:sp>
        <p:nvSpPr>
          <p:cNvPr id="409" name="Dot"/>
          <p:cNvSpPr/>
          <p:nvPr/>
        </p:nvSpPr>
        <p:spPr>
          <a:xfrm>
            <a:off x="502920" y="4601718"/>
            <a:ext cx="402336" cy="402336"/>
          </a:xfrm>
          <a:prstGeom prst="ellipse">
            <a:avLst/>
          </a:prstGeom>
          <a:solidFill>
            <a:srgbClr val="00B050"/>
          </a:solidFill>
          <a:ln w="38100">
            <a:solidFill>
              <a:srgbClr val="FFFFFF"/>
            </a:solidFill>
          </a:ln>
        </p:spPr>
        <p:txBody>
          <a:bodyPr wrap="square" lIns="182880" tIns="109728" rIns="182880" bIns="109728" rtlCol="0" anchor="ctr">
            <a:noAutofit/>
          </a:bodyPr>
          <a:lstStyle/>
          <a:p>
            <a:endParaRPr lang="en-US"/>
          </a:p>
        </p:txBody>
      </p:sp>
      <p:sp>
        <p:nvSpPr>
          <p:cNvPr id="410" name="Card"/>
          <p:cNvSpPr/>
          <p:nvPr/>
        </p:nvSpPr>
        <p:spPr>
          <a:xfrm>
            <a:off x="1371600" y="5263678"/>
            <a:ext cx="12801600" cy="702129"/>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82296" rIns="274320" bIns="82296" rtlCol="0" anchor="ctr">
            <a:noAutofit/>
          </a:bodyPr>
          <a:lstStyle/>
          <a:p>
            <a:pPr marL="0" indent="0" algn="l">
              <a:lnSpc>
                <a:spcPct val="100000"/>
              </a:lnSpc>
              <a:spcBef>
                <a:spcPts val="0"/>
              </a:spcBef>
              <a:buNone/>
            </a:pPr>
            <a:r>
              <a:rPr lang="it-IT" sz="2800" b="1">
                <a:solidFill>
                  <a:srgbClr val="0B7A3E"/>
                </a:solidFill>
                <a:cs typeface="Arial" panose="020B0604020202020204" pitchFamily="34" charset="0"/>
              </a:rPr>
              <a:t>Chặng 4: </a:t>
            </a:r>
            <a:r>
              <a:rPr lang="en-US" sz="2800">
                <a:cs typeface="Arial" panose="020B0604020202020204" pitchFamily="34" charset="0"/>
              </a:rPr>
              <a:t>Shader displacement theo độ sâu (Shader Graph)</a:t>
            </a:r>
          </a:p>
        </p:txBody>
      </p:sp>
      <p:sp>
        <p:nvSpPr>
          <p:cNvPr id="411" name="Dot"/>
          <p:cNvSpPr/>
          <p:nvPr/>
        </p:nvSpPr>
        <p:spPr>
          <a:xfrm>
            <a:off x="502920" y="5413575"/>
            <a:ext cx="402336" cy="402336"/>
          </a:xfrm>
          <a:prstGeom prst="ellipse">
            <a:avLst/>
          </a:prstGeom>
          <a:solidFill>
            <a:srgbClr val="00B050"/>
          </a:solidFill>
          <a:ln w="38100">
            <a:solidFill>
              <a:srgbClr val="FFFFFF"/>
            </a:solidFill>
          </a:ln>
        </p:spPr>
        <p:txBody>
          <a:bodyPr wrap="square" lIns="182880" tIns="109728" rIns="182880" bIns="109728" rtlCol="0" anchor="ctr">
            <a:noAutofit/>
          </a:bodyPr>
          <a:lstStyle/>
          <a:p>
            <a:endParaRPr lang="en-US"/>
          </a:p>
        </p:txBody>
      </p:sp>
      <p:sp>
        <p:nvSpPr>
          <p:cNvPr id="412" name="Card"/>
          <p:cNvSpPr/>
          <p:nvPr/>
        </p:nvSpPr>
        <p:spPr>
          <a:xfrm>
            <a:off x="1371600" y="6075535"/>
            <a:ext cx="12801600" cy="702129"/>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82296" rIns="274320" bIns="82296" rtlCol="0" anchor="ctr">
            <a:noAutofit/>
          </a:bodyPr>
          <a:lstStyle/>
          <a:p>
            <a:pPr marL="0" indent="0" algn="l">
              <a:lnSpc>
                <a:spcPct val="100000"/>
              </a:lnSpc>
              <a:spcBef>
                <a:spcPts val="0"/>
              </a:spcBef>
              <a:buNone/>
            </a:pPr>
            <a:r>
              <a:rPr lang="en-US" sz="2800" b="1">
                <a:solidFill>
                  <a:srgbClr val="0B7A3E"/>
                </a:solidFill>
                <a:cs typeface="Arial" panose="020B0604020202020204" pitchFamily="34" charset="0"/>
              </a:rPr>
              <a:t>Chặng 5: </a:t>
            </a:r>
            <a:r>
              <a:rPr lang="en-US" sz="2800">
                <a:cs typeface="Arial" panose="020B0604020202020204" pitchFamily="34" charset="0"/>
              </a:rPr>
              <a:t>Tịnh tiến đầu, giao diện cài đặt UI, đo FPS. </a:t>
            </a:r>
          </a:p>
        </p:txBody>
      </p:sp>
      <p:sp>
        <p:nvSpPr>
          <p:cNvPr id="413" name="Dot"/>
          <p:cNvSpPr/>
          <p:nvPr/>
        </p:nvSpPr>
        <p:spPr>
          <a:xfrm>
            <a:off x="502920" y="6225431"/>
            <a:ext cx="402336" cy="402336"/>
          </a:xfrm>
          <a:prstGeom prst="ellipse">
            <a:avLst/>
          </a:prstGeom>
          <a:solidFill>
            <a:srgbClr val="00B050"/>
          </a:solidFill>
          <a:ln w="38100">
            <a:solidFill>
              <a:srgbClr val="FFFFFF"/>
            </a:solidFill>
          </a:ln>
        </p:spPr>
        <p:txBody>
          <a:bodyPr wrap="square" lIns="182880" tIns="109728" rIns="182880" bIns="109728" rtlCol="0" anchor="ctr">
            <a:noAutofit/>
          </a:bodyPr>
          <a:lstStyle/>
          <a:p>
            <a:endParaRPr lang="en-US"/>
          </a:p>
        </p:txBody>
      </p:sp>
      <p:sp>
        <p:nvSpPr>
          <p:cNvPr id="414" name="Card"/>
          <p:cNvSpPr/>
          <p:nvPr/>
        </p:nvSpPr>
        <p:spPr>
          <a:xfrm>
            <a:off x="1371600" y="6887391"/>
            <a:ext cx="12801600" cy="702129"/>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82296" rIns="274320" bIns="82296" rtlCol="0" anchor="ctr">
            <a:noAutofit/>
          </a:bodyPr>
          <a:lstStyle/>
          <a:p>
            <a:pPr marL="0" indent="0" algn="l">
              <a:lnSpc>
                <a:spcPct val="100000"/>
              </a:lnSpc>
              <a:spcBef>
                <a:spcPts val="0"/>
              </a:spcBef>
              <a:buNone/>
            </a:pPr>
            <a:r>
              <a:rPr lang="en-US" sz="2800" b="1">
                <a:solidFill>
                  <a:srgbClr val="0B7A3E"/>
                </a:solidFill>
                <a:cs typeface="Arial" panose="020B0604020202020204" pitchFamily="34" charset="0"/>
              </a:rPr>
              <a:t>Chặng 6: </a:t>
            </a:r>
            <a:r>
              <a:rPr lang="en-US" sz="2800">
                <a:cs typeface="Arial" panose="020B0604020202020204" pitchFamily="34" charset="0"/>
              </a:rPr>
              <a:t>Hoàn tất, đóng gói và làm báo cáo</a:t>
            </a:r>
            <a:endParaRPr lang="vi-VN" sz="2800">
              <a:cs typeface="Arial" panose="020B0604020202020204" pitchFamily="34" charset="0"/>
            </a:endParaRPr>
          </a:p>
        </p:txBody>
      </p:sp>
      <p:sp>
        <p:nvSpPr>
          <p:cNvPr id="415" name="Dot"/>
          <p:cNvSpPr/>
          <p:nvPr/>
        </p:nvSpPr>
        <p:spPr>
          <a:xfrm>
            <a:off x="502920" y="7037288"/>
            <a:ext cx="402336" cy="402336"/>
          </a:xfrm>
          <a:prstGeom prst="ellipse">
            <a:avLst/>
          </a:prstGeom>
          <a:solidFill>
            <a:srgbClr val="00B050"/>
          </a:solidFill>
          <a:ln w="38100">
            <a:solidFill>
              <a:srgbClr val="FFFFFF"/>
            </a:solidFill>
          </a:ln>
        </p:spPr>
        <p:txBody>
          <a:bodyPr wrap="square" lIns="182880" tIns="109728" rIns="182880" bIns="109728" rtlCol="0" anchor="ctr">
            <a:noAutofit/>
          </a:bodyPr>
          <a:lstStyle/>
          <a:p>
            <a:endParaRPr lang="en-US"/>
          </a:p>
        </p:txBody>
      </p:sp>
    </p:spTree>
    <p:extLst>
      <p:ext uri="{BB962C8B-B14F-4D97-AF65-F5344CB8AC3E}">
        <p14:creationId xmlns:p14="http://schemas.microsoft.com/office/powerpoint/2010/main" val="386681503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A9881-6E04-B2C0-C516-56EC9CA1564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FB912FA-556A-906B-77ED-98713C4182DB}"/>
              </a:ext>
            </a:extLst>
          </p:cNvPr>
          <p:cNvPicPr>
            <a:picLocks noChangeAspect="1"/>
          </p:cNvPicPr>
          <p:nvPr/>
        </p:nvPicPr>
        <p:blipFill>
          <a:blip r:embed="rId3"/>
          <a:stretch>
            <a:fillRect/>
          </a:stretch>
        </p:blipFill>
        <p:spPr>
          <a:xfrm>
            <a:off x="887301" y="1012371"/>
            <a:ext cx="12855797" cy="4602479"/>
          </a:xfrm>
          <a:prstGeom prst="rect">
            <a:avLst/>
          </a:prstGeom>
        </p:spPr>
      </p:pic>
      <p:sp>
        <p:nvSpPr>
          <p:cNvPr id="40" name="Shape 3">
            <a:extLst>
              <a:ext uri="{FF2B5EF4-FFF2-40B4-BE49-F238E27FC236}">
                <a16:creationId xmlns:a16="http://schemas.microsoft.com/office/drawing/2014/main" id="{49337BC4-4A5C-A9A3-DFB6-DE28F3FC927E}"/>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AB43BAE1-0F9E-6F79-6DC7-98B7DEB09345}"/>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C45F2C8A-CEB2-4B90-1DC2-0ABEA2ED8BD2}"/>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0A3DE6FE-B521-3FEA-277E-B880529D56EB}"/>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543ACEDC-5176-9E02-04CD-6BB12D685CFA}"/>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sp>
        <p:nvSpPr>
          <p:cNvPr id="4" name="TextBox 3">
            <a:extLst>
              <a:ext uri="{FF2B5EF4-FFF2-40B4-BE49-F238E27FC236}">
                <a16:creationId xmlns:a16="http://schemas.microsoft.com/office/drawing/2014/main" id="{31C6BD9B-EA02-0947-D20F-9680ABBC0A21}"/>
              </a:ext>
            </a:extLst>
          </p:cNvPr>
          <p:cNvSpPr txBox="1"/>
          <p:nvPr/>
        </p:nvSpPr>
        <p:spPr>
          <a:xfrm>
            <a:off x="511496" y="5870620"/>
            <a:ext cx="14023864" cy="1868397"/>
          </a:xfrm>
          <a:prstGeom prst="rect">
            <a:avLst/>
          </a:prstGeom>
          <a:noFill/>
        </p:spPr>
        <p:txBody>
          <a:bodyPr wrap="square" rtlCol="0">
            <a:spAutoFit/>
          </a:bodyPr>
          <a:lstStyle/>
          <a:p>
            <a:pPr marL="457200" indent="-457200" algn="just">
              <a:lnSpc>
                <a:spcPct val="130000"/>
              </a:lnSpc>
              <a:spcBef>
                <a:spcPts val="600"/>
              </a:spcBef>
              <a:buFont typeface="Arial" panose="020B0604020202020204" pitchFamily="34" charset="0"/>
              <a:buChar char="•"/>
            </a:pPr>
            <a:r>
              <a:rPr lang="vi-VN" sz="2800">
                <a:latin typeface="Arial" panose="020B0604020202020204" pitchFamily="34" charset="0"/>
                <a:cs typeface="Arial" panose="020B0604020202020204" pitchFamily="34" charset="0"/>
              </a:rPr>
              <a:t>Dùng UV của đỉnh để biết đỉnh này ứng với điểm nào trên ảnh màu và ảnh độ sâu.</a:t>
            </a:r>
          </a:p>
          <a:p>
            <a:pPr marL="457200" indent="-457200" algn="just">
              <a:lnSpc>
                <a:spcPct val="130000"/>
              </a:lnSpc>
              <a:spcBef>
                <a:spcPts val="600"/>
              </a:spcBef>
              <a:buFont typeface="Arial" panose="020B0604020202020204" pitchFamily="34" charset="0"/>
              <a:buChar char="•"/>
            </a:pPr>
            <a:r>
              <a:rPr lang="vi-VN" sz="2800">
                <a:latin typeface="Arial" panose="020B0604020202020204" pitchFamily="34" charset="0"/>
                <a:cs typeface="Arial" panose="020B0604020202020204" pitchFamily="34" charset="0"/>
              </a:rPr>
              <a:t>Lấy hướng từ tâm đến đỉnh (vị trí ban đầu trên hình cầu).</a:t>
            </a:r>
          </a:p>
          <a:p>
            <a:pPr marL="457200" indent="-457200" algn="just">
              <a:lnSpc>
                <a:spcPct val="130000"/>
              </a:lnSpc>
              <a:spcBef>
                <a:spcPts val="600"/>
              </a:spcBef>
              <a:buFont typeface="Arial" panose="020B0604020202020204" pitchFamily="34" charset="0"/>
              <a:buChar char="•"/>
            </a:pPr>
            <a:r>
              <a:rPr lang="vi-VN" sz="2800">
                <a:latin typeface="Arial" panose="020B0604020202020204" pitchFamily="34" charset="0"/>
                <a:cs typeface="Arial" panose="020B0604020202020204" pitchFamily="34" charset="0"/>
              </a:rPr>
              <a:t>Chuẩn hóa (Normalize) thành vector độ dài 1: chỉ giữ hướng.</a:t>
            </a:r>
          </a:p>
        </p:txBody>
      </p:sp>
      <p:sp>
        <p:nvSpPr>
          <p:cNvPr id="3" name="TextBox 2">
            <a:extLst>
              <a:ext uri="{FF2B5EF4-FFF2-40B4-BE49-F238E27FC236}">
                <a16:creationId xmlns:a16="http://schemas.microsoft.com/office/drawing/2014/main" id="{C3D10FAB-AA0A-EE62-599E-6367DBC069D6}"/>
              </a:ext>
            </a:extLst>
          </p:cNvPr>
          <p:cNvSpPr txBox="1"/>
          <p:nvPr/>
        </p:nvSpPr>
        <p:spPr>
          <a:xfrm>
            <a:off x="511496" y="60910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2.3 Shader tính vị trí điểm ảnh</a:t>
            </a:r>
          </a:p>
        </p:txBody>
      </p:sp>
      <p:pic>
        <p:nvPicPr>
          <p:cNvPr id="13" name="Picture 12">
            <a:extLst>
              <a:ext uri="{FF2B5EF4-FFF2-40B4-BE49-F238E27FC236}">
                <a16:creationId xmlns:a16="http://schemas.microsoft.com/office/drawing/2014/main" id="{02B4DEAA-570B-F8BE-F15F-E58175171A59}"/>
              </a:ext>
            </a:extLst>
          </p:cNvPr>
          <p:cNvPicPr>
            <a:picLocks noChangeAspect="1"/>
          </p:cNvPicPr>
          <p:nvPr/>
        </p:nvPicPr>
        <p:blipFill>
          <a:blip r:embed="rId4"/>
          <a:stretch>
            <a:fillRect/>
          </a:stretch>
        </p:blipFill>
        <p:spPr>
          <a:xfrm>
            <a:off x="12778451" y="7743463"/>
            <a:ext cx="1851949" cy="408634"/>
          </a:xfrm>
          <a:prstGeom prst="rect">
            <a:avLst/>
          </a:prstGeom>
        </p:spPr>
      </p:pic>
    </p:spTree>
    <p:extLst>
      <p:ext uri="{BB962C8B-B14F-4D97-AF65-F5344CB8AC3E}">
        <p14:creationId xmlns:p14="http://schemas.microsoft.com/office/powerpoint/2010/main" val="389164235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E4131-41C3-749D-D1BE-5D21F9A3ED13}"/>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37CB7DDA-2323-D4F2-71DC-4869BB82422C}"/>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96AEFFF9-287B-B668-92F5-FAED108D0F60}"/>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69DD2AEF-7FFF-66EB-C84C-1E7018E5CE68}"/>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7C875D02-8C3A-C97C-25D1-9640394C3567}"/>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39C2D2CC-4AFE-E1EF-C637-72E102B7B033}"/>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sp>
        <p:nvSpPr>
          <p:cNvPr id="4" name="TextBox 3">
            <a:extLst>
              <a:ext uri="{FF2B5EF4-FFF2-40B4-BE49-F238E27FC236}">
                <a16:creationId xmlns:a16="http://schemas.microsoft.com/office/drawing/2014/main" id="{0F414A2C-B913-AE11-2C7C-E3BFFD0235F6}"/>
              </a:ext>
            </a:extLst>
          </p:cNvPr>
          <p:cNvSpPr txBox="1"/>
          <p:nvPr/>
        </p:nvSpPr>
        <p:spPr>
          <a:xfrm>
            <a:off x="511496" y="6145741"/>
            <a:ext cx="14023864" cy="1791452"/>
          </a:xfrm>
          <a:prstGeom prst="rect">
            <a:avLst/>
          </a:prstGeom>
          <a:noFill/>
        </p:spPr>
        <p:txBody>
          <a:bodyPr wrap="square" rtlCol="0">
            <a:spAutoFit/>
          </a:bodyPr>
          <a:lstStyle/>
          <a:p>
            <a:pPr marL="457200" indent="-457200" algn="just">
              <a:lnSpc>
                <a:spcPct val="130000"/>
              </a:lnSpc>
              <a:spcBef>
                <a:spcPts val="600"/>
              </a:spcBef>
              <a:buFont typeface="Arial" panose="020B0604020202020204" pitchFamily="34" charset="0"/>
              <a:buChar char="•"/>
            </a:pPr>
            <a:r>
              <a:rPr lang="vi-VN" sz="2800">
                <a:latin typeface="Arial" panose="020B0604020202020204" pitchFamily="34" charset="0"/>
                <a:cs typeface="Arial" panose="020B0604020202020204" pitchFamily="34" charset="0"/>
              </a:rPr>
              <a:t>Đọc độ sâu từ ảnh, rồi tính khoảng cách thật từ hai thông số gần/xa (NearRadius, FarRadius).</a:t>
            </a:r>
          </a:p>
          <a:p>
            <a:pPr marL="457200" indent="-457200" algn="just">
              <a:lnSpc>
                <a:spcPct val="130000"/>
              </a:lnSpc>
              <a:spcBef>
                <a:spcPts val="600"/>
              </a:spcBef>
              <a:buFont typeface="Arial" panose="020B0604020202020204" pitchFamily="34" charset="0"/>
              <a:buChar char="•"/>
            </a:pPr>
            <a:r>
              <a:rPr lang="vi-VN" sz="2800">
                <a:latin typeface="Arial" panose="020B0604020202020204" pitchFamily="34" charset="0"/>
                <a:cs typeface="Arial" panose="020B0604020202020204" pitchFamily="34" charset="0"/>
              </a:rPr>
              <a:t>Nhân hướng với khoảng cách để ra vị trí mới của đỉnh.</a:t>
            </a:r>
          </a:p>
        </p:txBody>
      </p:sp>
      <p:sp>
        <p:nvSpPr>
          <p:cNvPr id="3" name="TextBox 2">
            <a:extLst>
              <a:ext uri="{FF2B5EF4-FFF2-40B4-BE49-F238E27FC236}">
                <a16:creationId xmlns:a16="http://schemas.microsoft.com/office/drawing/2014/main" id="{EB98329C-4EB3-CAB8-4A62-2FF0A916322B}"/>
              </a:ext>
            </a:extLst>
          </p:cNvPr>
          <p:cNvSpPr txBox="1"/>
          <p:nvPr/>
        </p:nvSpPr>
        <p:spPr>
          <a:xfrm>
            <a:off x="511496" y="68061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2.3 Shader tính vị trí điểm ảnh</a:t>
            </a:r>
          </a:p>
        </p:txBody>
      </p:sp>
      <p:pic>
        <p:nvPicPr>
          <p:cNvPr id="10" name="Picture 9">
            <a:extLst>
              <a:ext uri="{FF2B5EF4-FFF2-40B4-BE49-F238E27FC236}">
                <a16:creationId xmlns:a16="http://schemas.microsoft.com/office/drawing/2014/main" id="{BB1F78FE-9842-CE2F-9F3C-30499373FB29}"/>
              </a:ext>
            </a:extLst>
          </p:cNvPr>
          <p:cNvPicPr>
            <a:picLocks noChangeAspect="1"/>
          </p:cNvPicPr>
          <p:nvPr/>
        </p:nvPicPr>
        <p:blipFill>
          <a:blip r:embed="rId3"/>
          <a:stretch>
            <a:fillRect/>
          </a:stretch>
        </p:blipFill>
        <p:spPr>
          <a:xfrm>
            <a:off x="887300" y="1199939"/>
            <a:ext cx="12855797" cy="4602479"/>
          </a:xfrm>
          <a:prstGeom prst="rect">
            <a:avLst/>
          </a:prstGeom>
        </p:spPr>
      </p:pic>
      <p:pic>
        <p:nvPicPr>
          <p:cNvPr id="5" name="Picture 4">
            <a:extLst>
              <a:ext uri="{FF2B5EF4-FFF2-40B4-BE49-F238E27FC236}">
                <a16:creationId xmlns:a16="http://schemas.microsoft.com/office/drawing/2014/main" id="{BF365C88-2551-968A-E8DF-8737B4620F86}"/>
              </a:ext>
            </a:extLst>
          </p:cNvPr>
          <p:cNvPicPr>
            <a:picLocks noChangeAspect="1"/>
          </p:cNvPicPr>
          <p:nvPr/>
        </p:nvPicPr>
        <p:blipFill>
          <a:blip r:embed="rId4"/>
          <a:stretch>
            <a:fillRect/>
          </a:stretch>
        </p:blipFill>
        <p:spPr>
          <a:xfrm>
            <a:off x="12778451" y="7743463"/>
            <a:ext cx="1851949" cy="408634"/>
          </a:xfrm>
          <a:prstGeom prst="rect">
            <a:avLst/>
          </a:prstGeom>
        </p:spPr>
      </p:pic>
    </p:spTree>
    <p:extLst>
      <p:ext uri="{BB962C8B-B14F-4D97-AF65-F5344CB8AC3E}">
        <p14:creationId xmlns:p14="http://schemas.microsoft.com/office/powerpoint/2010/main" val="81473743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4E279-3386-A2A9-5D1F-763EC91AFD4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DF0DC9C-B428-4B88-182E-51CA70522CBF}"/>
              </a:ext>
            </a:extLst>
          </p:cNvPr>
          <p:cNvPicPr>
            <a:picLocks noChangeAspect="1"/>
          </p:cNvPicPr>
          <p:nvPr/>
        </p:nvPicPr>
        <p:blipFill>
          <a:blip r:embed="rId3"/>
          <a:stretch>
            <a:fillRect/>
          </a:stretch>
        </p:blipFill>
        <p:spPr>
          <a:xfrm>
            <a:off x="2345692" y="1660213"/>
            <a:ext cx="9101970" cy="5446462"/>
          </a:xfrm>
          <a:prstGeom prst="rect">
            <a:avLst/>
          </a:prstGeom>
        </p:spPr>
      </p:pic>
      <p:sp>
        <p:nvSpPr>
          <p:cNvPr id="40" name="Shape 3">
            <a:extLst>
              <a:ext uri="{FF2B5EF4-FFF2-40B4-BE49-F238E27FC236}">
                <a16:creationId xmlns:a16="http://schemas.microsoft.com/office/drawing/2014/main" id="{E973998D-0BE3-960A-1A00-0A7CAB103AE7}"/>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1A3012A0-CC35-D2B1-6561-4C4C7A297347}"/>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980C1324-F515-AE3B-48E2-8DC5A1011832}"/>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DF342793-122C-FC0B-13D9-BC5BDDEF227E}"/>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EED15741-1836-3F78-642D-1143429AFFDB}"/>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sp>
        <p:nvSpPr>
          <p:cNvPr id="4" name="TextBox 3">
            <a:extLst>
              <a:ext uri="{FF2B5EF4-FFF2-40B4-BE49-F238E27FC236}">
                <a16:creationId xmlns:a16="http://schemas.microsoft.com/office/drawing/2014/main" id="{587C2B38-2F78-7EFC-0099-3BCF67E28EA6}"/>
              </a:ext>
            </a:extLst>
          </p:cNvPr>
          <p:cNvSpPr txBox="1"/>
          <p:nvPr/>
        </p:nvSpPr>
        <p:spPr>
          <a:xfrm>
            <a:off x="16234118" y="329930"/>
            <a:ext cx="4867421" cy="8107028"/>
          </a:xfrm>
          <a:prstGeom prst="rect">
            <a:avLst/>
          </a:prstGeom>
          <a:noFill/>
        </p:spPr>
        <p:txBody>
          <a:bodyPr wrap="square" rtlCol="0">
            <a:spAutoFit/>
          </a:bodyPr>
          <a:lstStyle/>
          <a:p>
            <a:pPr marL="457200" indent="-457200" algn="just">
              <a:lnSpc>
                <a:spcPct val="130000"/>
              </a:lnSpc>
              <a:spcBef>
                <a:spcPts val="600"/>
              </a:spcBef>
              <a:buFont typeface="Arial" panose="020B0604020202020204" pitchFamily="34" charset="0"/>
              <a:buChar char="•"/>
            </a:pPr>
            <a:r>
              <a:rPr lang="vi-VN" sz="2800" b="1">
                <a:latin typeface="Arial" panose="020B0604020202020204" pitchFamily="34" charset="0"/>
                <a:cs typeface="Arial" panose="020B0604020202020204" pitchFamily="34" charset="0"/>
              </a:rPr>
              <a:t>SphereMeshGenerator:</a:t>
            </a:r>
            <a:r>
              <a:rPr lang="vi-VN" sz="2800">
                <a:latin typeface="Arial" panose="020B0604020202020204" pitchFamily="34" charset="0"/>
                <a:cs typeface="Arial" panose="020B0604020202020204" pitchFamily="34" charset="0"/>
              </a:rPr>
              <a:t> tạo mesh cầu theo số cột × hàng; có hàm Rebuild để đổi độ mịn khi đang chạy.</a:t>
            </a:r>
          </a:p>
          <a:p>
            <a:pPr marL="457200" indent="-457200" algn="just">
              <a:lnSpc>
                <a:spcPct val="130000"/>
              </a:lnSpc>
              <a:spcBef>
                <a:spcPts val="600"/>
              </a:spcBef>
              <a:buFont typeface="Arial" panose="020B0604020202020204" pitchFamily="34" charset="0"/>
              <a:buChar char="•"/>
            </a:pPr>
            <a:r>
              <a:rPr lang="vi-VN" sz="2800" b="1">
                <a:latin typeface="Arial" panose="020B0604020202020204" pitchFamily="34" charset="0"/>
                <a:cs typeface="Arial" panose="020B0604020202020204" pitchFamily="34" charset="0"/>
              </a:rPr>
              <a:t>SG_PanoDisplace </a:t>
            </a:r>
            <a:r>
              <a:rPr lang="vi-VN" sz="2800">
                <a:latin typeface="Arial" panose="020B0604020202020204" pitchFamily="34" charset="0"/>
                <a:cs typeface="Arial" panose="020B0604020202020204" pitchFamily="34" charset="0"/>
              </a:rPr>
              <a:t>(shader): đẩy từng đỉnh theo ảnh độ sâu và hiển thị màu.</a:t>
            </a:r>
            <a:endParaRPr lang="en-US" sz="2800">
              <a:latin typeface="Arial" panose="020B0604020202020204" pitchFamily="34" charset="0"/>
              <a:cs typeface="Arial" panose="020B0604020202020204" pitchFamily="34" charset="0"/>
            </a:endParaRPr>
          </a:p>
          <a:p>
            <a:pPr marL="457200" indent="-457200" algn="just">
              <a:lnSpc>
                <a:spcPct val="130000"/>
              </a:lnSpc>
              <a:spcBef>
                <a:spcPts val="600"/>
              </a:spcBef>
              <a:buFont typeface="Arial" panose="020B0604020202020204" pitchFamily="34" charset="0"/>
              <a:buChar char="•"/>
            </a:pPr>
            <a:r>
              <a:rPr lang="vi-VN" sz="2800" b="1">
                <a:cs typeface="Arial" panose="020B0604020202020204" pitchFamily="34" charset="0"/>
              </a:rPr>
              <a:t>DisplacementControl: </a:t>
            </a:r>
            <a:r>
              <a:rPr lang="vi-VN" sz="2800">
                <a:cs typeface="Arial" panose="020B0604020202020204" pitchFamily="34" charset="0"/>
              </a:rPr>
              <a:t>bật/tắt hiệu ứng displacement trên từng mặt cầu.</a:t>
            </a:r>
          </a:p>
          <a:p>
            <a:pPr marL="457200" indent="-457200" algn="just">
              <a:lnSpc>
                <a:spcPct val="130000"/>
              </a:lnSpc>
              <a:spcBef>
                <a:spcPts val="600"/>
              </a:spcBef>
              <a:buFont typeface="Arial" panose="020B0604020202020204" pitchFamily="34" charset="0"/>
              <a:buChar char="•"/>
            </a:pPr>
            <a:endParaRPr lang="vi-VN" sz="28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D9C1C06-A27C-FDCB-4AC0-8A61AB210D04}"/>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2.4 </a:t>
            </a:r>
            <a:r>
              <a:rPr lang="it-IT" sz="3200" b="1">
                <a:latin typeface="Arial" panose="020B0604020202020204" pitchFamily="34" charset="0"/>
                <a:cs typeface="Arial" panose="020B0604020202020204" pitchFamily="34" charset="0"/>
              </a:rPr>
              <a:t>Kiến trúc phần mềm</a:t>
            </a:r>
            <a:endParaRPr lang="en-US" sz="3200" b="1">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D57F791-F9F7-F668-3386-31CC8348AD55}"/>
              </a:ext>
            </a:extLst>
          </p:cNvPr>
          <p:cNvPicPr>
            <a:picLocks noChangeAspect="1"/>
          </p:cNvPicPr>
          <p:nvPr/>
        </p:nvPicPr>
        <p:blipFill>
          <a:blip r:embed="rId4"/>
          <a:stretch>
            <a:fillRect/>
          </a:stretch>
        </p:blipFill>
        <p:spPr>
          <a:xfrm>
            <a:off x="12778451" y="7743463"/>
            <a:ext cx="1851949" cy="408634"/>
          </a:xfrm>
          <a:prstGeom prst="rect">
            <a:avLst/>
          </a:prstGeom>
        </p:spPr>
      </p:pic>
    </p:spTree>
    <p:extLst>
      <p:ext uri="{BB962C8B-B14F-4D97-AF65-F5344CB8AC3E}">
        <p14:creationId xmlns:p14="http://schemas.microsoft.com/office/powerpoint/2010/main" val="278542259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33EF-120A-D81A-EC22-126BCBA4695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D625873-F20E-C955-198E-9F910680371C}"/>
              </a:ext>
            </a:extLst>
          </p:cNvPr>
          <p:cNvPicPr>
            <a:picLocks noChangeAspect="1"/>
          </p:cNvPicPr>
          <p:nvPr/>
        </p:nvPicPr>
        <p:blipFill>
          <a:blip r:embed="rId3"/>
          <a:srcRect l="30186" b="38800"/>
          <a:stretch>
            <a:fillRect/>
          </a:stretch>
        </p:blipFill>
        <p:spPr>
          <a:xfrm>
            <a:off x="457200" y="2555126"/>
            <a:ext cx="7498080" cy="3933164"/>
          </a:xfrm>
          <a:prstGeom prst="roundRect">
            <a:avLst>
              <a:gd name="adj" fmla="val 3500"/>
            </a:avLst>
          </a:prstGeom>
          <a:ln w="15875">
            <a:solidFill>
              <a:srgbClr val="D8DEE6"/>
            </a:solidFill>
          </a:ln>
        </p:spPr>
      </p:pic>
      <p:sp>
        <p:nvSpPr>
          <p:cNvPr id="40" name="Shape 3">
            <a:extLst>
              <a:ext uri="{FF2B5EF4-FFF2-40B4-BE49-F238E27FC236}">
                <a16:creationId xmlns:a16="http://schemas.microsoft.com/office/drawing/2014/main" id="{C7660017-5362-6330-C79C-92F7EDF9FA57}"/>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404C95D7-43C4-7B5F-84E5-BA6B260EC778}"/>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3E96F751-AD34-BD68-A722-F637BF09EAEA}"/>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37C36394-9279-D74B-45B5-C3F5B4F60513}"/>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AF33AEE6-A4D6-532F-DCA6-1E15DB44A9F1}"/>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sp>
        <p:nvSpPr>
          <p:cNvPr id="3" name="TextBox 2">
            <a:extLst>
              <a:ext uri="{FF2B5EF4-FFF2-40B4-BE49-F238E27FC236}">
                <a16:creationId xmlns:a16="http://schemas.microsoft.com/office/drawing/2014/main" id="{1D5C0C45-D2BB-6334-9E7C-CC5F762CF2D1}"/>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2.4 </a:t>
            </a:r>
            <a:r>
              <a:rPr lang="it-IT" sz="3200" b="1">
                <a:latin typeface="Arial" panose="020B0604020202020204" pitchFamily="34" charset="0"/>
                <a:cs typeface="Arial" panose="020B0604020202020204" pitchFamily="34" charset="0"/>
              </a:rPr>
              <a:t>Kiến trúc phần mềm</a:t>
            </a:r>
            <a:endParaRPr lang="en-US" sz="3200" b="1">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AF978FD-1DC1-AAAE-42B1-FB69ABBF9CA7}"/>
              </a:ext>
            </a:extLst>
          </p:cNvPr>
          <p:cNvPicPr>
            <a:picLocks noChangeAspect="1"/>
          </p:cNvPicPr>
          <p:nvPr/>
        </p:nvPicPr>
        <p:blipFill>
          <a:blip r:embed="rId4"/>
          <a:stretch>
            <a:fillRect/>
          </a:stretch>
        </p:blipFill>
        <p:spPr>
          <a:xfrm>
            <a:off x="12778451" y="7743463"/>
            <a:ext cx="1851949" cy="408634"/>
          </a:xfrm>
          <a:prstGeom prst="rect">
            <a:avLst/>
          </a:prstGeom>
        </p:spPr>
      </p:pic>
      <p:sp>
        <p:nvSpPr>
          <p:cNvPr id="401" name="Card"/>
          <p:cNvSpPr/>
          <p:nvPr/>
        </p:nvSpPr>
        <p:spPr>
          <a:xfrm>
            <a:off x="8229600" y="1691640"/>
            <a:ext cx="5943600" cy="2029968"/>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274320" tIns="182880" rIns="274320" bIns="182880" rtlCol="0" anchor="ctr">
            <a:noAutofit/>
          </a:bodyPr>
          <a:lstStyle/>
          <a:p>
            <a:pPr marL="0" indent="0" algn="l">
              <a:lnSpc>
                <a:spcPct val="100000"/>
              </a:lnSpc>
              <a:spcBef>
                <a:spcPts val="0"/>
              </a:spcBef>
              <a:buNone/>
            </a:pPr>
            <a:r>
              <a:rPr lang="vi-VN" sz="2800" b="1">
                <a:solidFill>
                  <a:srgbClr val="0B7A3E"/>
                </a:solidFill>
                <a:latin typeface="Arial" panose="020B0604020202020204" pitchFamily="34" charset="0"/>
                <a:cs typeface="Arial" panose="020B0604020202020204" pitchFamily="34" charset="0"/>
              </a:rPr>
              <a:t>SphereMeshGenerator:</a:t>
            </a:r>
            <a:r>
              <a:rPr lang="vi-VN" sz="2800">
                <a:latin typeface="Arial" panose="020B0604020202020204" pitchFamily="34" charset="0"/>
                <a:cs typeface="Arial" panose="020B0604020202020204" pitchFamily="34" charset="0"/>
              </a:rPr>
              <a:t> tạo mesh cầu theo số cột × hàng; có hàm Rebuild để đổi độ mịn khi đang chạy.</a:t>
            </a:r>
          </a:p>
        </p:txBody>
      </p:sp>
      <p:sp>
        <p:nvSpPr>
          <p:cNvPr id="402" name="Card"/>
          <p:cNvSpPr/>
          <p:nvPr/>
        </p:nvSpPr>
        <p:spPr>
          <a:xfrm>
            <a:off x="8229600" y="3922776"/>
            <a:ext cx="594360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274320" tIns="182880" rIns="274320" bIns="182880" rtlCol="0" anchor="ctr">
            <a:noAutofit/>
          </a:bodyPr>
          <a:lstStyle/>
          <a:p>
            <a:pPr marL="0" indent="0" algn="l">
              <a:lnSpc>
                <a:spcPct val="100000"/>
              </a:lnSpc>
              <a:spcBef>
                <a:spcPts val="0"/>
              </a:spcBef>
              <a:buNone/>
            </a:pPr>
            <a:r>
              <a:rPr lang="vi-VN" sz="2800" b="1">
                <a:solidFill>
                  <a:srgbClr val="0B7A3E"/>
                </a:solidFill>
                <a:latin typeface="Arial" panose="020B0604020202020204" pitchFamily="34" charset="0"/>
                <a:cs typeface="Arial" panose="020B0604020202020204" pitchFamily="34" charset="0"/>
              </a:rPr>
              <a:t>SG_PanoDisplace </a:t>
            </a:r>
            <a:r>
              <a:rPr lang="vi-VN" sz="2800">
                <a:latin typeface="Arial" panose="020B0604020202020204" pitchFamily="34" charset="0"/>
                <a:cs typeface="Arial" panose="020B0604020202020204" pitchFamily="34" charset="0"/>
              </a:rPr>
              <a:t>(shader): đẩy từng đỉnh theo ảnh độ sâu và hiển thị màu.</a:t>
            </a:r>
            <a:endParaRPr lang="en-US" sz="2800">
              <a:latin typeface="Arial" panose="020B0604020202020204" pitchFamily="34" charset="0"/>
              <a:cs typeface="Arial" panose="020B0604020202020204" pitchFamily="34" charset="0"/>
            </a:endParaRPr>
          </a:p>
        </p:txBody>
      </p:sp>
      <p:sp>
        <p:nvSpPr>
          <p:cNvPr id="403" name="Card"/>
          <p:cNvSpPr/>
          <p:nvPr/>
        </p:nvSpPr>
        <p:spPr>
          <a:xfrm>
            <a:off x="8229600" y="5737860"/>
            <a:ext cx="594360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274320" tIns="182880" rIns="274320" bIns="182880" rtlCol="0" anchor="ctr">
            <a:noAutofit/>
          </a:bodyPr>
          <a:lstStyle/>
          <a:p>
            <a:pPr marL="0" indent="0" algn="l">
              <a:lnSpc>
                <a:spcPct val="100000"/>
              </a:lnSpc>
              <a:spcBef>
                <a:spcPts val="0"/>
              </a:spcBef>
              <a:buNone/>
            </a:pPr>
            <a:r>
              <a:rPr lang="vi-VN" sz="2800" b="1">
                <a:solidFill>
                  <a:srgbClr val="0B7A3E"/>
                </a:solidFill>
                <a:cs typeface="Arial" panose="020B0604020202020204" pitchFamily="34" charset="0"/>
              </a:rPr>
              <a:t>DisplacementControl: </a:t>
            </a:r>
            <a:r>
              <a:rPr lang="vi-VN" sz="2800">
                <a:cs typeface="Arial" panose="020B0604020202020204" pitchFamily="34" charset="0"/>
              </a:rPr>
              <a:t>bật/tắt hiệu ứng displacement trên từng mặt cầu.</a:t>
            </a:r>
          </a:p>
        </p:txBody>
      </p:sp>
    </p:spTree>
    <p:extLst>
      <p:ext uri="{BB962C8B-B14F-4D97-AF65-F5344CB8AC3E}">
        <p14:creationId xmlns:p14="http://schemas.microsoft.com/office/powerpoint/2010/main" val="37499773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E7B37-05CF-A4ED-464D-EC1D987F183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3E80178-255B-350F-4AE7-9D442744C5CE}"/>
              </a:ext>
            </a:extLst>
          </p:cNvPr>
          <p:cNvPicPr>
            <a:picLocks noChangeAspect="1"/>
          </p:cNvPicPr>
          <p:nvPr/>
        </p:nvPicPr>
        <p:blipFill>
          <a:blip r:embed="rId3"/>
          <a:srcRect l="34052" t="71162" b="1658"/>
          <a:stretch>
            <a:fillRect/>
          </a:stretch>
        </p:blipFill>
        <p:spPr>
          <a:xfrm>
            <a:off x="1371600" y="1691640"/>
            <a:ext cx="11887200" cy="2931639"/>
          </a:xfrm>
          <a:prstGeom prst="roundRect">
            <a:avLst>
              <a:gd name="adj" fmla="val 3500"/>
            </a:avLst>
          </a:prstGeom>
          <a:ln w="15875">
            <a:solidFill>
              <a:srgbClr val="D8DEE6"/>
            </a:solidFill>
          </a:ln>
        </p:spPr>
      </p:pic>
      <p:sp>
        <p:nvSpPr>
          <p:cNvPr id="40" name="Shape 3">
            <a:extLst>
              <a:ext uri="{FF2B5EF4-FFF2-40B4-BE49-F238E27FC236}">
                <a16:creationId xmlns:a16="http://schemas.microsoft.com/office/drawing/2014/main" id="{F09AAC2E-883A-38D1-9635-3F3EE39E3109}"/>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B4A3B92B-D72D-1540-E6B5-12C513945C3B}"/>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722B5494-4941-B7C0-E1EB-A4AC6487FDC7}"/>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2FCDB6D3-096E-84F2-A4A6-BBC597B7ED9A}"/>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9EFDC78D-1545-4F42-823A-8B5CC7A942FA}"/>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sp>
        <p:nvSpPr>
          <p:cNvPr id="3" name="TextBox 2">
            <a:extLst>
              <a:ext uri="{FF2B5EF4-FFF2-40B4-BE49-F238E27FC236}">
                <a16:creationId xmlns:a16="http://schemas.microsoft.com/office/drawing/2014/main" id="{7503688A-D3DF-FFB9-4B23-5AC9D3A3D1C5}"/>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2.4 </a:t>
            </a:r>
            <a:r>
              <a:rPr lang="it-IT" sz="3200" b="1">
                <a:latin typeface="Arial" panose="020B0604020202020204" pitchFamily="34" charset="0"/>
                <a:cs typeface="Arial" panose="020B0604020202020204" pitchFamily="34" charset="0"/>
              </a:rPr>
              <a:t>Kiến trúc phần mềm</a:t>
            </a:r>
            <a:endParaRPr lang="en-US" sz="3200" b="1">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E45D0650-B701-0395-CDE0-3BBB412B4300}"/>
              </a:ext>
            </a:extLst>
          </p:cNvPr>
          <p:cNvPicPr>
            <a:picLocks noChangeAspect="1"/>
          </p:cNvPicPr>
          <p:nvPr/>
        </p:nvPicPr>
        <p:blipFill>
          <a:blip r:embed="rId4"/>
          <a:stretch>
            <a:fillRect/>
          </a:stretch>
        </p:blipFill>
        <p:spPr>
          <a:xfrm>
            <a:off x="12778451" y="7743463"/>
            <a:ext cx="1851949" cy="408634"/>
          </a:xfrm>
          <a:prstGeom prst="rect">
            <a:avLst/>
          </a:prstGeom>
        </p:spPr>
      </p:pic>
      <p:sp>
        <p:nvSpPr>
          <p:cNvPr id="401" name="Card"/>
          <p:cNvSpPr/>
          <p:nvPr/>
        </p:nvSpPr>
        <p:spPr>
          <a:xfrm>
            <a:off x="457200" y="5034759"/>
            <a:ext cx="667512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182880" rIns="320040" bIns="182880" rtlCol="0" anchor="ctr">
            <a:noAutofit/>
          </a:bodyPr>
          <a:lstStyle/>
          <a:p>
            <a:pPr marL="0" indent="0" algn="l">
              <a:lnSpc>
                <a:spcPct val="100000"/>
              </a:lnSpc>
              <a:spcBef>
                <a:spcPts val="0"/>
              </a:spcBef>
              <a:buNone/>
            </a:pPr>
            <a:r>
              <a:rPr lang="vi-VN" sz="2800" b="1">
                <a:solidFill>
                  <a:srgbClr val="0B7A3E"/>
                </a:solidFill>
                <a:cs typeface="Arial" panose="020B0604020202020204" pitchFamily="34" charset="0"/>
              </a:rPr>
              <a:t>HeadController: </a:t>
            </a:r>
            <a:r>
              <a:rPr lang="vi-VN" sz="2800">
                <a:cs typeface="Arial" panose="020B0604020202020204" pitchFamily="34" charset="0"/>
              </a:rPr>
              <a:t>xoay đầu bằng chuột phải.</a:t>
            </a:r>
          </a:p>
        </p:txBody>
      </p:sp>
      <p:sp>
        <p:nvSpPr>
          <p:cNvPr id="402" name="Card"/>
          <p:cNvSpPr/>
          <p:nvPr/>
        </p:nvSpPr>
        <p:spPr>
          <a:xfrm>
            <a:off x="7498080" y="5034759"/>
            <a:ext cx="6675120" cy="1613916"/>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182880" rIns="320040" bIns="182880" rtlCol="0" anchor="ctr">
            <a:noAutofit/>
          </a:bodyPr>
          <a:lstStyle/>
          <a:p>
            <a:pPr marL="0" indent="0" algn="l">
              <a:lnSpc>
                <a:spcPct val="100000"/>
              </a:lnSpc>
              <a:spcBef>
                <a:spcPts val="0"/>
              </a:spcBef>
              <a:buNone/>
            </a:pPr>
            <a:r>
              <a:rPr lang="vi-VN" sz="2800" b="1">
                <a:solidFill>
                  <a:srgbClr val="0B7A3E"/>
                </a:solidFill>
                <a:cs typeface="Arial" panose="020B0604020202020204" pitchFamily="34" charset="0"/>
              </a:rPr>
              <a:t>HeadMover: </a:t>
            </a:r>
            <a:r>
              <a:rPr lang="vi-VN" sz="2800">
                <a:cs typeface="Arial" panose="020B0604020202020204" pitchFamily="34" charset="0"/>
              </a:rPr>
              <a:t>dịch đầu bằng WASD trong phạm vi 0,3 m; có ResetPosition.</a:t>
            </a:r>
          </a:p>
        </p:txBody>
      </p:sp>
    </p:spTree>
    <p:extLst>
      <p:ext uri="{BB962C8B-B14F-4D97-AF65-F5344CB8AC3E}">
        <p14:creationId xmlns:p14="http://schemas.microsoft.com/office/powerpoint/2010/main" val="27451493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B9592-A101-D6E4-C0E5-ED8F993B81D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1F2B267-AFFA-0B94-5F47-A65406163F70}"/>
              </a:ext>
            </a:extLst>
          </p:cNvPr>
          <p:cNvPicPr>
            <a:picLocks noChangeAspect="1"/>
          </p:cNvPicPr>
          <p:nvPr/>
        </p:nvPicPr>
        <p:blipFill>
          <a:blip r:embed="rId3"/>
          <a:srcRect t="32459" r="69577" b="8121"/>
          <a:stretch>
            <a:fillRect/>
          </a:stretch>
        </p:blipFill>
        <p:spPr>
          <a:xfrm>
            <a:off x="457200" y="1691640"/>
            <a:ext cx="4459672" cy="5212080"/>
          </a:xfrm>
          <a:prstGeom prst="roundRect">
            <a:avLst>
              <a:gd name="adj" fmla="val 3500"/>
            </a:avLst>
          </a:prstGeom>
          <a:ln w="15875">
            <a:solidFill>
              <a:srgbClr val="D8DEE6"/>
            </a:solidFill>
          </a:ln>
        </p:spPr>
      </p:pic>
      <p:sp>
        <p:nvSpPr>
          <p:cNvPr id="40" name="Shape 3">
            <a:extLst>
              <a:ext uri="{FF2B5EF4-FFF2-40B4-BE49-F238E27FC236}">
                <a16:creationId xmlns:a16="http://schemas.microsoft.com/office/drawing/2014/main" id="{B48AFB01-8158-74F2-72A1-855982EA175C}"/>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E67ACEA3-4453-22AE-9A63-AC06EF0EA212}"/>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78FFA2DA-1C59-0CEF-BB57-CDCDA1A47D8B}"/>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0E4C865A-63C0-7A42-0425-146A65FB1974}"/>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4358C6FD-881A-D7BA-B452-F3B60DCADC2C}"/>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sp>
        <p:nvSpPr>
          <p:cNvPr id="3" name="TextBox 2">
            <a:extLst>
              <a:ext uri="{FF2B5EF4-FFF2-40B4-BE49-F238E27FC236}">
                <a16:creationId xmlns:a16="http://schemas.microsoft.com/office/drawing/2014/main" id="{1A1C7E7E-76F6-9239-498F-5E14200A9F03}"/>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2.4 </a:t>
            </a:r>
            <a:r>
              <a:rPr lang="it-IT" sz="3200" b="1">
                <a:latin typeface="Arial" panose="020B0604020202020204" pitchFamily="34" charset="0"/>
                <a:cs typeface="Arial" panose="020B0604020202020204" pitchFamily="34" charset="0"/>
              </a:rPr>
              <a:t>Kiến trúc phần mềm</a:t>
            </a:r>
            <a:endParaRPr lang="en-US" sz="3200" b="1">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AE06AB3A-0F49-D354-CA80-556530DCB8CC}"/>
              </a:ext>
            </a:extLst>
          </p:cNvPr>
          <p:cNvPicPr>
            <a:picLocks noChangeAspect="1"/>
          </p:cNvPicPr>
          <p:nvPr/>
        </p:nvPicPr>
        <p:blipFill>
          <a:blip r:embed="rId4"/>
          <a:stretch>
            <a:fillRect/>
          </a:stretch>
        </p:blipFill>
        <p:spPr>
          <a:xfrm>
            <a:off x="12778451" y="7743463"/>
            <a:ext cx="1851949" cy="408634"/>
          </a:xfrm>
          <a:prstGeom prst="rect">
            <a:avLst/>
          </a:prstGeom>
        </p:spPr>
      </p:pic>
      <p:sp>
        <p:nvSpPr>
          <p:cNvPr id="401" name="Card"/>
          <p:cNvSpPr/>
          <p:nvPr/>
        </p:nvSpPr>
        <p:spPr>
          <a:xfrm>
            <a:off x="5374072" y="3193542"/>
            <a:ext cx="8799128" cy="1197864"/>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182880" rIns="320040" bIns="182880" rtlCol="0" anchor="ctr">
            <a:noAutofit/>
          </a:bodyPr>
          <a:lstStyle/>
          <a:p>
            <a:pPr marL="0" indent="0" algn="l">
              <a:lnSpc>
                <a:spcPct val="100000"/>
              </a:lnSpc>
              <a:spcBef>
                <a:spcPts val="0"/>
              </a:spcBef>
              <a:buNone/>
            </a:pPr>
            <a:r>
              <a:rPr lang="vi-VN" sz="2800" b="1">
                <a:solidFill>
                  <a:srgbClr val="0B7A3E"/>
                </a:solidFill>
                <a:cs typeface="Arial" panose="020B0604020202020204" pitchFamily="34" charset="0"/>
              </a:rPr>
              <a:t>SettingsPanel: </a:t>
            </a:r>
            <a:r>
              <a:rPr lang="vi-VN" sz="2800">
                <a:cs typeface="Arial" panose="020B0604020202020204" pitchFamily="34" charset="0"/>
              </a:rPr>
              <a:t>giao diện chọn mức mesh, bật/tắt displacement, reset vị trí, hiển thị X, Y, Z.</a:t>
            </a:r>
          </a:p>
        </p:txBody>
      </p:sp>
      <p:sp>
        <p:nvSpPr>
          <p:cNvPr id="402" name="Card"/>
          <p:cNvSpPr/>
          <p:nvPr/>
        </p:nvSpPr>
        <p:spPr>
          <a:xfrm>
            <a:off x="5374072" y="4620006"/>
            <a:ext cx="8799128" cy="781812"/>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320040" tIns="182880" rIns="320040" bIns="182880" rtlCol="0" anchor="ctr">
            <a:noAutofit/>
          </a:bodyPr>
          <a:lstStyle/>
          <a:p>
            <a:pPr marL="0" indent="0" algn="l">
              <a:lnSpc>
                <a:spcPct val="100000"/>
              </a:lnSpc>
              <a:spcBef>
                <a:spcPts val="0"/>
              </a:spcBef>
              <a:buNone/>
            </a:pPr>
            <a:r>
              <a:rPr lang="vi-VN" sz="2800" b="1">
                <a:solidFill>
                  <a:srgbClr val="0B7A3E"/>
                </a:solidFill>
                <a:cs typeface="Arial" panose="020B0604020202020204" pitchFamily="34" charset="0"/>
              </a:rPr>
              <a:t>FPSCounter: </a:t>
            </a:r>
            <a:r>
              <a:rPr lang="vi-VN" sz="2800">
                <a:cs typeface="Arial" panose="020B0604020202020204" pitchFamily="34" charset="0"/>
              </a:rPr>
              <a:t>đo và hiển thị FPS.</a:t>
            </a:r>
          </a:p>
        </p:txBody>
      </p:sp>
    </p:spTree>
    <p:extLst>
      <p:ext uri="{BB962C8B-B14F-4D97-AF65-F5344CB8AC3E}">
        <p14:creationId xmlns:p14="http://schemas.microsoft.com/office/powerpoint/2010/main" val="263791919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5BB7D-AE62-E9BB-756A-BBB36A39C3BB}"/>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616F644C-EE62-04C4-96B6-2FD6A9483747}"/>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E238E686-5A23-B32E-C57D-92D23E629848}"/>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2A6B6E94-9276-1315-725C-3D39FC6DFB99}"/>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05BEB777-C99E-B280-6F15-45A9FDC732E7}"/>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9FE43340-D91C-99D6-45CE-774FD28A0D3B}"/>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sp>
        <p:nvSpPr>
          <p:cNvPr id="3" name="TextBox 2">
            <a:extLst>
              <a:ext uri="{FF2B5EF4-FFF2-40B4-BE49-F238E27FC236}">
                <a16:creationId xmlns:a16="http://schemas.microsoft.com/office/drawing/2014/main" id="{7EB1EFD9-C5D9-3E9A-4217-5442CCB16AC9}"/>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2.4 </a:t>
            </a:r>
            <a:r>
              <a:rPr lang="it-IT" sz="3200" b="1">
                <a:latin typeface="Arial" panose="020B0604020202020204" pitchFamily="34" charset="0"/>
                <a:cs typeface="Arial" panose="020B0604020202020204" pitchFamily="34" charset="0"/>
              </a:rPr>
              <a:t>Hai camera Stereo quan sát</a:t>
            </a:r>
            <a:endParaRPr lang="en-US" sz="3200" b="1">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D19C3FB-AA67-487B-D56A-507803EC3E0B}"/>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401" name="Card"/>
          <p:cNvSpPr/>
          <p:nvPr/>
        </p:nvSpPr>
        <p:spPr>
          <a:xfrm>
            <a:off x="457200" y="2057400"/>
            <a:ext cx="6675120" cy="1650492"/>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a:latin typeface="Arial" panose="020B0604020202020204" pitchFamily="34" charset="0"/>
                <a:cs typeface="Arial" panose="020B0604020202020204" pitchFamily="34" charset="0"/>
              </a:rPr>
              <a:t>Hai camera là con của một đối tượng cha tên Head</a:t>
            </a:r>
            <a:r>
              <a:rPr lang="en-US" sz="2800">
                <a:latin typeface="Arial" panose="020B0604020202020204" pitchFamily="34" charset="0"/>
                <a:cs typeface="Arial" panose="020B0604020202020204" pitchFamily="34" charset="0"/>
              </a:rPr>
              <a:t>,</a:t>
            </a:r>
            <a:r>
              <a:rPr lang="vi-VN" sz="2800">
                <a:latin typeface="Arial" panose="020B0604020202020204" pitchFamily="34" charset="0"/>
                <a:cs typeface="Arial" panose="020B0604020202020204" pitchFamily="34" charset="0"/>
              </a:rPr>
              <a:t> điều khiển Head là điều khiển cả hai mắt.</a:t>
            </a:r>
          </a:p>
        </p:txBody>
      </p:sp>
      <p:sp>
        <p:nvSpPr>
          <p:cNvPr id="402" name="Badge 1"/>
          <p:cNvSpPr/>
          <p:nvPr/>
        </p:nvSpPr>
        <p:spPr>
          <a:xfrm>
            <a:off x="731520" y="2599182"/>
            <a:ext cx="566928" cy="566928"/>
          </a:xfrm>
          <a:prstGeom prst="ellipse">
            <a:avLst/>
          </a:prstGeom>
          <a:solidFill>
            <a:srgbClr val="00B050"/>
          </a:solidFill>
          <a:ln>
            <a:noFill/>
          </a:ln>
        </p:spPr>
        <p:txBody>
          <a:bodyPr wrap="none" lIns="0" tIns="0" rIns="0" bIns="0" rtlCol="0" anchor="ctr">
            <a:noAutofit/>
          </a:bodyPr>
          <a:lstStyle/>
          <a:p>
            <a:pPr algn="ctr"/>
            <a:r>
              <a:rPr lang="en-US" sz="2800" b="1">
                <a:solidFill>
                  <a:srgbClr val="FFFFFF"/>
                </a:solidFill>
              </a:rPr>
              <a:t>1</a:t>
            </a:r>
          </a:p>
        </p:txBody>
      </p:sp>
      <p:sp>
        <p:nvSpPr>
          <p:cNvPr id="403" name="Card"/>
          <p:cNvSpPr/>
          <p:nvPr/>
        </p:nvSpPr>
        <p:spPr>
          <a:xfrm>
            <a:off x="7498080" y="2057400"/>
            <a:ext cx="6675120" cy="1650492"/>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a:latin typeface="Arial" panose="020B0604020202020204" pitchFamily="34" charset="0"/>
                <a:cs typeface="Arial" panose="020B0604020202020204" pitchFamily="34" charset="0"/>
              </a:rPr>
              <a:t>Mỗi camera chỉ nhìn mesh cầu của mắt mình (tách bằng layer).</a:t>
            </a:r>
          </a:p>
        </p:txBody>
      </p:sp>
      <p:sp>
        <p:nvSpPr>
          <p:cNvPr id="404" name="Badge 2"/>
          <p:cNvSpPr/>
          <p:nvPr/>
        </p:nvSpPr>
        <p:spPr>
          <a:xfrm>
            <a:off x="7772400" y="2599182"/>
            <a:ext cx="566928" cy="566928"/>
          </a:xfrm>
          <a:prstGeom prst="ellipse">
            <a:avLst/>
          </a:prstGeom>
          <a:solidFill>
            <a:srgbClr val="00B050"/>
          </a:solidFill>
          <a:ln>
            <a:noFill/>
          </a:ln>
        </p:spPr>
        <p:txBody>
          <a:bodyPr wrap="none" lIns="0" tIns="0" rIns="0" bIns="0" rtlCol="0" anchor="ctr">
            <a:noAutofit/>
          </a:bodyPr>
          <a:lstStyle/>
          <a:p>
            <a:pPr algn="ctr"/>
            <a:r>
              <a:rPr lang="en-US" sz="2800" b="1">
                <a:solidFill>
                  <a:srgbClr val="FFFFFF"/>
                </a:solidFill>
              </a:rPr>
              <a:t>2</a:t>
            </a:r>
          </a:p>
        </p:txBody>
      </p:sp>
      <p:sp>
        <p:nvSpPr>
          <p:cNvPr id="405" name="Card"/>
          <p:cNvSpPr/>
          <p:nvPr/>
        </p:nvSpPr>
        <p:spPr>
          <a:xfrm>
            <a:off x="457200" y="3982212"/>
            <a:ext cx="6675120" cy="2066544"/>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a:latin typeface="Arial" panose="020B0604020202020204" pitchFamily="34" charset="0"/>
                <a:cs typeface="Arial" panose="020B0604020202020204" pitchFamily="34" charset="0"/>
              </a:rPr>
              <a:t>Độ lệch hai mắt (0,065 m) đã nằm sẵn trong cặp ảnh từ Blender, nên hai camera có thể đặt cùng một vị trí.</a:t>
            </a:r>
          </a:p>
        </p:txBody>
      </p:sp>
      <p:sp>
        <p:nvSpPr>
          <p:cNvPr id="406" name="Badge 3"/>
          <p:cNvSpPr/>
          <p:nvPr/>
        </p:nvSpPr>
        <p:spPr>
          <a:xfrm>
            <a:off x="731520" y="4732020"/>
            <a:ext cx="566928" cy="566928"/>
          </a:xfrm>
          <a:prstGeom prst="ellipse">
            <a:avLst/>
          </a:prstGeom>
          <a:solidFill>
            <a:srgbClr val="00B050"/>
          </a:solidFill>
          <a:ln>
            <a:noFill/>
          </a:ln>
        </p:spPr>
        <p:txBody>
          <a:bodyPr wrap="none" lIns="0" tIns="0" rIns="0" bIns="0" rtlCol="0" anchor="ctr">
            <a:noAutofit/>
          </a:bodyPr>
          <a:lstStyle/>
          <a:p>
            <a:pPr algn="ctr"/>
            <a:r>
              <a:rPr lang="en-US" sz="2800" b="1">
                <a:solidFill>
                  <a:srgbClr val="FFFFFF"/>
                </a:solidFill>
              </a:rPr>
              <a:t>3</a:t>
            </a:r>
          </a:p>
        </p:txBody>
      </p:sp>
      <p:sp>
        <p:nvSpPr>
          <p:cNvPr id="407" name="Card"/>
          <p:cNvSpPr/>
          <p:nvPr/>
        </p:nvSpPr>
        <p:spPr>
          <a:xfrm>
            <a:off x="7498080" y="3982212"/>
            <a:ext cx="6675120" cy="2066544"/>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a:latin typeface="Arial" panose="020B0604020202020204" pitchFamily="34" charset="0"/>
                <a:cs typeface="Arial" panose="020B0604020202020204" pitchFamily="34" charset="0"/>
              </a:rPr>
              <a:t>Màn hình chia đôi: nửa trái cho mắt trái, nửa phải cho mắt phải.</a:t>
            </a:r>
          </a:p>
        </p:txBody>
      </p:sp>
      <p:sp>
        <p:nvSpPr>
          <p:cNvPr id="408" name="Badge 4"/>
          <p:cNvSpPr/>
          <p:nvPr/>
        </p:nvSpPr>
        <p:spPr>
          <a:xfrm>
            <a:off x="7772400" y="4732020"/>
            <a:ext cx="566928" cy="566928"/>
          </a:xfrm>
          <a:prstGeom prst="ellipse">
            <a:avLst/>
          </a:prstGeom>
          <a:solidFill>
            <a:srgbClr val="00B050"/>
          </a:solidFill>
          <a:ln>
            <a:noFill/>
          </a:ln>
        </p:spPr>
        <p:txBody>
          <a:bodyPr wrap="none" lIns="0" tIns="0" rIns="0" bIns="0" rtlCol="0" anchor="ctr">
            <a:noAutofit/>
          </a:bodyPr>
          <a:lstStyle/>
          <a:p>
            <a:pPr algn="ctr"/>
            <a:r>
              <a:rPr lang="en-US" sz="2800" b="1">
                <a:solidFill>
                  <a:srgbClr val="FFFFFF"/>
                </a:solidFill>
              </a:rPr>
              <a:t>4</a:t>
            </a:r>
          </a:p>
        </p:txBody>
      </p:sp>
    </p:spTree>
    <p:extLst>
      <p:ext uri="{BB962C8B-B14F-4D97-AF65-F5344CB8AC3E}">
        <p14:creationId xmlns:p14="http://schemas.microsoft.com/office/powerpoint/2010/main" val="377755514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8DEB2-3953-C3FA-96C1-3216C0F6C81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6F4D1F9-7210-7F01-B1AE-8E13615A2B6B}"/>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40" name="Shape 3">
            <a:extLst>
              <a:ext uri="{FF2B5EF4-FFF2-40B4-BE49-F238E27FC236}">
                <a16:creationId xmlns:a16="http://schemas.microsoft.com/office/drawing/2014/main" id="{8FC8F238-0EAE-2885-CB29-C940A813FD8D}"/>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FA1FA691-E9A5-82AB-A898-28CF6DDFE12E}"/>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D1D5B71D-A114-5641-80E4-48C449A1194A}"/>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43AC60A3-596E-0E5A-AD19-F577C75CF49C}"/>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2</a:t>
            </a:r>
          </a:p>
        </p:txBody>
      </p:sp>
      <p:sp>
        <p:nvSpPr>
          <p:cNvPr id="44" name="TextBox 43">
            <a:extLst>
              <a:ext uri="{FF2B5EF4-FFF2-40B4-BE49-F238E27FC236}">
                <a16:creationId xmlns:a16="http://schemas.microsoft.com/office/drawing/2014/main" id="{2BD0D6C7-A2D4-9A2B-F8CC-9F9ADA5844FD}"/>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Triển khai dự án</a:t>
            </a:r>
          </a:p>
        </p:txBody>
      </p:sp>
      <p:sp>
        <p:nvSpPr>
          <p:cNvPr id="4" name="TextBox 3">
            <a:extLst>
              <a:ext uri="{FF2B5EF4-FFF2-40B4-BE49-F238E27FC236}">
                <a16:creationId xmlns:a16="http://schemas.microsoft.com/office/drawing/2014/main" id="{ED5ED0CC-C18B-9DFB-A878-DBF842205B7B}"/>
              </a:ext>
            </a:extLst>
          </p:cNvPr>
          <p:cNvSpPr txBox="1"/>
          <p:nvPr/>
        </p:nvSpPr>
        <p:spPr>
          <a:xfrm>
            <a:off x="733129" y="1951379"/>
            <a:ext cx="12532833" cy="3625801"/>
          </a:xfrm>
          <a:prstGeom prst="rect">
            <a:avLst/>
          </a:prstGeom>
          <a:noFill/>
        </p:spPr>
        <p:txBody>
          <a:bodyPr wrap="square" rtlCol="0">
            <a:spAutoFit/>
          </a:bodyPr>
          <a:lstStyle/>
          <a:p>
            <a:pPr marL="457200" indent="-457200" algn="just">
              <a:lnSpc>
                <a:spcPct val="130000"/>
              </a:lnSpc>
              <a:spcBef>
                <a:spcPts val="600"/>
              </a:spcBef>
              <a:buFont typeface="Arial" panose="020B0604020202020204" pitchFamily="34" charset="0"/>
              <a:buChar char="•"/>
            </a:pPr>
            <a:r>
              <a:rPr lang="vi-VN" sz="2800">
                <a:latin typeface="Arial" panose="020B0604020202020204" pitchFamily="34" charset="0"/>
                <a:cs typeface="Arial" panose="020B0604020202020204" pitchFamily="34" charset="0"/>
              </a:rPr>
              <a:t>Hai camera là con của một đối tượng cha tên Head</a:t>
            </a:r>
            <a:r>
              <a:rPr lang="en-US" sz="2800">
                <a:latin typeface="Arial" panose="020B0604020202020204" pitchFamily="34" charset="0"/>
                <a:cs typeface="Arial" panose="020B0604020202020204" pitchFamily="34" charset="0"/>
              </a:rPr>
              <a:t>,</a:t>
            </a:r>
            <a:r>
              <a:rPr lang="vi-VN" sz="2800">
                <a:latin typeface="Arial" panose="020B0604020202020204" pitchFamily="34" charset="0"/>
                <a:cs typeface="Arial" panose="020B0604020202020204" pitchFamily="34" charset="0"/>
              </a:rPr>
              <a:t> điều khiển Head là điều khiển cả hai mắt.</a:t>
            </a:r>
          </a:p>
          <a:p>
            <a:pPr marL="457200" indent="-457200" algn="just">
              <a:lnSpc>
                <a:spcPct val="130000"/>
              </a:lnSpc>
              <a:spcBef>
                <a:spcPts val="600"/>
              </a:spcBef>
              <a:buFont typeface="Arial" panose="020B0604020202020204" pitchFamily="34" charset="0"/>
              <a:buChar char="•"/>
            </a:pPr>
            <a:r>
              <a:rPr lang="vi-VN" sz="2800">
                <a:latin typeface="Arial" panose="020B0604020202020204" pitchFamily="34" charset="0"/>
                <a:cs typeface="Arial" panose="020B0604020202020204" pitchFamily="34" charset="0"/>
              </a:rPr>
              <a:t>Mỗi camera chỉ nhìn mesh cầu của mắt mình (tách bằng layer).</a:t>
            </a:r>
          </a:p>
          <a:p>
            <a:pPr marL="457200" indent="-457200" algn="just">
              <a:lnSpc>
                <a:spcPct val="130000"/>
              </a:lnSpc>
              <a:spcBef>
                <a:spcPts val="600"/>
              </a:spcBef>
              <a:buFont typeface="Arial" panose="020B0604020202020204" pitchFamily="34" charset="0"/>
              <a:buChar char="•"/>
            </a:pPr>
            <a:r>
              <a:rPr lang="vi-VN" sz="2800">
                <a:latin typeface="Arial" panose="020B0604020202020204" pitchFamily="34" charset="0"/>
                <a:cs typeface="Arial" panose="020B0604020202020204" pitchFamily="34" charset="0"/>
              </a:rPr>
              <a:t>Độ lệch hai mắt (0,065 m) đã nằm sẵn trong cặp ảnh từ Blender, nên hai camera có thể đặt cùng một vị trí.</a:t>
            </a:r>
          </a:p>
          <a:p>
            <a:pPr marL="457200" indent="-457200" algn="just">
              <a:lnSpc>
                <a:spcPct val="130000"/>
              </a:lnSpc>
              <a:spcBef>
                <a:spcPts val="600"/>
              </a:spcBef>
              <a:buFont typeface="Arial" panose="020B0604020202020204" pitchFamily="34" charset="0"/>
              <a:buChar char="•"/>
            </a:pPr>
            <a:r>
              <a:rPr lang="vi-VN" sz="2800">
                <a:latin typeface="Arial" panose="020B0604020202020204" pitchFamily="34" charset="0"/>
                <a:cs typeface="Arial" panose="020B0604020202020204" pitchFamily="34" charset="0"/>
              </a:rPr>
              <a:t>Màn hình chia đôi: nửa trái cho mắt trái, nửa phải cho mắt phải.</a:t>
            </a:r>
          </a:p>
        </p:txBody>
      </p:sp>
      <p:sp>
        <p:nvSpPr>
          <p:cNvPr id="3" name="TextBox 2">
            <a:extLst>
              <a:ext uri="{FF2B5EF4-FFF2-40B4-BE49-F238E27FC236}">
                <a16:creationId xmlns:a16="http://schemas.microsoft.com/office/drawing/2014/main" id="{37424502-488E-0402-3AF4-61ACDC09E574}"/>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2.4 </a:t>
            </a:r>
            <a:r>
              <a:rPr lang="it-IT" sz="3200" b="1">
                <a:latin typeface="Arial" panose="020B0604020202020204" pitchFamily="34" charset="0"/>
                <a:cs typeface="Arial" panose="020B0604020202020204" pitchFamily="34" charset="0"/>
              </a:rPr>
              <a:t>Hai camera Stereo quan sát</a:t>
            </a:r>
            <a:endParaRPr lang="en-US" sz="3200" b="1">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238A8DD-DDB8-1573-CCA9-DD8919981B98}"/>
              </a:ext>
            </a:extLst>
          </p:cNvPr>
          <p:cNvPicPr>
            <a:picLocks noChangeAspect="1"/>
          </p:cNvPicPr>
          <p:nvPr/>
        </p:nvPicPr>
        <p:blipFill>
          <a:blip r:embed="rId4"/>
          <a:srcRect t="11795"/>
          <a:stretch>
            <a:fillRect/>
          </a:stretch>
        </p:blipFill>
        <p:spPr>
          <a:xfrm>
            <a:off x="733129" y="1423807"/>
            <a:ext cx="13321593" cy="6607673"/>
          </a:xfrm>
          <a:prstGeom prst="rect">
            <a:avLst/>
          </a:prstGeom>
        </p:spPr>
      </p:pic>
    </p:spTree>
    <p:extLst>
      <p:ext uri="{BB962C8B-B14F-4D97-AF65-F5344CB8AC3E}">
        <p14:creationId xmlns:p14="http://schemas.microsoft.com/office/powerpoint/2010/main" val="326436380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F2B5E-4C2F-BB53-9DFC-29231C50FC5F}"/>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147B02F6-461B-11A4-3009-9913A17F3884}"/>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60D19D86-0307-A1F8-03FF-CCE89774F0D3}"/>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24AE87FC-DF7D-0A75-A3E5-C7E85A3E60E4}"/>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BCE189E5-7CD6-AEFB-979A-35EB902BA86F}"/>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3</a:t>
            </a:r>
          </a:p>
        </p:txBody>
      </p:sp>
      <p:sp>
        <p:nvSpPr>
          <p:cNvPr id="44" name="TextBox 43">
            <a:extLst>
              <a:ext uri="{FF2B5EF4-FFF2-40B4-BE49-F238E27FC236}">
                <a16:creationId xmlns:a16="http://schemas.microsoft.com/office/drawing/2014/main" id="{F0800B6F-DAFB-8C83-5174-CF1EA6F37E0A}"/>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Kết quả và demo</a:t>
            </a:r>
          </a:p>
        </p:txBody>
      </p:sp>
      <p:pic>
        <p:nvPicPr>
          <p:cNvPr id="7" name="Picture 6">
            <a:extLst>
              <a:ext uri="{FF2B5EF4-FFF2-40B4-BE49-F238E27FC236}">
                <a16:creationId xmlns:a16="http://schemas.microsoft.com/office/drawing/2014/main" id="{19B320A7-52A0-E7EC-917B-520656706828}"/>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BD4DFE52-30CD-BC78-868F-F336BD8354EC}"/>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3.1 Đánh giá hiệu năng</a:t>
            </a:r>
          </a:p>
        </p:txBody>
      </p:sp>
      <p:graphicFrame>
        <p:nvGraphicFramePr>
          <p:cNvPr id="9" name="Table 8">
            <a:extLst>
              <a:ext uri="{FF2B5EF4-FFF2-40B4-BE49-F238E27FC236}">
                <a16:creationId xmlns:a16="http://schemas.microsoft.com/office/drawing/2014/main" id="{0AB89E6F-54B1-3635-B6E3-A3F67EA6D919}"/>
              </a:ext>
            </a:extLst>
          </p:cNvPr>
          <p:cNvGraphicFramePr>
            <a:graphicFrameLocks noGrp="1"/>
          </p:cNvGraphicFramePr>
          <p:nvPr>
            <p:extLst>
              <p:ext uri="{D42A27DB-BD31-4B8C-83A1-F6EECF244321}">
                <p14:modId xmlns:p14="http://schemas.microsoft.com/office/powerpoint/2010/main" val="1450834229"/>
              </p:ext>
            </p:extLst>
          </p:nvPr>
        </p:nvGraphicFramePr>
        <p:xfrm>
          <a:off x="457200" y="1737360"/>
          <a:ext cx="7246381" cy="4672584"/>
        </p:xfrm>
        <a:graphic>
          <a:graphicData uri="http://schemas.openxmlformats.org/drawingml/2006/table">
            <a:tbl>
              <a:tblPr firstRow="1" bandRow="1">
                <a:tableStyleId>{2D5ABB26-0587-4C30-8999-92F81FD0307C}</a:tableStyleId>
              </a:tblPr>
              <a:tblGrid>
                <a:gridCol w="2573615">
                  <a:extLst>
                    <a:ext uri="{9D8B030D-6E8A-4147-A177-3AD203B41FA5}">
                      <a16:colId xmlns:a16="http://schemas.microsoft.com/office/drawing/2014/main" val="1665524195"/>
                    </a:ext>
                  </a:extLst>
                </a:gridCol>
                <a:gridCol w="2450683">
                  <a:extLst>
                    <a:ext uri="{9D8B030D-6E8A-4147-A177-3AD203B41FA5}">
                      <a16:colId xmlns:a16="http://schemas.microsoft.com/office/drawing/2014/main" val="45777234"/>
                    </a:ext>
                  </a:extLst>
                </a:gridCol>
                <a:gridCol w="2222083">
                  <a:extLst>
                    <a:ext uri="{9D8B030D-6E8A-4147-A177-3AD203B41FA5}">
                      <a16:colId xmlns:a16="http://schemas.microsoft.com/office/drawing/2014/main" val="1395584922"/>
                    </a:ext>
                  </a:extLst>
                </a:gridCol>
              </a:tblGrid>
              <a:tr h="960120">
                <a:tc>
                  <a:txBody>
                    <a:bodyPr/>
                    <a:lstStyle/>
                    <a:p>
                      <a:pPr marL="0" algn="ctr">
                        <a:lnSpc>
                          <a:spcPct val="100000"/>
                        </a:lnSpc>
                        <a:spcBef>
                          <a:spcPts val="0"/>
                        </a:spcBef>
                        <a:buNone/>
                      </a:pPr>
                      <a:r>
                        <a:rPr lang="en-US" sz="2800" b="1" kern="100">
                          <a:solidFill>
                            <a:srgbClr val="FFFFFF"/>
                          </a:solidFill>
                          <a:effectLst/>
                        </a:rPr>
                        <a:t>Mức mesh </a:t>
                      </a:r>
                    </a:p>
                    <a:p>
                      <a:pPr marL="0" algn="ctr">
                        <a:lnSpc>
                          <a:spcPct val="100000"/>
                        </a:lnSpc>
                        <a:spcBef>
                          <a:spcPts val="0"/>
                        </a:spcBef>
                        <a:buNone/>
                      </a:pPr>
                      <a:r>
                        <a:rPr lang="en-US" sz="2800" b="1" kern="100">
                          <a:solidFill>
                            <a:srgbClr val="FFFFFF"/>
                          </a:solidFill>
                          <a:effectLst/>
                        </a:rPr>
                        <a:t>(cột × hàng)</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r">
                        <a:lnSpc>
                          <a:spcPct val="100000"/>
                        </a:lnSpc>
                        <a:spcBef>
                          <a:spcPts val="0"/>
                        </a:spcBef>
                        <a:buNone/>
                      </a:pPr>
                      <a:r>
                        <a:rPr lang="en-US" sz="2800" b="1" kern="100">
                          <a:solidFill>
                            <a:srgbClr val="FFFFFF"/>
                          </a:solidFill>
                          <a:effectLst/>
                        </a:rPr>
                        <a:t>Số đỉnh</a:t>
                      </a:r>
                      <a:endParaRPr lang="en-US" sz="2800" kern="100">
                        <a:effectLst/>
                        <a:latin typeface="Times New Roman" panose="02020603050405020304" pitchFamily="18" charset="0"/>
                        <a:ea typeface="Aptos" panose="020B0004020202020204" pitchFamily="34" charset="0"/>
                      </a:endParaRPr>
                    </a:p>
                  </a:txBody>
                  <a:tcPr marL="182880" marR="45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a:lnSpc>
                          <a:spcPct val="100000"/>
                        </a:lnSpc>
                        <a:spcBef>
                          <a:spcPts val="0"/>
                        </a:spcBef>
                        <a:buNone/>
                      </a:pPr>
                      <a:r>
                        <a:rPr lang="en-US" sz="2800" b="1" kern="100">
                          <a:solidFill>
                            <a:srgbClr val="FFFFFF"/>
                          </a:solidFill>
                          <a:effectLst/>
                        </a:rPr>
                        <a:t>FPS</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352062858"/>
                  </a:ext>
                </a:extLst>
              </a:tr>
              <a:tr h="530352">
                <a:tc>
                  <a:txBody>
                    <a:bodyPr/>
                    <a:lstStyle/>
                    <a:p>
                      <a:pPr marL="0" algn="ctr">
                        <a:lnSpc>
                          <a:spcPct val="100000"/>
                        </a:lnSpc>
                        <a:spcBef>
                          <a:spcPts val="0"/>
                        </a:spcBef>
                        <a:buNone/>
                      </a:pPr>
                      <a:r>
                        <a:rPr lang="en-US" sz="2800" kern="100">
                          <a:effectLst/>
                        </a:rPr>
                        <a:t>64 × 32</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r">
                        <a:lnSpc>
                          <a:spcPct val="100000"/>
                        </a:lnSpc>
                        <a:spcBef>
                          <a:spcPts val="0"/>
                        </a:spcBef>
                        <a:buNone/>
                      </a:pPr>
                      <a:r>
                        <a:rPr lang="en-US" sz="2800" kern="100">
                          <a:effectLst/>
                        </a:rPr>
                        <a:t>2 145</a:t>
                      </a:r>
                      <a:endParaRPr lang="en-US" sz="2800" kern="100">
                        <a:effectLst/>
                        <a:latin typeface="Times New Roman" panose="02020603050405020304" pitchFamily="18" charset="0"/>
                        <a:ea typeface="Aptos" panose="020B0004020202020204" pitchFamily="34" charset="0"/>
                      </a:endParaRPr>
                    </a:p>
                  </a:txBody>
                  <a:tcPr marL="182880" marR="45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a:lnSpc>
                          <a:spcPct val="100000"/>
                        </a:lnSpc>
                        <a:spcBef>
                          <a:spcPts val="0"/>
                        </a:spcBef>
                        <a:buNone/>
                      </a:pPr>
                      <a:r>
                        <a:rPr lang="en-US" sz="2800" kern="100">
                          <a:effectLst/>
                        </a:rPr>
                        <a:t>505 – 515</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75257225"/>
                  </a:ext>
                </a:extLst>
              </a:tr>
              <a:tr h="530352">
                <a:tc>
                  <a:txBody>
                    <a:bodyPr/>
                    <a:lstStyle/>
                    <a:p>
                      <a:pPr marL="0" algn="ctr">
                        <a:lnSpc>
                          <a:spcPct val="100000"/>
                        </a:lnSpc>
                        <a:spcBef>
                          <a:spcPts val="0"/>
                        </a:spcBef>
                        <a:buNone/>
                      </a:pPr>
                      <a:r>
                        <a:rPr lang="en-US" sz="2800" kern="100">
                          <a:effectLst/>
                        </a:rPr>
                        <a:t>128 × 64</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9F6"/>
                    </a:solidFill>
                  </a:tcPr>
                </a:tc>
                <a:tc>
                  <a:txBody>
                    <a:bodyPr/>
                    <a:lstStyle/>
                    <a:p>
                      <a:pPr marL="0" algn="r">
                        <a:lnSpc>
                          <a:spcPct val="100000"/>
                        </a:lnSpc>
                        <a:spcBef>
                          <a:spcPts val="0"/>
                        </a:spcBef>
                        <a:buNone/>
                      </a:pPr>
                      <a:r>
                        <a:rPr lang="en-US" sz="2800" kern="100">
                          <a:effectLst/>
                        </a:rPr>
                        <a:t>8 385</a:t>
                      </a:r>
                      <a:endParaRPr lang="en-US" sz="2800" kern="100">
                        <a:effectLst/>
                        <a:latin typeface="Times New Roman" panose="02020603050405020304" pitchFamily="18" charset="0"/>
                        <a:ea typeface="Aptos" panose="020B0004020202020204" pitchFamily="34" charset="0"/>
                      </a:endParaRPr>
                    </a:p>
                  </a:txBody>
                  <a:tcPr marL="182880" marR="45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9F6"/>
                    </a:solidFill>
                  </a:tcPr>
                </a:tc>
                <a:tc>
                  <a:txBody>
                    <a:bodyPr/>
                    <a:lstStyle/>
                    <a:p>
                      <a:pPr marL="0" algn="ctr">
                        <a:lnSpc>
                          <a:spcPct val="100000"/>
                        </a:lnSpc>
                        <a:spcBef>
                          <a:spcPts val="0"/>
                        </a:spcBef>
                        <a:buNone/>
                      </a:pPr>
                      <a:r>
                        <a:rPr lang="en-US" sz="2800" kern="100">
                          <a:effectLst/>
                        </a:rPr>
                        <a:t>500 – 515</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9F6"/>
                    </a:solidFill>
                  </a:tcPr>
                </a:tc>
                <a:extLst>
                  <a:ext uri="{0D108BD9-81ED-4DB2-BD59-A6C34878D82A}">
                    <a16:rowId xmlns:a16="http://schemas.microsoft.com/office/drawing/2014/main" val="495313423"/>
                  </a:ext>
                </a:extLst>
              </a:tr>
              <a:tr h="530352">
                <a:tc>
                  <a:txBody>
                    <a:bodyPr/>
                    <a:lstStyle/>
                    <a:p>
                      <a:pPr marL="0" algn="ctr">
                        <a:lnSpc>
                          <a:spcPct val="100000"/>
                        </a:lnSpc>
                        <a:spcBef>
                          <a:spcPts val="0"/>
                        </a:spcBef>
                        <a:buNone/>
                      </a:pPr>
                      <a:r>
                        <a:rPr lang="en-US" sz="2800" kern="100">
                          <a:effectLst/>
                        </a:rPr>
                        <a:t>256 × 128</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r">
                        <a:lnSpc>
                          <a:spcPct val="100000"/>
                        </a:lnSpc>
                        <a:spcBef>
                          <a:spcPts val="0"/>
                        </a:spcBef>
                        <a:buNone/>
                      </a:pPr>
                      <a:r>
                        <a:rPr lang="en-US" sz="2800" kern="100">
                          <a:effectLst/>
                        </a:rPr>
                        <a:t>33 153</a:t>
                      </a:r>
                      <a:endParaRPr lang="en-US" sz="2800" kern="100">
                        <a:effectLst/>
                        <a:latin typeface="Times New Roman" panose="02020603050405020304" pitchFamily="18" charset="0"/>
                        <a:ea typeface="Aptos" panose="020B0004020202020204" pitchFamily="34" charset="0"/>
                      </a:endParaRPr>
                    </a:p>
                  </a:txBody>
                  <a:tcPr marL="182880" marR="45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a:lnSpc>
                          <a:spcPct val="100000"/>
                        </a:lnSpc>
                        <a:spcBef>
                          <a:spcPts val="0"/>
                        </a:spcBef>
                        <a:buNone/>
                      </a:pPr>
                      <a:r>
                        <a:rPr lang="en-US" sz="2800" kern="100">
                          <a:effectLst/>
                        </a:rPr>
                        <a:t>450 – 500</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89095692"/>
                  </a:ext>
                </a:extLst>
              </a:tr>
              <a:tr h="530352">
                <a:tc>
                  <a:txBody>
                    <a:bodyPr/>
                    <a:lstStyle/>
                    <a:p>
                      <a:pPr marL="0" algn="ctr">
                        <a:lnSpc>
                          <a:spcPct val="100000"/>
                        </a:lnSpc>
                        <a:spcBef>
                          <a:spcPts val="0"/>
                        </a:spcBef>
                        <a:buNone/>
                      </a:pPr>
                      <a:r>
                        <a:rPr lang="en-US" sz="2800" kern="100">
                          <a:effectLst/>
                        </a:rPr>
                        <a:t>512 × 256</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9F6"/>
                    </a:solidFill>
                  </a:tcPr>
                </a:tc>
                <a:tc>
                  <a:txBody>
                    <a:bodyPr/>
                    <a:lstStyle/>
                    <a:p>
                      <a:pPr marL="0" algn="r">
                        <a:lnSpc>
                          <a:spcPct val="100000"/>
                        </a:lnSpc>
                        <a:spcBef>
                          <a:spcPts val="0"/>
                        </a:spcBef>
                        <a:buNone/>
                      </a:pPr>
                      <a:r>
                        <a:rPr lang="en-US" sz="2800" kern="100">
                          <a:effectLst/>
                        </a:rPr>
                        <a:t>131 841</a:t>
                      </a:r>
                      <a:endParaRPr lang="en-US" sz="2800" kern="100">
                        <a:effectLst/>
                        <a:latin typeface="Times New Roman" panose="02020603050405020304" pitchFamily="18" charset="0"/>
                        <a:ea typeface="Aptos" panose="020B0004020202020204" pitchFamily="34" charset="0"/>
                      </a:endParaRPr>
                    </a:p>
                  </a:txBody>
                  <a:tcPr marL="182880" marR="45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9F6"/>
                    </a:solidFill>
                  </a:tcPr>
                </a:tc>
                <a:tc>
                  <a:txBody>
                    <a:bodyPr/>
                    <a:lstStyle/>
                    <a:p>
                      <a:pPr marL="0" algn="ctr">
                        <a:lnSpc>
                          <a:spcPct val="100000"/>
                        </a:lnSpc>
                        <a:spcBef>
                          <a:spcPts val="0"/>
                        </a:spcBef>
                        <a:buNone/>
                      </a:pPr>
                      <a:r>
                        <a:rPr lang="en-US" sz="2800" kern="100">
                          <a:effectLst/>
                        </a:rPr>
                        <a:t>432 – 484</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9F6"/>
                    </a:solidFill>
                  </a:tcPr>
                </a:tc>
                <a:extLst>
                  <a:ext uri="{0D108BD9-81ED-4DB2-BD59-A6C34878D82A}">
                    <a16:rowId xmlns:a16="http://schemas.microsoft.com/office/drawing/2014/main" val="1981097204"/>
                  </a:ext>
                </a:extLst>
              </a:tr>
              <a:tr h="530352">
                <a:tc>
                  <a:txBody>
                    <a:bodyPr/>
                    <a:lstStyle/>
                    <a:p>
                      <a:pPr marL="0" algn="ctr">
                        <a:lnSpc>
                          <a:spcPct val="100000"/>
                        </a:lnSpc>
                        <a:spcBef>
                          <a:spcPts val="0"/>
                        </a:spcBef>
                        <a:buNone/>
                      </a:pPr>
                      <a:r>
                        <a:rPr lang="en-US" sz="2800" b="1" kern="100">
                          <a:solidFill>
                            <a:srgbClr val="FF0000"/>
                          </a:solidFill>
                          <a:effectLst/>
                        </a:rPr>
                        <a:t>1024 × 512</a:t>
                      </a:r>
                      <a:endParaRPr lang="en-US" sz="2800" b="1" kern="100">
                        <a:solidFill>
                          <a:srgbClr val="FF0000"/>
                        </a:solidFill>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ECEA"/>
                    </a:solidFill>
                  </a:tcPr>
                </a:tc>
                <a:tc>
                  <a:txBody>
                    <a:bodyPr/>
                    <a:lstStyle/>
                    <a:p>
                      <a:pPr marL="0" algn="r">
                        <a:lnSpc>
                          <a:spcPct val="100000"/>
                        </a:lnSpc>
                        <a:spcBef>
                          <a:spcPts val="0"/>
                        </a:spcBef>
                        <a:buNone/>
                      </a:pPr>
                      <a:r>
                        <a:rPr lang="en-US" sz="2800" b="1" kern="100">
                          <a:solidFill>
                            <a:srgbClr val="FF0000"/>
                          </a:solidFill>
                          <a:effectLst/>
                        </a:rPr>
                        <a:t>525 825</a:t>
                      </a:r>
                      <a:endParaRPr lang="en-US" sz="2800" b="1" kern="100">
                        <a:solidFill>
                          <a:srgbClr val="FF0000"/>
                        </a:solidFill>
                        <a:effectLst/>
                        <a:latin typeface="Times New Roman" panose="02020603050405020304" pitchFamily="18" charset="0"/>
                        <a:ea typeface="Aptos" panose="020B0004020202020204" pitchFamily="34" charset="0"/>
                      </a:endParaRPr>
                    </a:p>
                  </a:txBody>
                  <a:tcPr marL="182880" marR="45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ECEA"/>
                    </a:solidFill>
                  </a:tcPr>
                </a:tc>
                <a:tc>
                  <a:txBody>
                    <a:bodyPr/>
                    <a:lstStyle/>
                    <a:p>
                      <a:pPr marL="0" algn="ctr">
                        <a:lnSpc>
                          <a:spcPct val="100000"/>
                        </a:lnSpc>
                        <a:spcBef>
                          <a:spcPts val="0"/>
                        </a:spcBef>
                        <a:buNone/>
                      </a:pPr>
                      <a:r>
                        <a:rPr lang="en-US" sz="2800" b="1" kern="100">
                          <a:solidFill>
                            <a:srgbClr val="FF0000"/>
                          </a:solidFill>
                          <a:effectLst/>
                        </a:rPr>
                        <a:t>228 – 242</a:t>
                      </a:r>
                      <a:endParaRPr lang="en-US" sz="2800" b="1" kern="100">
                        <a:solidFill>
                          <a:srgbClr val="FF0000"/>
                        </a:solidFill>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ECEA"/>
                    </a:solidFill>
                  </a:tcPr>
                </a:tc>
                <a:extLst>
                  <a:ext uri="{0D108BD9-81ED-4DB2-BD59-A6C34878D82A}">
                    <a16:rowId xmlns:a16="http://schemas.microsoft.com/office/drawing/2014/main" val="1716084529"/>
                  </a:ext>
                </a:extLst>
              </a:tr>
              <a:tr h="530352">
                <a:tc>
                  <a:txBody>
                    <a:bodyPr/>
                    <a:lstStyle/>
                    <a:p>
                      <a:pPr marL="0" algn="ctr">
                        <a:lnSpc>
                          <a:spcPct val="100000"/>
                        </a:lnSpc>
                        <a:spcBef>
                          <a:spcPts val="0"/>
                        </a:spcBef>
                        <a:buNone/>
                      </a:pPr>
                      <a:r>
                        <a:rPr lang="en-US" sz="2800" kern="100">
                          <a:effectLst/>
                        </a:rPr>
                        <a:t>2048 × 1024</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9F6"/>
                    </a:solidFill>
                  </a:tcPr>
                </a:tc>
                <a:tc>
                  <a:txBody>
                    <a:bodyPr/>
                    <a:lstStyle/>
                    <a:p>
                      <a:pPr marL="0" algn="r">
                        <a:lnSpc>
                          <a:spcPct val="100000"/>
                        </a:lnSpc>
                        <a:spcBef>
                          <a:spcPts val="0"/>
                        </a:spcBef>
                        <a:buNone/>
                      </a:pPr>
                      <a:r>
                        <a:rPr lang="en-US" sz="2800" kern="100">
                          <a:effectLst/>
                        </a:rPr>
                        <a:t>2 100 225</a:t>
                      </a:r>
                      <a:endParaRPr lang="en-US" sz="2800" kern="100">
                        <a:effectLst/>
                        <a:latin typeface="Times New Roman" panose="02020603050405020304" pitchFamily="18" charset="0"/>
                        <a:ea typeface="Aptos" panose="020B0004020202020204" pitchFamily="34" charset="0"/>
                      </a:endParaRPr>
                    </a:p>
                  </a:txBody>
                  <a:tcPr marL="182880" marR="45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9F6"/>
                    </a:solidFill>
                  </a:tcPr>
                </a:tc>
                <a:tc>
                  <a:txBody>
                    <a:bodyPr/>
                    <a:lstStyle/>
                    <a:p>
                      <a:pPr marL="0" algn="ctr">
                        <a:lnSpc>
                          <a:spcPct val="100000"/>
                        </a:lnSpc>
                        <a:spcBef>
                          <a:spcPts val="0"/>
                        </a:spcBef>
                        <a:buNone/>
                      </a:pPr>
                      <a:r>
                        <a:rPr lang="en-US" sz="2800" kern="100">
                          <a:effectLst/>
                        </a:rPr>
                        <a:t>80 – 90</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9F6"/>
                    </a:solidFill>
                  </a:tcPr>
                </a:tc>
                <a:extLst>
                  <a:ext uri="{0D108BD9-81ED-4DB2-BD59-A6C34878D82A}">
                    <a16:rowId xmlns:a16="http://schemas.microsoft.com/office/drawing/2014/main" val="2154727312"/>
                  </a:ext>
                </a:extLst>
              </a:tr>
              <a:tr h="530352">
                <a:tc>
                  <a:txBody>
                    <a:bodyPr/>
                    <a:lstStyle/>
                    <a:p>
                      <a:pPr marL="0" algn="ctr">
                        <a:lnSpc>
                          <a:spcPct val="100000"/>
                        </a:lnSpc>
                        <a:spcBef>
                          <a:spcPts val="0"/>
                        </a:spcBef>
                        <a:buNone/>
                      </a:pPr>
                      <a:r>
                        <a:rPr lang="en-US" sz="2800" kern="100">
                          <a:effectLst/>
                        </a:rPr>
                        <a:t>4096 × 2048</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r">
                        <a:lnSpc>
                          <a:spcPct val="100000"/>
                        </a:lnSpc>
                        <a:spcBef>
                          <a:spcPts val="0"/>
                        </a:spcBef>
                        <a:buNone/>
                      </a:pPr>
                      <a:r>
                        <a:rPr lang="en-US" sz="2800" kern="100">
                          <a:effectLst/>
                        </a:rPr>
                        <a:t>8 394 753</a:t>
                      </a:r>
                      <a:endParaRPr lang="en-US" sz="2800" kern="100">
                        <a:effectLst/>
                        <a:latin typeface="Times New Roman" panose="02020603050405020304" pitchFamily="18" charset="0"/>
                        <a:ea typeface="Aptos" panose="020B0004020202020204" pitchFamily="34" charset="0"/>
                      </a:endParaRPr>
                    </a:p>
                  </a:txBody>
                  <a:tcPr marL="182880" marR="45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a:lnSpc>
                          <a:spcPct val="100000"/>
                        </a:lnSpc>
                        <a:spcBef>
                          <a:spcPts val="0"/>
                        </a:spcBef>
                        <a:buNone/>
                      </a:pPr>
                      <a:r>
                        <a:rPr lang="en-US" sz="2800" kern="100">
                          <a:effectLst/>
                        </a:rPr>
                        <a:t>20 – 24</a:t>
                      </a:r>
                      <a:endParaRPr lang="en-US" sz="2800" kern="100">
                        <a:effectLst/>
                        <a:latin typeface="Times New Roman" panose="02020603050405020304" pitchFamily="18" charset="0"/>
                        <a:ea typeface="Aptos" panose="020B0004020202020204" pitchFamily="34" charset="0"/>
                      </a:endParaRPr>
                    </a:p>
                  </a:txBody>
                  <a:tcPr marL="182880"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09416557"/>
                  </a:ext>
                </a:extLst>
              </a:tr>
            </a:tbl>
          </a:graphicData>
        </a:graphic>
      </p:graphicFrame>
      <p:sp>
        <p:nvSpPr>
          <p:cNvPr id="401" name="Card"/>
          <p:cNvSpPr/>
          <p:nvPr/>
        </p:nvSpPr>
        <p:spPr>
          <a:xfrm>
            <a:off x="8015045" y="1737360"/>
            <a:ext cx="6103858" cy="4672584"/>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274320" tIns="274320" rIns="274320" bIns="274320" rtlCol="0" anchor="ctr">
            <a:noAutofit/>
          </a:bodyPr>
          <a:lstStyle/>
          <a:p>
            <a:pPr marL="0" indent="0" algn="l">
              <a:lnSpc>
                <a:spcPct val="100000"/>
              </a:lnSpc>
              <a:spcBef>
                <a:spcPts val="0"/>
              </a:spcBef>
              <a:buNone/>
            </a:pPr>
            <a:r>
              <a:rPr lang="vi-VN" sz="2800" b="1">
                <a:solidFill>
                  <a:srgbClr val="0B7A3E"/>
                </a:solidFill>
                <a:latin typeface="Arial" panose="020B0604020202020204" pitchFamily="34" charset="0"/>
                <a:cs typeface="Arial" panose="020B0604020202020204" pitchFamily="34" charset="0"/>
              </a:rPr>
              <a:t>Máy đo</a:t>
            </a:r>
            <a:r>
              <a:rPr lang="vi-VN" sz="2800">
                <a:latin typeface="Arial" panose="020B0604020202020204" pitchFamily="34" charset="0"/>
                <a:cs typeface="Arial" panose="020B0604020202020204" pitchFamily="34" charset="0"/>
              </a:rPr>
              <a:t>: </a:t>
            </a:r>
            <a:endParaRPr lang="en-US" sz="2800">
              <a:latin typeface="Arial" panose="020B0604020202020204" pitchFamily="34" charset="0"/>
              <a:cs typeface="Arial" panose="020B0604020202020204" pitchFamily="34" charset="0"/>
            </a:endParaRPr>
          </a:p>
          <a:p>
            <a:pPr marL="457200" indent="-457200" algn="l">
              <a:lnSpc>
                <a:spcPct val="100000"/>
              </a:lnSpc>
              <a:spcBef>
                <a:spcPts val="0"/>
              </a:spcBef>
              <a:buFont typeface="Arial" panose="020B0604020202020204" pitchFamily="34" charset="0"/>
              <a:buChar char="•"/>
            </a:pPr>
            <a:r>
              <a:rPr lang="en-US" sz="2800">
                <a:latin typeface="Arial" panose="020B0604020202020204" pitchFamily="34" charset="0"/>
                <a:cs typeface="Arial" panose="020B0604020202020204" pitchFamily="34" charset="0"/>
              </a:rPr>
              <a:t>GPU</a:t>
            </a:r>
            <a:r>
              <a:rPr lang="vi-VN" sz="2800">
                <a:latin typeface="Arial" panose="020B0604020202020204" pitchFamily="34" charset="0"/>
                <a:cs typeface="Arial" panose="020B0604020202020204" pitchFamily="34" charset="0"/>
              </a:rPr>
              <a:t> RTX 4050</a:t>
            </a:r>
            <a:endParaRPr lang="en-US" sz="2800">
              <a:latin typeface="Arial" panose="020B0604020202020204" pitchFamily="34" charset="0"/>
              <a:cs typeface="Arial" panose="020B0604020202020204" pitchFamily="34" charset="0"/>
            </a:endParaRPr>
          </a:p>
          <a:p>
            <a:pPr marL="457200" indent="-457200" algn="l">
              <a:lnSpc>
                <a:spcPct val="100000"/>
              </a:lnSpc>
              <a:spcBef>
                <a:spcPts val="0"/>
              </a:spcBef>
              <a:buFont typeface="Arial" panose="020B0604020202020204" pitchFamily="34" charset="0"/>
              <a:buChar char="•"/>
            </a:pPr>
            <a:r>
              <a:rPr lang="vi-VN" sz="2800">
                <a:latin typeface="Arial" panose="020B0604020202020204" pitchFamily="34" charset="0"/>
                <a:cs typeface="Arial" panose="020B0604020202020204" pitchFamily="34" charset="0"/>
              </a:rPr>
              <a:t>Ryzen 5 7535HS</a:t>
            </a:r>
            <a:endParaRPr lang="en-US" sz="2800">
              <a:latin typeface="Arial" panose="020B0604020202020204" pitchFamily="34" charset="0"/>
              <a:cs typeface="Arial" panose="020B0604020202020204" pitchFamily="34" charset="0"/>
            </a:endParaRPr>
          </a:p>
          <a:p>
            <a:pPr marL="457200" indent="-457200" algn="l">
              <a:lnSpc>
                <a:spcPct val="100000"/>
              </a:lnSpc>
              <a:spcBef>
                <a:spcPts val="0"/>
              </a:spcBef>
              <a:buFont typeface="Arial" panose="020B0604020202020204" pitchFamily="34" charset="0"/>
              <a:buChar char="•"/>
            </a:pPr>
            <a:r>
              <a:rPr lang="vi-VN" sz="2800">
                <a:latin typeface="Arial" panose="020B0604020202020204" pitchFamily="34" charset="0"/>
                <a:cs typeface="Arial" panose="020B0604020202020204" pitchFamily="34" charset="0"/>
              </a:rPr>
              <a:t>16 GB RAM</a:t>
            </a:r>
            <a:endParaRPr lang="en-US" sz="2800">
              <a:latin typeface="Arial" panose="020B0604020202020204" pitchFamily="34" charset="0"/>
              <a:cs typeface="Arial" panose="020B0604020202020204" pitchFamily="34" charset="0"/>
            </a:endParaRPr>
          </a:p>
          <a:p>
            <a:pPr marL="457200" indent="-457200" algn="l">
              <a:lnSpc>
                <a:spcPct val="100000"/>
              </a:lnSpc>
              <a:spcBef>
                <a:spcPts val="0"/>
              </a:spcBef>
              <a:buFont typeface="Arial" panose="020B0604020202020204" pitchFamily="34" charset="0"/>
              <a:buChar char="•"/>
            </a:pPr>
            <a:r>
              <a:rPr lang="en-US" sz="2800">
                <a:latin typeface="Arial" panose="020B0604020202020204" pitchFamily="34" charset="0"/>
                <a:cs typeface="Arial" panose="020B0604020202020204" pitchFamily="34" charset="0"/>
              </a:rPr>
              <a:t>C</a:t>
            </a:r>
            <a:r>
              <a:rPr lang="vi-VN" sz="2800">
                <a:latin typeface="Arial" panose="020B0604020202020204" pitchFamily="34" charset="0"/>
                <a:cs typeface="Arial" panose="020B0604020202020204" pitchFamily="34" charset="0"/>
              </a:rPr>
              <a:t>ửa sổ 1920×1080.</a:t>
            </a:r>
            <a:endParaRPr lang="en-US" sz="2800">
              <a:latin typeface="Arial" panose="020B0604020202020204" pitchFamily="34" charset="0"/>
              <a:cs typeface="Arial" panose="020B0604020202020204" pitchFamily="34" charset="0"/>
            </a:endParaRPr>
          </a:p>
          <a:p>
            <a:pPr marL="457200" indent="-457200" algn="l">
              <a:lnSpc>
                <a:spcPct val="100000"/>
              </a:lnSpc>
              <a:spcBef>
                <a:spcPts val="0"/>
              </a:spcBef>
              <a:buFont typeface="Arial" panose="020B0604020202020204" pitchFamily="34" charset="0"/>
              <a:buChar char="•"/>
            </a:pPr>
            <a:r>
              <a:rPr lang="vi-VN" sz="2800">
                <a:latin typeface="Arial" panose="020B0604020202020204" pitchFamily="34" charset="0"/>
                <a:cs typeface="Arial" panose="020B0604020202020204" pitchFamily="34" charset="0"/>
              </a:rPr>
              <a:t>Đã tắt giới hạn FPS và V-Sync. </a:t>
            </a:r>
          </a:p>
        </p:txBody>
      </p:sp>
    </p:spTree>
    <p:extLst>
      <p:ext uri="{BB962C8B-B14F-4D97-AF65-F5344CB8AC3E}">
        <p14:creationId xmlns:p14="http://schemas.microsoft.com/office/powerpoint/2010/main" val="13828124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27663-62CB-7718-23E2-08D4E458C8E6}"/>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04EF6A47-F04C-0EED-BFE2-8A5C74922684}"/>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7242C831-9278-1F4B-838A-54ACB39F70BC}"/>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12FAE80C-E18D-CF45-C66F-10332C13F150}"/>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BE3B3828-0CE0-496D-517B-5A979B4BE6B7}"/>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3</a:t>
            </a:r>
          </a:p>
        </p:txBody>
      </p:sp>
      <p:sp>
        <p:nvSpPr>
          <p:cNvPr id="44" name="TextBox 43">
            <a:extLst>
              <a:ext uri="{FF2B5EF4-FFF2-40B4-BE49-F238E27FC236}">
                <a16:creationId xmlns:a16="http://schemas.microsoft.com/office/drawing/2014/main" id="{7472B40D-C7DF-F017-D4E0-6E070E93A2A4}"/>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Kết quả và demo</a:t>
            </a:r>
          </a:p>
        </p:txBody>
      </p:sp>
      <p:pic>
        <p:nvPicPr>
          <p:cNvPr id="7" name="Picture 6">
            <a:extLst>
              <a:ext uri="{FF2B5EF4-FFF2-40B4-BE49-F238E27FC236}">
                <a16:creationId xmlns:a16="http://schemas.microsoft.com/office/drawing/2014/main" id="{CC6BEF9B-20C8-179B-A72A-B5CE3098CBB6}"/>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0C3B4BEB-91F5-EE5E-52CC-00CEEBD25EE2}"/>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3.1 Đánh giá hiệu năng</a:t>
            </a:r>
          </a:p>
        </p:txBody>
      </p:sp>
      <p:graphicFrame>
        <p:nvGraphicFramePr>
          <p:cNvPr id="9" name="Table 8">
            <a:extLst>
              <a:ext uri="{FF2B5EF4-FFF2-40B4-BE49-F238E27FC236}">
                <a16:creationId xmlns:a16="http://schemas.microsoft.com/office/drawing/2014/main" id="{7E199BF1-9D24-DE68-CB49-2E5FDDA074B0}"/>
              </a:ext>
            </a:extLst>
          </p:cNvPr>
          <p:cNvGraphicFramePr>
            <a:graphicFrameLocks noGrp="1"/>
          </p:cNvGraphicFramePr>
          <p:nvPr>
            <p:extLst>
              <p:ext uri="{D42A27DB-BD31-4B8C-83A1-F6EECF244321}">
                <p14:modId xmlns:p14="http://schemas.microsoft.com/office/powerpoint/2010/main" val="1589376160"/>
              </p:ext>
            </p:extLst>
          </p:nvPr>
        </p:nvGraphicFramePr>
        <p:xfrm>
          <a:off x="457200" y="1737360"/>
          <a:ext cx="7246381" cy="4672584"/>
        </p:xfrm>
        <a:graphic>
          <a:graphicData uri="http://schemas.openxmlformats.org/drawingml/2006/table">
            <a:tbl>
              <a:tblPr firstRow="1" bandRow="1">
                <a:tableStyleId>{2D5ABB26-0587-4C30-8999-92F81FD0307C}</a:tableStyleId>
              </a:tblPr>
              <a:tblGrid>
                <a:gridCol w="2573615">
                  <a:extLst>
                    <a:ext uri="{9D8B030D-6E8A-4147-A177-3AD203B41FA5}">
                      <a16:colId xmlns:a16="http://schemas.microsoft.com/office/drawing/2014/main" val="1665524195"/>
                    </a:ext>
                  </a:extLst>
                </a:gridCol>
                <a:gridCol w="2450683">
                  <a:extLst>
                    <a:ext uri="{9D8B030D-6E8A-4147-A177-3AD203B41FA5}">
                      <a16:colId xmlns:a16="http://schemas.microsoft.com/office/drawing/2014/main" val="45777234"/>
                    </a:ext>
                  </a:extLst>
                </a:gridCol>
                <a:gridCol w="2222083">
                  <a:extLst>
                    <a:ext uri="{9D8B030D-6E8A-4147-A177-3AD203B41FA5}">
                      <a16:colId xmlns:a16="http://schemas.microsoft.com/office/drawing/2014/main" val="1395584922"/>
                    </a:ext>
                  </a:extLst>
                </a:gridCol>
              </a:tblGrid>
              <a:tr h="960120">
                <a:tc>
                  <a:txBody>
                    <a:bodyPr/>
                    <a:lstStyle/>
                    <a:p>
                      <a:pPr marL="0" algn="ctr">
                        <a:lnSpc>
                          <a:spcPct val="100000"/>
                        </a:lnSpc>
                        <a:spcBef>
                          <a:spcPts val="0"/>
                        </a:spcBef>
                        <a:buNone/>
                      </a:pPr>
                      <a:r>
                        <a:rPr lang="en-US" sz="2800" b="1" kern="100">
                          <a:solidFill>
                            <a:srgbClr val="FFFFFF"/>
                          </a:solidFill>
                          <a:effectLst/>
                        </a:rPr>
                        <a:t>Mức mesh </a:t>
                      </a:r>
                    </a:p>
                    <a:p>
                      <a:pPr marL="0" algn="ctr">
                        <a:lnSpc>
                          <a:spcPct val="100000"/>
                        </a:lnSpc>
                        <a:spcBef>
                          <a:spcPts val="0"/>
                        </a:spcBef>
                        <a:buNone/>
                      </a:pPr>
                      <a:r>
                        <a:rPr lang="en-US" sz="2800" b="1" kern="100">
                          <a:solidFill>
                            <a:srgbClr val="FFFFFF"/>
                          </a:solidFill>
                          <a:effectLst/>
                        </a:rPr>
                        <a:t>(cột × hàng)</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0">
                      <a:noFill/>
                    </a:lnT>
                    <a:lnB w="9525">
                      <a:solidFill>
                        <a:srgbClr val="CFDDD4"/>
                      </a:solidFill>
                    </a:lnB>
                    <a:solidFill>
                      <a:srgbClr val="00B050"/>
                    </a:solidFill>
                  </a:tcPr>
                </a:tc>
                <a:tc>
                  <a:txBody>
                    <a:bodyPr/>
                    <a:lstStyle/>
                    <a:p>
                      <a:pPr marL="0" algn="r">
                        <a:lnSpc>
                          <a:spcPct val="100000"/>
                        </a:lnSpc>
                        <a:spcBef>
                          <a:spcPts val="0"/>
                        </a:spcBef>
                        <a:buNone/>
                      </a:pPr>
                      <a:r>
                        <a:rPr lang="en-US" sz="2800" b="1" kern="100">
                          <a:solidFill>
                            <a:srgbClr val="FFFFFF"/>
                          </a:solidFill>
                          <a:effectLst/>
                        </a:rPr>
                        <a:t>Số đỉnh</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0">
                      <a:noFill/>
                    </a:lnT>
                    <a:lnB w="9525">
                      <a:solidFill>
                        <a:srgbClr val="CFDDD4"/>
                      </a:solidFill>
                    </a:lnB>
                    <a:solidFill>
                      <a:srgbClr val="00B050"/>
                    </a:solidFill>
                  </a:tcPr>
                </a:tc>
                <a:tc>
                  <a:txBody>
                    <a:bodyPr/>
                    <a:lstStyle/>
                    <a:p>
                      <a:pPr marL="0" algn="ctr">
                        <a:lnSpc>
                          <a:spcPct val="100000"/>
                        </a:lnSpc>
                        <a:spcBef>
                          <a:spcPts val="0"/>
                        </a:spcBef>
                        <a:buNone/>
                      </a:pPr>
                      <a:r>
                        <a:rPr lang="en-US" sz="2800" b="1" kern="100">
                          <a:solidFill>
                            <a:srgbClr val="FFFFFF"/>
                          </a:solidFill>
                          <a:effectLst/>
                        </a:rPr>
                        <a:t>FPS</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0">
                      <a:noFill/>
                    </a:lnT>
                    <a:lnB w="9525">
                      <a:solidFill>
                        <a:srgbClr val="CFDDD4"/>
                      </a:solidFill>
                    </a:lnB>
                    <a:solidFill>
                      <a:srgbClr val="00B050"/>
                    </a:solidFill>
                  </a:tcPr>
                </a:tc>
                <a:extLst>
                  <a:ext uri="{0D108BD9-81ED-4DB2-BD59-A6C34878D82A}">
                    <a16:rowId xmlns:a16="http://schemas.microsoft.com/office/drawing/2014/main" val="1352062858"/>
                  </a:ext>
                </a:extLst>
              </a:tr>
              <a:tr h="530352">
                <a:tc>
                  <a:txBody>
                    <a:bodyPr/>
                    <a:lstStyle/>
                    <a:p>
                      <a:pPr marL="0" algn="ctr">
                        <a:lnSpc>
                          <a:spcPct val="100000"/>
                        </a:lnSpc>
                        <a:spcBef>
                          <a:spcPts val="0"/>
                        </a:spcBef>
                        <a:buNone/>
                      </a:pPr>
                      <a:r>
                        <a:rPr lang="en-US" sz="2800" kern="100">
                          <a:effectLst/>
                        </a:rPr>
                        <a:t>64 × 32</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r">
                        <a:lnSpc>
                          <a:spcPct val="100000"/>
                        </a:lnSpc>
                        <a:spcBef>
                          <a:spcPts val="0"/>
                        </a:spcBef>
                        <a:buNone/>
                      </a:pPr>
                      <a:r>
                        <a:rPr lang="en-US" sz="2800" kern="100">
                          <a:effectLst/>
                        </a:rPr>
                        <a:t>2 145</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ctr">
                        <a:lnSpc>
                          <a:spcPct val="100000"/>
                        </a:lnSpc>
                        <a:spcBef>
                          <a:spcPts val="0"/>
                        </a:spcBef>
                        <a:buNone/>
                      </a:pPr>
                      <a:r>
                        <a:rPr lang="en-US" sz="2800" kern="100">
                          <a:effectLst/>
                        </a:rPr>
                        <a:t>505 – 515</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extLst>
                  <a:ext uri="{0D108BD9-81ED-4DB2-BD59-A6C34878D82A}">
                    <a16:rowId xmlns:a16="http://schemas.microsoft.com/office/drawing/2014/main" val="4275257225"/>
                  </a:ext>
                </a:extLst>
              </a:tr>
              <a:tr h="530352">
                <a:tc>
                  <a:txBody>
                    <a:bodyPr/>
                    <a:lstStyle/>
                    <a:p>
                      <a:pPr marL="0" algn="ctr">
                        <a:lnSpc>
                          <a:spcPct val="100000"/>
                        </a:lnSpc>
                        <a:spcBef>
                          <a:spcPts val="0"/>
                        </a:spcBef>
                        <a:buNone/>
                      </a:pPr>
                      <a:r>
                        <a:rPr lang="en-US" sz="2800" kern="100">
                          <a:effectLst/>
                        </a:rPr>
                        <a:t>128 × 64</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r">
                        <a:lnSpc>
                          <a:spcPct val="100000"/>
                        </a:lnSpc>
                        <a:spcBef>
                          <a:spcPts val="0"/>
                        </a:spcBef>
                        <a:buNone/>
                      </a:pPr>
                      <a:r>
                        <a:rPr lang="en-US" sz="2800" kern="100">
                          <a:effectLst/>
                        </a:rPr>
                        <a:t>8 385</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ctr">
                        <a:lnSpc>
                          <a:spcPct val="100000"/>
                        </a:lnSpc>
                        <a:spcBef>
                          <a:spcPts val="0"/>
                        </a:spcBef>
                        <a:buNone/>
                      </a:pPr>
                      <a:r>
                        <a:rPr lang="en-US" sz="2800" kern="100">
                          <a:effectLst/>
                        </a:rPr>
                        <a:t>500 – 515</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extLst>
                  <a:ext uri="{0D108BD9-81ED-4DB2-BD59-A6C34878D82A}">
                    <a16:rowId xmlns:a16="http://schemas.microsoft.com/office/drawing/2014/main" val="495313423"/>
                  </a:ext>
                </a:extLst>
              </a:tr>
              <a:tr h="530352">
                <a:tc>
                  <a:txBody>
                    <a:bodyPr/>
                    <a:lstStyle/>
                    <a:p>
                      <a:pPr marL="0" algn="ctr">
                        <a:lnSpc>
                          <a:spcPct val="100000"/>
                        </a:lnSpc>
                        <a:spcBef>
                          <a:spcPts val="0"/>
                        </a:spcBef>
                        <a:buNone/>
                      </a:pPr>
                      <a:r>
                        <a:rPr lang="en-US" sz="2800" kern="100">
                          <a:effectLst/>
                        </a:rPr>
                        <a:t>256 × 128</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r">
                        <a:lnSpc>
                          <a:spcPct val="100000"/>
                        </a:lnSpc>
                        <a:spcBef>
                          <a:spcPts val="0"/>
                        </a:spcBef>
                        <a:buNone/>
                      </a:pPr>
                      <a:r>
                        <a:rPr lang="en-US" sz="2800" kern="100">
                          <a:effectLst/>
                        </a:rPr>
                        <a:t>33 153</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ctr">
                        <a:lnSpc>
                          <a:spcPct val="100000"/>
                        </a:lnSpc>
                        <a:spcBef>
                          <a:spcPts val="0"/>
                        </a:spcBef>
                        <a:buNone/>
                      </a:pPr>
                      <a:r>
                        <a:rPr lang="en-US" sz="2800" kern="100">
                          <a:effectLst/>
                        </a:rPr>
                        <a:t>450 – 500</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extLst>
                  <a:ext uri="{0D108BD9-81ED-4DB2-BD59-A6C34878D82A}">
                    <a16:rowId xmlns:a16="http://schemas.microsoft.com/office/drawing/2014/main" val="2789095692"/>
                  </a:ext>
                </a:extLst>
              </a:tr>
              <a:tr h="530352">
                <a:tc>
                  <a:txBody>
                    <a:bodyPr/>
                    <a:lstStyle/>
                    <a:p>
                      <a:pPr marL="0" algn="ctr">
                        <a:lnSpc>
                          <a:spcPct val="100000"/>
                        </a:lnSpc>
                        <a:spcBef>
                          <a:spcPts val="0"/>
                        </a:spcBef>
                        <a:buNone/>
                      </a:pPr>
                      <a:r>
                        <a:rPr lang="en-US" sz="2800" kern="100">
                          <a:effectLst/>
                        </a:rPr>
                        <a:t>512 × 256</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r">
                        <a:lnSpc>
                          <a:spcPct val="100000"/>
                        </a:lnSpc>
                        <a:spcBef>
                          <a:spcPts val="0"/>
                        </a:spcBef>
                        <a:buNone/>
                      </a:pPr>
                      <a:r>
                        <a:rPr lang="en-US" sz="2800" kern="100">
                          <a:effectLst/>
                        </a:rPr>
                        <a:t>131 841</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ctr">
                        <a:lnSpc>
                          <a:spcPct val="100000"/>
                        </a:lnSpc>
                        <a:spcBef>
                          <a:spcPts val="0"/>
                        </a:spcBef>
                        <a:buNone/>
                      </a:pPr>
                      <a:r>
                        <a:rPr lang="en-US" sz="2800" kern="100">
                          <a:effectLst/>
                        </a:rPr>
                        <a:t>432 – 484</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extLst>
                  <a:ext uri="{0D108BD9-81ED-4DB2-BD59-A6C34878D82A}">
                    <a16:rowId xmlns:a16="http://schemas.microsoft.com/office/drawing/2014/main" val="1981097204"/>
                  </a:ext>
                </a:extLst>
              </a:tr>
              <a:tr h="530352">
                <a:tc>
                  <a:txBody>
                    <a:bodyPr/>
                    <a:lstStyle/>
                    <a:p>
                      <a:pPr marL="0" algn="ctr">
                        <a:lnSpc>
                          <a:spcPct val="100000"/>
                        </a:lnSpc>
                        <a:spcBef>
                          <a:spcPts val="0"/>
                        </a:spcBef>
                        <a:buNone/>
                      </a:pPr>
                      <a:r>
                        <a:rPr lang="en-US" sz="2800" b="1" kern="100">
                          <a:solidFill>
                            <a:srgbClr val="FF0000"/>
                          </a:solidFill>
                          <a:effectLst/>
                        </a:rPr>
                        <a:t>1024 × 512</a:t>
                      </a:r>
                      <a:endParaRPr lang="en-US" sz="2800" b="1" kern="100">
                        <a:solidFill>
                          <a:srgbClr val="FF0000"/>
                        </a:solidFill>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DECEA"/>
                    </a:solidFill>
                  </a:tcPr>
                </a:tc>
                <a:tc>
                  <a:txBody>
                    <a:bodyPr/>
                    <a:lstStyle/>
                    <a:p>
                      <a:pPr marL="0" algn="r">
                        <a:lnSpc>
                          <a:spcPct val="100000"/>
                        </a:lnSpc>
                        <a:spcBef>
                          <a:spcPts val="0"/>
                        </a:spcBef>
                        <a:buNone/>
                      </a:pPr>
                      <a:r>
                        <a:rPr lang="en-US" sz="2800" b="1" kern="100">
                          <a:solidFill>
                            <a:srgbClr val="FF0000"/>
                          </a:solidFill>
                          <a:effectLst/>
                        </a:rPr>
                        <a:t>525 825</a:t>
                      </a:r>
                      <a:endParaRPr lang="en-US" sz="2800" b="1" kern="100">
                        <a:solidFill>
                          <a:srgbClr val="FF0000"/>
                        </a:solidFill>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DECEA"/>
                    </a:solidFill>
                  </a:tcPr>
                </a:tc>
                <a:tc>
                  <a:txBody>
                    <a:bodyPr/>
                    <a:lstStyle/>
                    <a:p>
                      <a:pPr marL="0" algn="ctr">
                        <a:lnSpc>
                          <a:spcPct val="100000"/>
                        </a:lnSpc>
                        <a:spcBef>
                          <a:spcPts val="0"/>
                        </a:spcBef>
                        <a:buNone/>
                      </a:pPr>
                      <a:r>
                        <a:rPr lang="en-US" sz="2800" b="1" kern="100">
                          <a:solidFill>
                            <a:srgbClr val="FF0000"/>
                          </a:solidFill>
                          <a:effectLst/>
                        </a:rPr>
                        <a:t>228 – 242</a:t>
                      </a:r>
                      <a:endParaRPr lang="en-US" sz="2800" b="1" kern="100">
                        <a:solidFill>
                          <a:srgbClr val="FF0000"/>
                        </a:solidFill>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DECEA"/>
                    </a:solidFill>
                  </a:tcPr>
                </a:tc>
                <a:extLst>
                  <a:ext uri="{0D108BD9-81ED-4DB2-BD59-A6C34878D82A}">
                    <a16:rowId xmlns:a16="http://schemas.microsoft.com/office/drawing/2014/main" val="1716084529"/>
                  </a:ext>
                </a:extLst>
              </a:tr>
              <a:tr h="530352">
                <a:tc>
                  <a:txBody>
                    <a:bodyPr/>
                    <a:lstStyle/>
                    <a:p>
                      <a:pPr marL="0" algn="ctr">
                        <a:lnSpc>
                          <a:spcPct val="100000"/>
                        </a:lnSpc>
                        <a:spcBef>
                          <a:spcPts val="0"/>
                        </a:spcBef>
                        <a:buNone/>
                      </a:pPr>
                      <a:r>
                        <a:rPr lang="en-US" sz="2800" kern="100">
                          <a:effectLst/>
                        </a:rPr>
                        <a:t>2048 × 1024</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r">
                        <a:lnSpc>
                          <a:spcPct val="100000"/>
                        </a:lnSpc>
                        <a:spcBef>
                          <a:spcPts val="0"/>
                        </a:spcBef>
                        <a:buNone/>
                      </a:pPr>
                      <a:r>
                        <a:rPr lang="en-US" sz="2800" kern="100">
                          <a:effectLst/>
                        </a:rPr>
                        <a:t>2 100 225</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ctr">
                        <a:lnSpc>
                          <a:spcPct val="100000"/>
                        </a:lnSpc>
                        <a:spcBef>
                          <a:spcPts val="0"/>
                        </a:spcBef>
                        <a:buNone/>
                      </a:pPr>
                      <a:r>
                        <a:rPr lang="en-US" sz="2800" kern="100">
                          <a:effectLst/>
                        </a:rPr>
                        <a:t>80 – 90</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extLst>
                  <a:ext uri="{0D108BD9-81ED-4DB2-BD59-A6C34878D82A}">
                    <a16:rowId xmlns:a16="http://schemas.microsoft.com/office/drawing/2014/main" val="2154727312"/>
                  </a:ext>
                </a:extLst>
              </a:tr>
              <a:tr h="530352">
                <a:tc>
                  <a:txBody>
                    <a:bodyPr/>
                    <a:lstStyle/>
                    <a:p>
                      <a:pPr marL="0" algn="ctr">
                        <a:lnSpc>
                          <a:spcPct val="100000"/>
                        </a:lnSpc>
                        <a:spcBef>
                          <a:spcPts val="0"/>
                        </a:spcBef>
                        <a:buNone/>
                      </a:pPr>
                      <a:r>
                        <a:rPr lang="en-US" sz="2800" kern="100">
                          <a:effectLst/>
                        </a:rPr>
                        <a:t>4096 × 2048</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r">
                        <a:lnSpc>
                          <a:spcPct val="100000"/>
                        </a:lnSpc>
                        <a:spcBef>
                          <a:spcPts val="0"/>
                        </a:spcBef>
                        <a:buNone/>
                      </a:pPr>
                      <a:r>
                        <a:rPr lang="en-US" sz="2800" kern="100">
                          <a:effectLst/>
                        </a:rPr>
                        <a:t>8 394 753</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ctr">
                        <a:lnSpc>
                          <a:spcPct val="100000"/>
                        </a:lnSpc>
                        <a:spcBef>
                          <a:spcPts val="0"/>
                        </a:spcBef>
                        <a:buNone/>
                      </a:pPr>
                      <a:r>
                        <a:rPr lang="en-US" sz="2800" kern="100">
                          <a:effectLst/>
                        </a:rPr>
                        <a:t>20 – 24</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extLst>
                  <a:ext uri="{0D108BD9-81ED-4DB2-BD59-A6C34878D82A}">
                    <a16:rowId xmlns:a16="http://schemas.microsoft.com/office/drawing/2014/main" val="3709416557"/>
                  </a:ext>
                </a:extLst>
              </a:tr>
            </a:tbl>
          </a:graphicData>
        </a:graphic>
      </p:graphicFrame>
      <p:sp>
        <p:nvSpPr>
          <p:cNvPr id="401" name="Card"/>
          <p:cNvSpPr/>
          <p:nvPr/>
        </p:nvSpPr>
        <p:spPr>
          <a:xfrm>
            <a:off x="8069342" y="1737360"/>
            <a:ext cx="6103858" cy="4672584"/>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274320" tIns="274320" rIns="274320" bIns="274320" rtlCol="0" anchor="t">
            <a:noAutofit/>
          </a:bodyPr>
          <a:lstStyle/>
          <a:p>
            <a:pPr marL="0" indent="0" algn="l">
              <a:lnSpc>
                <a:spcPct val="100000"/>
              </a:lnSpc>
              <a:spcBef>
                <a:spcPts val="0"/>
              </a:spcBef>
              <a:buNone/>
            </a:pPr>
            <a:r>
              <a:rPr lang="vi-VN" sz="2800" b="1">
                <a:solidFill>
                  <a:srgbClr val="0B7A3E"/>
                </a:solidFill>
                <a:cs typeface="Arial" panose="020B0604020202020204" pitchFamily="34" charset="0"/>
              </a:rPr>
              <a:t>Nhận xét:</a:t>
            </a:r>
          </a:p>
          <a:p>
            <a:pPr marL="342900" indent="-342900" algn="l">
              <a:lnSpc>
                <a:spcPct val="100000"/>
              </a:lnSpc>
              <a:spcBef>
                <a:spcPts val="1000"/>
              </a:spcBef>
              <a:buFont typeface="Arial"/>
              <a:buChar char="•"/>
            </a:pPr>
            <a:r>
              <a:rPr lang="vi-VN" sz="2800">
                <a:cs typeface="Arial" panose="020B0604020202020204" pitchFamily="34" charset="0"/>
              </a:rPr>
              <a:t>Mesh càng mịn thì số đỉnh càng nhiều và FPS càng giảm.</a:t>
            </a:r>
          </a:p>
          <a:p>
            <a:pPr marL="342900" indent="-342900" algn="l">
              <a:lnSpc>
                <a:spcPct val="100000"/>
              </a:lnSpc>
              <a:spcBef>
                <a:spcPts val="1000"/>
              </a:spcBef>
              <a:buFont typeface="Arial"/>
              <a:buChar char="•"/>
            </a:pPr>
            <a:r>
              <a:rPr lang="vi-VN" sz="2800">
                <a:cs typeface="Arial" panose="020B0604020202020204" pitchFamily="34" charset="0"/>
              </a:rPr>
              <a:t>Chọn 1024×512 vì đây là mức mịn nhất mà FPS vẫn cao hơn nhiều so với ngưỡng 90 FPS của VR (khoảng 2,5 lần).</a:t>
            </a:r>
          </a:p>
        </p:txBody>
      </p:sp>
    </p:spTree>
    <p:extLst>
      <p:ext uri="{BB962C8B-B14F-4D97-AF65-F5344CB8AC3E}">
        <p14:creationId xmlns:p14="http://schemas.microsoft.com/office/powerpoint/2010/main" val="87742834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6F637-413A-F879-3FDF-3C93626C7C44}"/>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E02842F7-2D2B-2885-3C54-E12EC74CB59A}"/>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A501DA6D-B070-EB92-7D73-B12E30A78DAD}"/>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74350422-33E6-EE9D-93E3-CA8EC30E838C}"/>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273DA98B-7B40-8392-E0AD-68251EDFBBEA}"/>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3</a:t>
            </a:r>
          </a:p>
        </p:txBody>
      </p:sp>
      <p:sp>
        <p:nvSpPr>
          <p:cNvPr id="44" name="TextBox 43">
            <a:extLst>
              <a:ext uri="{FF2B5EF4-FFF2-40B4-BE49-F238E27FC236}">
                <a16:creationId xmlns:a16="http://schemas.microsoft.com/office/drawing/2014/main" id="{18FA3F83-9416-6C03-5551-2CA771967C83}"/>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Kết quả và demo</a:t>
            </a:r>
          </a:p>
        </p:txBody>
      </p:sp>
      <p:pic>
        <p:nvPicPr>
          <p:cNvPr id="7" name="Picture 6">
            <a:extLst>
              <a:ext uri="{FF2B5EF4-FFF2-40B4-BE49-F238E27FC236}">
                <a16:creationId xmlns:a16="http://schemas.microsoft.com/office/drawing/2014/main" id="{AE1304CA-02AD-2181-BD1D-AB1A2C1A0D4B}"/>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5108D3E7-AD5A-487C-012F-9D148E6CB621}"/>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3.1 Đánh giá hiệu năng</a:t>
            </a:r>
          </a:p>
        </p:txBody>
      </p:sp>
      <p:graphicFrame>
        <p:nvGraphicFramePr>
          <p:cNvPr id="9" name="Table 8">
            <a:extLst>
              <a:ext uri="{FF2B5EF4-FFF2-40B4-BE49-F238E27FC236}">
                <a16:creationId xmlns:a16="http://schemas.microsoft.com/office/drawing/2014/main" id="{4AFE963C-676C-4560-A2EF-D640A33940FC}"/>
              </a:ext>
            </a:extLst>
          </p:cNvPr>
          <p:cNvGraphicFramePr>
            <a:graphicFrameLocks noGrp="1"/>
          </p:cNvGraphicFramePr>
          <p:nvPr/>
        </p:nvGraphicFramePr>
        <p:xfrm>
          <a:off x="457200" y="1737360"/>
          <a:ext cx="7246381" cy="4672584"/>
        </p:xfrm>
        <a:graphic>
          <a:graphicData uri="http://schemas.openxmlformats.org/drawingml/2006/table">
            <a:tbl>
              <a:tblPr firstRow="1" bandRow="1">
                <a:tableStyleId>{2D5ABB26-0587-4C30-8999-92F81FD0307C}</a:tableStyleId>
              </a:tblPr>
              <a:tblGrid>
                <a:gridCol w="2573615">
                  <a:extLst>
                    <a:ext uri="{9D8B030D-6E8A-4147-A177-3AD203B41FA5}">
                      <a16:colId xmlns:a16="http://schemas.microsoft.com/office/drawing/2014/main" val="1665524195"/>
                    </a:ext>
                  </a:extLst>
                </a:gridCol>
                <a:gridCol w="2450683">
                  <a:extLst>
                    <a:ext uri="{9D8B030D-6E8A-4147-A177-3AD203B41FA5}">
                      <a16:colId xmlns:a16="http://schemas.microsoft.com/office/drawing/2014/main" val="45777234"/>
                    </a:ext>
                  </a:extLst>
                </a:gridCol>
                <a:gridCol w="2222083">
                  <a:extLst>
                    <a:ext uri="{9D8B030D-6E8A-4147-A177-3AD203B41FA5}">
                      <a16:colId xmlns:a16="http://schemas.microsoft.com/office/drawing/2014/main" val="1395584922"/>
                    </a:ext>
                  </a:extLst>
                </a:gridCol>
              </a:tblGrid>
              <a:tr h="960120">
                <a:tc>
                  <a:txBody>
                    <a:bodyPr/>
                    <a:lstStyle/>
                    <a:p>
                      <a:pPr marL="0" algn="ctr">
                        <a:lnSpc>
                          <a:spcPct val="100000"/>
                        </a:lnSpc>
                        <a:spcBef>
                          <a:spcPts val="0"/>
                        </a:spcBef>
                        <a:buNone/>
                      </a:pPr>
                      <a:r>
                        <a:rPr lang="en-US" sz="2800" b="1" kern="100">
                          <a:solidFill>
                            <a:srgbClr val="FFFFFF"/>
                          </a:solidFill>
                          <a:effectLst/>
                        </a:rPr>
                        <a:t>Mức mesh </a:t>
                      </a:r>
                    </a:p>
                    <a:p>
                      <a:pPr marL="0" algn="ctr">
                        <a:lnSpc>
                          <a:spcPct val="100000"/>
                        </a:lnSpc>
                        <a:spcBef>
                          <a:spcPts val="0"/>
                        </a:spcBef>
                        <a:buNone/>
                      </a:pPr>
                      <a:r>
                        <a:rPr lang="en-US" sz="2800" b="1" kern="100">
                          <a:solidFill>
                            <a:srgbClr val="FFFFFF"/>
                          </a:solidFill>
                          <a:effectLst/>
                        </a:rPr>
                        <a:t>(cột × hàng)</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0">
                      <a:noFill/>
                    </a:lnT>
                    <a:lnB w="9525">
                      <a:solidFill>
                        <a:srgbClr val="CFDDD4"/>
                      </a:solidFill>
                    </a:lnB>
                    <a:solidFill>
                      <a:srgbClr val="00B050"/>
                    </a:solidFill>
                  </a:tcPr>
                </a:tc>
                <a:tc>
                  <a:txBody>
                    <a:bodyPr/>
                    <a:lstStyle/>
                    <a:p>
                      <a:pPr marL="0" algn="r">
                        <a:lnSpc>
                          <a:spcPct val="100000"/>
                        </a:lnSpc>
                        <a:spcBef>
                          <a:spcPts val="0"/>
                        </a:spcBef>
                        <a:buNone/>
                      </a:pPr>
                      <a:r>
                        <a:rPr lang="en-US" sz="2800" b="1" kern="100">
                          <a:solidFill>
                            <a:srgbClr val="FFFFFF"/>
                          </a:solidFill>
                          <a:effectLst/>
                        </a:rPr>
                        <a:t>Số đỉnh</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0">
                      <a:noFill/>
                    </a:lnT>
                    <a:lnB w="9525">
                      <a:solidFill>
                        <a:srgbClr val="CFDDD4"/>
                      </a:solidFill>
                    </a:lnB>
                    <a:solidFill>
                      <a:srgbClr val="00B050"/>
                    </a:solidFill>
                  </a:tcPr>
                </a:tc>
                <a:tc>
                  <a:txBody>
                    <a:bodyPr/>
                    <a:lstStyle/>
                    <a:p>
                      <a:pPr marL="0" algn="ctr">
                        <a:lnSpc>
                          <a:spcPct val="100000"/>
                        </a:lnSpc>
                        <a:spcBef>
                          <a:spcPts val="0"/>
                        </a:spcBef>
                        <a:buNone/>
                      </a:pPr>
                      <a:r>
                        <a:rPr lang="en-US" sz="2800" b="1" kern="100">
                          <a:solidFill>
                            <a:srgbClr val="FFFFFF"/>
                          </a:solidFill>
                          <a:effectLst/>
                        </a:rPr>
                        <a:t>FPS</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0">
                      <a:noFill/>
                    </a:lnT>
                    <a:lnB w="9525">
                      <a:solidFill>
                        <a:srgbClr val="CFDDD4"/>
                      </a:solidFill>
                    </a:lnB>
                    <a:solidFill>
                      <a:srgbClr val="00B050"/>
                    </a:solidFill>
                  </a:tcPr>
                </a:tc>
                <a:extLst>
                  <a:ext uri="{0D108BD9-81ED-4DB2-BD59-A6C34878D82A}">
                    <a16:rowId xmlns:a16="http://schemas.microsoft.com/office/drawing/2014/main" val="1352062858"/>
                  </a:ext>
                </a:extLst>
              </a:tr>
              <a:tr h="530352">
                <a:tc>
                  <a:txBody>
                    <a:bodyPr/>
                    <a:lstStyle/>
                    <a:p>
                      <a:pPr marL="0" algn="ctr">
                        <a:lnSpc>
                          <a:spcPct val="100000"/>
                        </a:lnSpc>
                        <a:spcBef>
                          <a:spcPts val="0"/>
                        </a:spcBef>
                        <a:buNone/>
                      </a:pPr>
                      <a:r>
                        <a:rPr lang="en-US" sz="2800" kern="100">
                          <a:effectLst/>
                        </a:rPr>
                        <a:t>64 × 32</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r">
                        <a:lnSpc>
                          <a:spcPct val="100000"/>
                        </a:lnSpc>
                        <a:spcBef>
                          <a:spcPts val="0"/>
                        </a:spcBef>
                        <a:buNone/>
                      </a:pPr>
                      <a:r>
                        <a:rPr lang="en-US" sz="2800" kern="100">
                          <a:effectLst/>
                        </a:rPr>
                        <a:t>2 145</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ctr">
                        <a:lnSpc>
                          <a:spcPct val="100000"/>
                        </a:lnSpc>
                        <a:spcBef>
                          <a:spcPts val="0"/>
                        </a:spcBef>
                        <a:buNone/>
                      </a:pPr>
                      <a:r>
                        <a:rPr lang="en-US" sz="2800" kern="100">
                          <a:effectLst/>
                        </a:rPr>
                        <a:t>505 – 515</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extLst>
                  <a:ext uri="{0D108BD9-81ED-4DB2-BD59-A6C34878D82A}">
                    <a16:rowId xmlns:a16="http://schemas.microsoft.com/office/drawing/2014/main" val="4275257225"/>
                  </a:ext>
                </a:extLst>
              </a:tr>
              <a:tr h="530352">
                <a:tc>
                  <a:txBody>
                    <a:bodyPr/>
                    <a:lstStyle/>
                    <a:p>
                      <a:pPr marL="0" algn="ctr">
                        <a:lnSpc>
                          <a:spcPct val="100000"/>
                        </a:lnSpc>
                        <a:spcBef>
                          <a:spcPts val="0"/>
                        </a:spcBef>
                        <a:buNone/>
                      </a:pPr>
                      <a:r>
                        <a:rPr lang="en-US" sz="2800" kern="100">
                          <a:effectLst/>
                        </a:rPr>
                        <a:t>128 × 64</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r">
                        <a:lnSpc>
                          <a:spcPct val="100000"/>
                        </a:lnSpc>
                        <a:spcBef>
                          <a:spcPts val="0"/>
                        </a:spcBef>
                        <a:buNone/>
                      </a:pPr>
                      <a:r>
                        <a:rPr lang="en-US" sz="2800" kern="100">
                          <a:effectLst/>
                        </a:rPr>
                        <a:t>8 385</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ctr">
                        <a:lnSpc>
                          <a:spcPct val="100000"/>
                        </a:lnSpc>
                        <a:spcBef>
                          <a:spcPts val="0"/>
                        </a:spcBef>
                        <a:buNone/>
                      </a:pPr>
                      <a:r>
                        <a:rPr lang="en-US" sz="2800" kern="100">
                          <a:effectLst/>
                        </a:rPr>
                        <a:t>500 – 515</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extLst>
                  <a:ext uri="{0D108BD9-81ED-4DB2-BD59-A6C34878D82A}">
                    <a16:rowId xmlns:a16="http://schemas.microsoft.com/office/drawing/2014/main" val="495313423"/>
                  </a:ext>
                </a:extLst>
              </a:tr>
              <a:tr h="530352">
                <a:tc>
                  <a:txBody>
                    <a:bodyPr/>
                    <a:lstStyle/>
                    <a:p>
                      <a:pPr marL="0" algn="ctr">
                        <a:lnSpc>
                          <a:spcPct val="100000"/>
                        </a:lnSpc>
                        <a:spcBef>
                          <a:spcPts val="0"/>
                        </a:spcBef>
                        <a:buNone/>
                      </a:pPr>
                      <a:r>
                        <a:rPr lang="en-US" sz="2800" kern="100">
                          <a:effectLst/>
                        </a:rPr>
                        <a:t>256 × 128</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r">
                        <a:lnSpc>
                          <a:spcPct val="100000"/>
                        </a:lnSpc>
                        <a:spcBef>
                          <a:spcPts val="0"/>
                        </a:spcBef>
                        <a:buNone/>
                      </a:pPr>
                      <a:r>
                        <a:rPr lang="en-US" sz="2800" kern="100">
                          <a:effectLst/>
                        </a:rPr>
                        <a:t>33 153</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ctr">
                        <a:lnSpc>
                          <a:spcPct val="100000"/>
                        </a:lnSpc>
                        <a:spcBef>
                          <a:spcPts val="0"/>
                        </a:spcBef>
                        <a:buNone/>
                      </a:pPr>
                      <a:r>
                        <a:rPr lang="en-US" sz="2800" kern="100">
                          <a:effectLst/>
                        </a:rPr>
                        <a:t>450 – 500</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extLst>
                  <a:ext uri="{0D108BD9-81ED-4DB2-BD59-A6C34878D82A}">
                    <a16:rowId xmlns:a16="http://schemas.microsoft.com/office/drawing/2014/main" val="2789095692"/>
                  </a:ext>
                </a:extLst>
              </a:tr>
              <a:tr h="530352">
                <a:tc>
                  <a:txBody>
                    <a:bodyPr/>
                    <a:lstStyle/>
                    <a:p>
                      <a:pPr marL="0" algn="ctr">
                        <a:lnSpc>
                          <a:spcPct val="100000"/>
                        </a:lnSpc>
                        <a:spcBef>
                          <a:spcPts val="0"/>
                        </a:spcBef>
                        <a:buNone/>
                      </a:pPr>
                      <a:r>
                        <a:rPr lang="en-US" sz="2800" kern="100">
                          <a:effectLst/>
                        </a:rPr>
                        <a:t>512 × 256</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r">
                        <a:lnSpc>
                          <a:spcPct val="100000"/>
                        </a:lnSpc>
                        <a:spcBef>
                          <a:spcPts val="0"/>
                        </a:spcBef>
                        <a:buNone/>
                      </a:pPr>
                      <a:r>
                        <a:rPr lang="en-US" sz="2800" kern="100">
                          <a:effectLst/>
                        </a:rPr>
                        <a:t>131 841</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ctr">
                        <a:lnSpc>
                          <a:spcPct val="100000"/>
                        </a:lnSpc>
                        <a:spcBef>
                          <a:spcPts val="0"/>
                        </a:spcBef>
                        <a:buNone/>
                      </a:pPr>
                      <a:r>
                        <a:rPr lang="en-US" sz="2800" kern="100">
                          <a:effectLst/>
                        </a:rPr>
                        <a:t>432 – 484</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extLst>
                  <a:ext uri="{0D108BD9-81ED-4DB2-BD59-A6C34878D82A}">
                    <a16:rowId xmlns:a16="http://schemas.microsoft.com/office/drawing/2014/main" val="1981097204"/>
                  </a:ext>
                </a:extLst>
              </a:tr>
              <a:tr h="530352">
                <a:tc>
                  <a:txBody>
                    <a:bodyPr/>
                    <a:lstStyle/>
                    <a:p>
                      <a:pPr marL="0" algn="ctr">
                        <a:lnSpc>
                          <a:spcPct val="100000"/>
                        </a:lnSpc>
                        <a:spcBef>
                          <a:spcPts val="0"/>
                        </a:spcBef>
                        <a:buNone/>
                      </a:pPr>
                      <a:r>
                        <a:rPr lang="en-US" sz="2800" b="1" kern="100">
                          <a:solidFill>
                            <a:srgbClr val="FF0000"/>
                          </a:solidFill>
                          <a:effectLst/>
                        </a:rPr>
                        <a:t>1024 × 512</a:t>
                      </a:r>
                      <a:endParaRPr lang="en-US" sz="2800" b="1" kern="100">
                        <a:solidFill>
                          <a:srgbClr val="FF0000"/>
                        </a:solidFill>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DECEA"/>
                    </a:solidFill>
                  </a:tcPr>
                </a:tc>
                <a:tc>
                  <a:txBody>
                    <a:bodyPr/>
                    <a:lstStyle/>
                    <a:p>
                      <a:pPr marL="0" algn="r">
                        <a:lnSpc>
                          <a:spcPct val="100000"/>
                        </a:lnSpc>
                        <a:spcBef>
                          <a:spcPts val="0"/>
                        </a:spcBef>
                        <a:buNone/>
                      </a:pPr>
                      <a:r>
                        <a:rPr lang="en-US" sz="2800" b="1" kern="100">
                          <a:solidFill>
                            <a:srgbClr val="FF0000"/>
                          </a:solidFill>
                          <a:effectLst/>
                        </a:rPr>
                        <a:t>525 825</a:t>
                      </a:r>
                      <a:endParaRPr lang="en-US" sz="2800" b="1" kern="100">
                        <a:solidFill>
                          <a:srgbClr val="FF0000"/>
                        </a:solidFill>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DECEA"/>
                    </a:solidFill>
                  </a:tcPr>
                </a:tc>
                <a:tc>
                  <a:txBody>
                    <a:bodyPr/>
                    <a:lstStyle/>
                    <a:p>
                      <a:pPr marL="0" algn="ctr">
                        <a:lnSpc>
                          <a:spcPct val="100000"/>
                        </a:lnSpc>
                        <a:spcBef>
                          <a:spcPts val="0"/>
                        </a:spcBef>
                        <a:buNone/>
                      </a:pPr>
                      <a:r>
                        <a:rPr lang="en-US" sz="2800" b="1" kern="100">
                          <a:solidFill>
                            <a:srgbClr val="FF0000"/>
                          </a:solidFill>
                          <a:effectLst/>
                        </a:rPr>
                        <a:t>228 – 242</a:t>
                      </a:r>
                      <a:endParaRPr lang="en-US" sz="2800" b="1" kern="100">
                        <a:solidFill>
                          <a:srgbClr val="FF0000"/>
                        </a:solidFill>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DECEA"/>
                    </a:solidFill>
                  </a:tcPr>
                </a:tc>
                <a:extLst>
                  <a:ext uri="{0D108BD9-81ED-4DB2-BD59-A6C34878D82A}">
                    <a16:rowId xmlns:a16="http://schemas.microsoft.com/office/drawing/2014/main" val="1716084529"/>
                  </a:ext>
                </a:extLst>
              </a:tr>
              <a:tr h="530352">
                <a:tc>
                  <a:txBody>
                    <a:bodyPr/>
                    <a:lstStyle/>
                    <a:p>
                      <a:pPr marL="0" algn="ctr">
                        <a:lnSpc>
                          <a:spcPct val="100000"/>
                        </a:lnSpc>
                        <a:spcBef>
                          <a:spcPts val="0"/>
                        </a:spcBef>
                        <a:buNone/>
                      </a:pPr>
                      <a:r>
                        <a:rPr lang="en-US" sz="2800" kern="100">
                          <a:effectLst/>
                        </a:rPr>
                        <a:t>2048 × 1024</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r">
                        <a:lnSpc>
                          <a:spcPct val="100000"/>
                        </a:lnSpc>
                        <a:spcBef>
                          <a:spcPts val="0"/>
                        </a:spcBef>
                        <a:buNone/>
                      </a:pPr>
                      <a:r>
                        <a:rPr lang="en-US" sz="2800" kern="100">
                          <a:effectLst/>
                        </a:rPr>
                        <a:t>2 100 225</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tc>
                  <a:txBody>
                    <a:bodyPr/>
                    <a:lstStyle/>
                    <a:p>
                      <a:pPr marL="0" algn="ctr">
                        <a:lnSpc>
                          <a:spcPct val="100000"/>
                        </a:lnSpc>
                        <a:spcBef>
                          <a:spcPts val="0"/>
                        </a:spcBef>
                        <a:buNone/>
                      </a:pPr>
                      <a:r>
                        <a:rPr lang="en-US" sz="2800" kern="100">
                          <a:effectLst/>
                        </a:rPr>
                        <a:t>80 – 90</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4F9F6"/>
                    </a:solidFill>
                  </a:tcPr>
                </a:tc>
                <a:extLst>
                  <a:ext uri="{0D108BD9-81ED-4DB2-BD59-A6C34878D82A}">
                    <a16:rowId xmlns:a16="http://schemas.microsoft.com/office/drawing/2014/main" val="2154727312"/>
                  </a:ext>
                </a:extLst>
              </a:tr>
              <a:tr h="530352">
                <a:tc>
                  <a:txBody>
                    <a:bodyPr/>
                    <a:lstStyle/>
                    <a:p>
                      <a:pPr marL="0" algn="ctr">
                        <a:lnSpc>
                          <a:spcPct val="100000"/>
                        </a:lnSpc>
                        <a:spcBef>
                          <a:spcPts val="0"/>
                        </a:spcBef>
                        <a:buNone/>
                      </a:pPr>
                      <a:r>
                        <a:rPr lang="en-US" sz="2800" kern="100">
                          <a:effectLst/>
                        </a:rPr>
                        <a:t>4096 × 2048</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r">
                        <a:lnSpc>
                          <a:spcPct val="100000"/>
                        </a:lnSpc>
                        <a:spcBef>
                          <a:spcPts val="0"/>
                        </a:spcBef>
                        <a:buNone/>
                      </a:pPr>
                      <a:r>
                        <a:rPr lang="en-US" sz="2800" kern="100">
                          <a:effectLst/>
                        </a:rPr>
                        <a:t>8 394 753</a:t>
                      </a:r>
                      <a:endParaRPr lang="en-US" sz="2800" kern="100">
                        <a:effectLst/>
                        <a:latin typeface="Times New Roman" panose="02020603050405020304" pitchFamily="18" charset="0"/>
                        <a:ea typeface="Aptos" panose="020B0004020202020204" pitchFamily="34" charset="0"/>
                      </a:endParaRPr>
                    </a:p>
                  </a:txBody>
                  <a:tcPr marL="182880" marR="45720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tc>
                  <a:txBody>
                    <a:bodyPr/>
                    <a:lstStyle/>
                    <a:p>
                      <a:pPr marL="0" algn="ctr">
                        <a:lnSpc>
                          <a:spcPct val="100000"/>
                        </a:lnSpc>
                        <a:spcBef>
                          <a:spcPts val="0"/>
                        </a:spcBef>
                        <a:buNone/>
                      </a:pPr>
                      <a:r>
                        <a:rPr lang="en-US" sz="2800" kern="100">
                          <a:effectLst/>
                        </a:rPr>
                        <a:t>20 – 24</a:t>
                      </a:r>
                      <a:endParaRPr lang="en-US" sz="2800" kern="100">
                        <a:effectLst/>
                        <a:latin typeface="Times New Roman" panose="02020603050405020304" pitchFamily="18" charset="0"/>
                        <a:ea typeface="Aptos" panose="020B0004020202020204" pitchFamily="34" charset="0"/>
                      </a:endParaRPr>
                    </a:p>
                  </a:txBody>
                  <a:tcPr marL="182880" marR="182880" anchor="ctr">
                    <a:lnL w="0">
                      <a:noFill/>
                    </a:lnL>
                    <a:lnR w="0">
                      <a:noFill/>
                    </a:lnR>
                    <a:lnT w="9525" cap="flat" cmpd="sng" algn="ctr">
                      <a:solidFill>
                        <a:srgbClr val="CFDDD4"/>
                      </a:solidFill>
                      <a:prstDash val="solid"/>
                      <a:round/>
                      <a:headEnd type="none" w="med" len="med"/>
                      <a:tailEnd type="none" w="med" len="med"/>
                    </a:lnT>
                    <a:lnB w="9525">
                      <a:solidFill>
                        <a:srgbClr val="CFDDD4"/>
                      </a:solidFill>
                    </a:lnB>
                    <a:solidFill>
                      <a:srgbClr val="FFFFFF"/>
                    </a:solidFill>
                  </a:tcPr>
                </a:tc>
                <a:extLst>
                  <a:ext uri="{0D108BD9-81ED-4DB2-BD59-A6C34878D82A}">
                    <a16:rowId xmlns:a16="http://schemas.microsoft.com/office/drawing/2014/main" val="3709416557"/>
                  </a:ext>
                </a:extLst>
              </a:tr>
            </a:tbl>
          </a:graphicData>
        </a:graphic>
      </p:graphicFrame>
      <p:sp>
        <p:nvSpPr>
          <p:cNvPr id="401" name="Card">
            <a:extLst>
              <a:ext uri="{FF2B5EF4-FFF2-40B4-BE49-F238E27FC236}">
                <a16:creationId xmlns:a16="http://schemas.microsoft.com/office/drawing/2014/main" id="{7983BC08-557E-672B-D1A1-3C5FCBFE1839}"/>
              </a:ext>
            </a:extLst>
          </p:cNvPr>
          <p:cNvSpPr/>
          <p:nvPr/>
        </p:nvSpPr>
        <p:spPr>
          <a:xfrm>
            <a:off x="8069342" y="1737360"/>
            <a:ext cx="6103858" cy="4672584"/>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274320" tIns="274320" rIns="274320" bIns="274320" rtlCol="0" anchor="t">
            <a:noAutofit/>
          </a:bodyPr>
          <a:lstStyle/>
          <a:p>
            <a:pPr marL="0" indent="0" algn="l">
              <a:lnSpc>
                <a:spcPct val="100000"/>
              </a:lnSpc>
              <a:spcBef>
                <a:spcPts val="0"/>
              </a:spcBef>
              <a:buNone/>
            </a:pPr>
            <a:r>
              <a:rPr lang="vi-VN" sz="2800" b="1">
                <a:solidFill>
                  <a:srgbClr val="0B7A3E"/>
                </a:solidFill>
                <a:cs typeface="Arial" panose="020B0604020202020204" pitchFamily="34" charset="0"/>
              </a:rPr>
              <a:t>Nhận xét:</a:t>
            </a:r>
          </a:p>
          <a:p>
            <a:pPr marL="342900" indent="-342900" algn="l">
              <a:lnSpc>
                <a:spcPct val="100000"/>
              </a:lnSpc>
              <a:spcBef>
                <a:spcPts val="1000"/>
              </a:spcBef>
              <a:buFont typeface="Arial"/>
              <a:buChar char="•"/>
            </a:pPr>
            <a:r>
              <a:rPr lang="vi-VN" sz="2800">
                <a:cs typeface="Arial" panose="020B0604020202020204" pitchFamily="34" charset="0"/>
              </a:rPr>
              <a:t>Từ 2048×1024 trở lên FPS xuống dưới 90, không còn phù hợp cho VR</a:t>
            </a:r>
          </a:p>
        </p:txBody>
      </p:sp>
    </p:spTree>
    <p:extLst>
      <p:ext uri="{BB962C8B-B14F-4D97-AF65-F5344CB8AC3E}">
        <p14:creationId xmlns:p14="http://schemas.microsoft.com/office/powerpoint/2010/main" val="45327075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08716-7432-A068-A4C6-10BAA4EDA9DE}"/>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860A8F24-9693-A76D-CDFB-7BECCB22AD37}"/>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894BA26C-84CA-9B68-DCF3-404C65972D1F}"/>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DB18F33D-EB43-D492-5B7B-920A3846B04E}"/>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5CC3315D-7429-FE53-0FD5-522A01E5797C}"/>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3</a:t>
            </a:r>
          </a:p>
        </p:txBody>
      </p:sp>
      <p:sp>
        <p:nvSpPr>
          <p:cNvPr id="44" name="TextBox 43">
            <a:extLst>
              <a:ext uri="{FF2B5EF4-FFF2-40B4-BE49-F238E27FC236}">
                <a16:creationId xmlns:a16="http://schemas.microsoft.com/office/drawing/2014/main" id="{E9B9E50E-0995-5BF6-B3DB-F044A1CC10BB}"/>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Kết quả và demo</a:t>
            </a:r>
          </a:p>
        </p:txBody>
      </p:sp>
      <p:pic>
        <p:nvPicPr>
          <p:cNvPr id="7" name="Picture 6">
            <a:extLst>
              <a:ext uri="{FF2B5EF4-FFF2-40B4-BE49-F238E27FC236}">
                <a16:creationId xmlns:a16="http://schemas.microsoft.com/office/drawing/2014/main" id="{6980392D-6501-1640-B1D3-BDB841977DD0}"/>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B49FB008-268E-A621-CEDC-770424B8589B}"/>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3.2 Kết luận</a:t>
            </a:r>
          </a:p>
        </p:txBody>
      </p:sp>
      <p:sp>
        <p:nvSpPr>
          <p:cNvPr id="401" name="Heading"/>
          <p:cNvSpPr/>
          <p:nvPr/>
        </p:nvSpPr>
        <p:spPr>
          <a:xfrm>
            <a:off x="457200" y="1554480"/>
            <a:ext cx="13716000" cy="603504"/>
          </a:xfrm>
          <a:prstGeom prst="rect">
            <a:avLst/>
          </a:prstGeom>
          <a:noFill/>
          <a:ln>
            <a:noFill/>
          </a:ln>
        </p:spPr>
        <p:txBody>
          <a:bodyPr wrap="square" lIns="91440" tIns="45720" rIns="91440" bIns="45720" rtlCol="0" anchor="ctr">
            <a:noAutofit/>
          </a:bodyPr>
          <a:lstStyle/>
          <a:p>
            <a:pPr marL="0" indent="0" algn="l">
              <a:lnSpc>
                <a:spcPct val="100000"/>
              </a:lnSpc>
              <a:spcBef>
                <a:spcPts val="0"/>
              </a:spcBef>
              <a:buNone/>
            </a:pPr>
            <a:r>
              <a:rPr lang="en-US" sz="3200" b="1">
                <a:solidFill>
                  <a:srgbClr val="00B050"/>
                </a:solidFill>
                <a:latin typeface="Arial" panose="020B0604020202020204" pitchFamily="34" charset="0"/>
                <a:cs typeface="Arial" panose="020B0604020202020204" pitchFamily="34" charset="0"/>
              </a:rPr>
              <a:t>Các điểm đã làm được</a:t>
            </a:r>
            <a:r>
              <a:rPr lang="vi-VN" sz="3200">
                <a:solidFill>
                  <a:srgbClr val="00B050"/>
                </a:solidFill>
                <a:latin typeface="Arial" panose="020B0604020202020204" pitchFamily="34" charset="0"/>
                <a:cs typeface="Arial" panose="020B0604020202020204" pitchFamily="34" charset="0"/>
              </a:rPr>
              <a:t>: </a:t>
            </a:r>
            <a:endParaRPr lang="en-US" sz="3200">
              <a:solidFill>
                <a:srgbClr val="00B050"/>
              </a:solidFill>
              <a:latin typeface="Arial" panose="020B0604020202020204" pitchFamily="34" charset="0"/>
              <a:cs typeface="Arial" panose="020B0604020202020204" pitchFamily="34" charset="0"/>
            </a:endParaRPr>
          </a:p>
        </p:txBody>
      </p:sp>
      <p:sp>
        <p:nvSpPr>
          <p:cNvPr id="402" name="Card"/>
          <p:cNvSpPr/>
          <p:nvPr/>
        </p:nvSpPr>
        <p:spPr>
          <a:xfrm>
            <a:off x="457200" y="2377440"/>
            <a:ext cx="13716000" cy="1033272"/>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0B7A3E"/>
                </a:solidFill>
                <a:latin typeface="Arial" panose="020B0604020202020204" pitchFamily="34" charset="0"/>
                <a:cs typeface="Arial" panose="020B0604020202020204" pitchFamily="34" charset="0"/>
              </a:rPr>
              <a:t>Hiển thị stereo </a:t>
            </a:r>
            <a:r>
              <a:rPr lang="vi-VN" sz="2800">
                <a:latin typeface="Arial" panose="020B0604020202020204" pitchFamily="34" charset="0"/>
                <a:cs typeface="Arial" panose="020B0604020202020204" pitchFamily="34" charset="0"/>
              </a:rPr>
              <a:t>cho hai mắt (hai camera, chia đôi màn hình).</a:t>
            </a:r>
          </a:p>
        </p:txBody>
      </p:sp>
      <p:sp>
        <p:nvSpPr>
          <p:cNvPr id="403" name="Badge check"/>
          <p:cNvSpPr/>
          <p:nvPr/>
        </p:nvSpPr>
        <p:spPr>
          <a:xfrm>
            <a:off x="731520" y="2610612"/>
            <a:ext cx="566928" cy="566928"/>
          </a:xfrm>
          <a:prstGeom prst="ellipse">
            <a:avLst/>
          </a:prstGeom>
          <a:solidFill>
            <a:srgbClr val="00B050"/>
          </a:solidFill>
          <a:ln>
            <a:noFill/>
          </a:ln>
        </p:spPr>
        <p:txBody>
          <a:bodyPr wrap="square" lIns="182880" tIns="109728" rIns="182880" bIns="109728" rtlCol="0" anchor="ctr">
            <a:noAutofit/>
          </a:bodyPr>
          <a:lstStyle/>
          <a:p>
            <a:endParaRPr lang="en-US"/>
          </a:p>
        </p:txBody>
      </p:sp>
      <p:sp>
        <p:nvSpPr>
          <p:cNvPr id="404" name="Check mark"/>
          <p:cNvSpPr/>
          <p:nvPr/>
        </p:nvSpPr>
        <p:spPr>
          <a:xfrm>
            <a:off x="731520" y="2610612"/>
            <a:ext cx="566928" cy="566928"/>
          </a:xfrm>
          <a:custGeom>
            <a:avLst/>
            <a:gdLst/>
            <a:ahLst/>
            <a:cxnLst/>
            <a:rect l="0" t="0" r="r" b="b"/>
            <a:pathLst>
              <a:path w="100" h="100" fill="none">
                <a:moveTo>
                  <a:pt x="27" y="52"/>
                </a:moveTo>
                <a:lnTo>
                  <a:pt x="43" y="68"/>
                </a:lnTo>
                <a:lnTo>
                  <a:pt x="73" y="34"/>
                </a:lnTo>
              </a:path>
            </a:pathLst>
          </a:custGeom>
          <a:noFill/>
          <a:ln w="57150" cap="rnd">
            <a:solidFill>
              <a:srgbClr val="FFFFFF"/>
            </a:solidFill>
            <a:round/>
          </a:ln>
        </p:spPr>
        <p:txBody>
          <a:bodyPr/>
          <a:lstStyle/>
          <a:p>
            <a:endParaRPr lang="en-US"/>
          </a:p>
        </p:txBody>
      </p:sp>
      <p:sp>
        <p:nvSpPr>
          <p:cNvPr id="405" name="Card"/>
          <p:cNvSpPr/>
          <p:nvPr/>
        </p:nvSpPr>
        <p:spPr>
          <a:xfrm>
            <a:off x="457200" y="3593592"/>
            <a:ext cx="13716000" cy="1298448"/>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0B7A3E"/>
                </a:solidFill>
                <a:latin typeface="Arial" panose="020B0604020202020204" pitchFamily="34" charset="0"/>
                <a:cs typeface="Arial" panose="020B0604020202020204" pitchFamily="34" charset="0"/>
              </a:rPr>
              <a:t>Shader displacement </a:t>
            </a:r>
            <a:r>
              <a:rPr lang="vi-VN" sz="2800">
                <a:latin typeface="Arial" panose="020B0604020202020204" pitchFamily="34" charset="0"/>
                <a:cs typeface="Arial" panose="020B0604020202020204" pitchFamily="34" charset="0"/>
              </a:rPr>
              <a:t>tính lại vị trí từng điểm ảnh trên mesh cầu theo ảnh độ sâu, cho cảm giác thị sai khi dịch đầu.</a:t>
            </a:r>
          </a:p>
        </p:txBody>
      </p:sp>
      <p:sp>
        <p:nvSpPr>
          <p:cNvPr id="406" name="Badge check"/>
          <p:cNvSpPr/>
          <p:nvPr/>
        </p:nvSpPr>
        <p:spPr>
          <a:xfrm>
            <a:off x="731520" y="3959352"/>
            <a:ext cx="566928" cy="566928"/>
          </a:xfrm>
          <a:prstGeom prst="ellipse">
            <a:avLst/>
          </a:prstGeom>
          <a:solidFill>
            <a:srgbClr val="00B050"/>
          </a:solidFill>
          <a:ln>
            <a:noFill/>
          </a:ln>
        </p:spPr>
        <p:txBody>
          <a:bodyPr wrap="square" lIns="182880" tIns="109728" rIns="182880" bIns="109728" rtlCol="0" anchor="ctr">
            <a:noAutofit/>
          </a:bodyPr>
          <a:lstStyle/>
          <a:p>
            <a:endParaRPr lang="en-US"/>
          </a:p>
        </p:txBody>
      </p:sp>
      <p:sp>
        <p:nvSpPr>
          <p:cNvPr id="407" name="Check mark"/>
          <p:cNvSpPr/>
          <p:nvPr/>
        </p:nvSpPr>
        <p:spPr>
          <a:xfrm>
            <a:off x="731520" y="3959352"/>
            <a:ext cx="566928" cy="566928"/>
          </a:xfrm>
          <a:custGeom>
            <a:avLst/>
            <a:gdLst/>
            <a:ahLst/>
            <a:cxnLst/>
            <a:rect l="0" t="0" r="r" b="b"/>
            <a:pathLst>
              <a:path w="100" h="100" fill="none">
                <a:moveTo>
                  <a:pt x="27" y="52"/>
                </a:moveTo>
                <a:lnTo>
                  <a:pt x="43" y="68"/>
                </a:lnTo>
                <a:lnTo>
                  <a:pt x="73" y="34"/>
                </a:lnTo>
              </a:path>
            </a:pathLst>
          </a:custGeom>
          <a:noFill/>
          <a:ln w="57150" cap="rnd">
            <a:solidFill>
              <a:srgbClr val="FFFFFF"/>
            </a:solidFill>
            <a:round/>
          </a:ln>
        </p:spPr>
        <p:txBody>
          <a:bodyPr/>
          <a:lstStyle/>
          <a:p>
            <a:endParaRPr lang="en-US"/>
          </a:p>
        </p:txBody>
      </p:sp>
      <p:sp>
        <p:nvSpPr>
          <p:cNvPr id="408" name="Card"/>
          <p:cNvSpPr/>
          <p:nvPr/>
        </p:nvSpPr>
        <p:spPr>
          <a:xfrm>
            <a:off x="457200" y="5074920"/>
            <a:ext cx="13716000" cy="1298448"/>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0B7A3E"/>
                </a:solidFill>
                <a:latin typeface="Arial" panose="020B0604020202020204" pitchFamily="34" charset="0"/>
                <a:cs typeface="Arial" panose="020B0604020202020204" pitchFamily="34" charset="0"/>
              </a:rPr>
              <a:t>Giao diện </a:t>
            </a:r>
            <a:r>
              <a:rPr lang="vi-VN" sz="2800">
                <a:latin typeface="Arial" panose="020B0604020202020204" pitchFamily="34" charset="0"/>
                <a:cs typeface="Arial" panose="020B0604020202020204" pitchFamily="34" charset="0"/>
              </a:rPr>
              <a:t>đơn giản, dễ dùng: chọn độ mịn mesh, bật/tắt displacement, reset vị trí, xem tọa độ và FPS.</a:t>
            </a:r>
          </a:p>
        </p:txBody>
      </p:sp>
      <p:sp>
        <p:nvSpPr>
          <p:cNvPr id="409" name="Badge check"/>
          <p:cNvSpPr/>
          <p:nvPr/>
        </p:nvSpPr>
        <p:spPr>
          <a:xfrm>
            <a:off x="731520" y="5440680"/>
            <a:ext cx="566928" cy="566928"/>
          </a:xfrm>
          <a:prstGeom prst="ellipse">
            <a:avLst/>
          </a:prstGeom>
          <a:solidFill>
            <a:srgbClr val="00B050"/>
          </a:solidFill>
          <a:ln>
            <a:noFill/>
          </a:ln>
        </p:spPr>
        <p:txBody>
          <a:bodyPr wrap="square" lIns="182880" tIns="109728" rIns="182880" bIns="109728" rtlCol="0" anchor="ctr">
            <a:noAutofit/>
          </a:bodyPr>
          <a:lstStyle/>
          <a:p>
            <a:endParaRPr lang="en-US"/>
          </a:p>
        </p:txBody>
      </p:sp>
      <p:sp>
        <p:nvSpPr>
          <p:cNvPr id="410" name="Check mark"/>
          <p:cNvSpPr/>
          <p:nvPr/>
        </p:nvSpPr>
        <p:spPr>
          <a:xfrm>
            <a:off x="731520" y="5440680"/>
            <a:ext cx="566928" cy="566928"/>
          </a:xfrm>
          <a:custGeom>
            <a:avLst/>
            <a:gdLst/>
            <a:ahLst/>
            <a:cxnLst/>
            <a:rect l="0" t="0" r="r" b="b"/>
            <a:pathLst>
              <a:path w="100" h="100" fill="none">
                <a:moveTo>
                  <a:pt x="27" y="52"/>
                </a:moveTo>
                <a:lnTo>
                  <a:pt x="43" y="68"/>
                </a:lnTo>
                <a:lnTo>
                  <a:pt x="73" y="34"/>
                </a:lnTo>
              </a:path>
            </a:pathLst>
          </a:custGeom>
          <a:noFill/>
          <a:ln w="57150" cap="rnd">
            <a:solidFill>
              <a:srgbClr val="FFFFFF"/>
            </a:solidFill>
            <a:round/>
          </a:ln>
        </p:spPr>
        <p:txBody>
          <a:bodyPr/>
          <a:lstStyle/>
          <a:p>
            <a:endParaRPr lang="en-US"/>
          </a:p>
        </p:txBody>
      </p:sp>
      <p:sp>
        <p:nvSpPr>
          <p:cNvPr id="411" name="Card"/>
          <p:cNvSpPr/>
          <p:nvPr/>
        </p:nvSpPr>
        <p:spPr>
          <a:xfrm>
            <a:off x="457200" y="6556248"/>
            <a:ext cx="13716000" cy="1033272"/>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0B7A3E"/>
                </a:solidFill>
                <a:latin typeface="Arial" panose="020B0604020202020204" pitchFamily="34" charset="0"/>
                <a:cs typeface="Arial" panose="020B0604020202020204" pitchFamily="34" charset="0"/>
              </a:rPr>
              <a:t>Hiệu năng</a:t>
            </a:r>
            <a:r>
              <a:rPr lang="vi-VN" sz="2800">
                <a:latin typeface="Arial" panose="020B0604020202020204" pitchFamily="34" charset="0"/>
                <a:cs typeface="Arial" panose="020B0604020202020204" pitchFamily="34" charset="0"/>
              </a:rPr>
              <a:t> đạt yêu cầu: trên 90 FPS ở độ mịn mặc định.</a:t>
            </a:r>
          </a:p>
        </p:txBody>
      </p:sp>
      <p:sp>
        <p:nvSpPr>
          <p:cNvPr id="412" name="Badge check"/>
          <p:cNvSpPr/>
          <p:nvPr/>
        </p:nvSpPr>
        <p:spPr>
          <a:xfrm>
            <a:off x="731520" y="6789420"/>
            <a:ext cx="566928" cy="566928"/>
          </a:xfrm>
          <a:prstGeom prst="ellipse">
            <a:avLst/>
          </a:prstGeom>
          <a:solidFill>
            <a:srgbClr val="00B050"/>
          </a:solidFill>
          <a:ln>
            <a:noFill/>
          </a:ln>
        </p:spPr>
        <p:txBody>
          <a:bodyPr wrap="square" lIns="182880" tIns="109728" rIns="182880" bIns="109728" rtlCol="0" anchor="ctr">
            <a:noAutofit/>
          </a:bodyPr>
          <a:lstStyle/>
          <a:p>
            <a:endParaRPr lang="en-US"/>
          </a:p>
        </p:txBody>
      </p:sp>
      <p:sp>
        <p:nvSpPr>
          <p:cNvPr id="413" name="Check mark"/>
          <p:cNvSpPr/>
          <p:nvPr/>
        </p:nvSpPr>
        <p:spPr>
          <a:xfrm>
            <a:off x="731520" y="6789420"/>
            <a:ext cx="566928" cy="566928"/>
          </a:xfrm>
          <a:custGeom>
            <a:avLst/>
            <a:gdLst/>
            <a:ahLst/>
            <a:cxnLst/>
            <a:rect l="0" t="0" r="r" b="b"/>
            <a:pathLst>
              <a:path w="100" h="100" fill="none">
                <a:moveTo>
                  <a:pt x="27" y="52"/>
                </a:moveTo>
                <a:lnTo>
                  <a:pt x="43" y="68"/>
                </a:lnTo>
                <a:lnTo>
                  <a:pt x="73" y="34"/>
                </a:lnTo>
              </a:path>
            </a:pathLst>
          </a:custGeom>
          <a:noFill/>
          <a:ln w="57150" cap="rnd">
            <a:solidFill>
              <a:srgbClr val="FFFFFF"/>
            </a:solidFill>
            <a:round/>
          </a:ln>
        </p:spPr>
        <p:txBody>
          <a:bodyPr/>
          <a:lstStyle/>
          <a:p>
            <a:endParaRPr lang="en-US"/>
          </a:p>
        </p:txBody>
      </p:sp>
    </p:spTree>
    <p:extLst>
      <p:ext uri="{BB962C8B-B14F-4D97-AF65-F5344CB8AC3E}">
        <p14:creationId xmlns:p14="http://schemas.microsoft.com/office/powerpoint/2010/main" val="34907703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A5FF-4CF6-1566-FE56-6A43EDA0CDE7}"/>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22086E49-E0C3-821A-4234-7C1C8314590E}"/>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39DA4AC8-FD5C-A615-5A9F-363C2137B530}"/>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FD805594-0B97-B518-E89B-2DE7961D1B98}"/>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36A6FDC6-5A98-B8D5-0D75-5D2E923D7F7F}"/>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3</a:t>
            </a:r>
          </a:p>
        </p:txBody>
      </p:sp>
      <p:sp>
        <p:nvSpPr>
          <p:cNvPr id="44" name="TextBox 43">
            <a:extLst>
              <a:ext uri="{FF2B5EF4-FFF2-40B4-BE49-F238E27FC236}">
                <a16:creationId xmlns:a16="http://schemas.microsoft.com/office/drawing/2014/main" id="{49CA6C99-F036-E1FB-A9A0-CDAD7FCF0323}"/>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Kết quả và demo</a:t>
            </a:r>
          </a:p>
        </p:txBody>
      </p:sp>
      <p:pic>
        <p:nvPicPr>
          <p:cNvPr id="7" name="Picture 6">
            <a:extLst>
              <a:ext uri="{FF2B5EF4-FFF2-40B4-BE49-F238E27FC236}">
                <a16:creationId xmlns:a16="http://schemas.microsoft.com/office/drawing/2014/main" id="{94BF47DE-DB06-7E59-CC05-D13D4FA1ADA2}"/>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0FFA9103-B03F-2300-870B-D25242BAD7CB}"/>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3.2 Kết luận</a:t>
            </a:r>
          </a:p>
        </p:txBody>
      </p:sp>
      <p:sp>
        <p:nvSpPr>
          <p:cNvPr id="401" name="Heading"/>
          <p:cNvSpPr/>
          <p:nvPr/>
        </p:nvSpPr>
        <p:spPr>
          <a:xfrm>
            <a:off x="457200" y="1554480"/>
            <a:ext cx="13716000" cy="603504"/>
          </a:xfrm>
          <a:prstGeom prst="rect">
            <a:avLst/>
          </a:prstGeom>
          <a:noFill/>
          <a:ln>
            <a:noFill/>
          </a:ln>
        </p:spPr>
        <p:txBody>
          <a:bodyPr wrap="square" lIns="91440" tIns="45720" rIns="91440" bIns="45720" rtlCol="0" anchor="ctr">
            <a:noAutofit/>
          </a:bodyPr>
          <a:lstStyle/>
          <a:p>
            <a:pPr marL="0" indent="0" algn="l">
              <a:lnSpc>
                <a:spcPct val="100000"/>
              </a:lnSpc>
              <a:spcBef>
                <a:spcPts val="0"/>
              </a:spcBef>
              <a:buNone/>
            </a:pPr>
            <a:r>
              <a:rPr lang="en-US" sz="3200" b="1">
                <a:solidFill>
                  <a:srgbClr val="FF0000"/>
                </a:solidFill>
                <a:latin typeface="Arial" panose="020B0604020202020204" pitchFamily="34" charset="0"/>
                <a:cs typeface="Arial" panose="020B0604020202020204" pitchFamily="34" charset="0"/>
              </a:rPr>
              <a:t>Hạn chế của dự án</a:t>
            </a:r>
            <a:r>
              <a:rPr lang="vi-VN" sz="3200">
                <a:solidFill>
                  <a:srgbClr val="FF0000"/>
                </a:solidFill>
                <a:latin typeface="Arial" panose="020B0604020202020204" pitchFamily="34" charset="0"/>
                <a:cs typeface="Arial" panose="020B0604020202020204" pitchFamily="34" charset="0"/>
              </a:rPr>
              <a:t>: </a:t>
            </a:r>
            <a:endParaRPr lang="en-US" sz="3200">
              <a:solidFill>
                <a:srgbClr val="FF0000"/>
              </a:solidFill>
              <a:latin typeface="Arial" panose="020B0604020202020204" pitchFamily="34" charset="0"/>
              <a:cs typeface="Arial" panose="020B0604020202020204" pitchFamily="34" charset="0"/>
            </a:endParaRPr>
          </a:p>
        </p:txBody>
      </p:sp>
      <p:sp>
        <p:nvSpPr>
          <p:cNvPr id="402" name="Card"/>
          <p:cNvSpPr/>
          <p:nvPr/>
        </p:nvSpPr>
        <p:spPr>
          <a:xfrm>
            <a:off x="457200" y="2697480"/>
            <a:ext cx="13716000" cy="1508760"/>
          </a:xfrm>
          <a:prstGeom prst="roundRect">
            <a:avLst>
              <a:gd name="adj" fmla="val 6500"/>
            </a:avLst>
          </a:prstGeom>
          <a:solidFill>
            <a:srgbClr val="FEF1F0"/>
          </a:solidFill>
          <a:ln w="12700">
            <a:solidFill>
              <a:srgbClr val="F4C7C3"/>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B42318"/>
                </a:solidFill>
                <a:latin typeface="Arial" panose="020B0604020202020204" pitchFamily="34" charset="0"/>
                <a:cs typeface="Arial" panose="020B0604020202020204" pitchFamily="34" charset="0"/>
              </a:rPr>
              <a:t>Dữ liệu đầu vào: </a:t>
            </a:r>
            <a:r>
              <a:rPr lang="vi-VN" sz="2800">
                <a:latin typeface="Arial" panose="020B0604020202020204" pitchFamily="34" charset="0"/>
                <a:cs typeface="Arial" panose="020B0604020202020204" pitchFamily="34" charset="0"/>
              </a:rPr>
              <a:t>ảnh dựng từ Blender, chưa phải ảnh thật; chuẩn bị ảnh thật kèm độ sâu tốn nhiều công sức.</a:t>
            </a:r>
          </a:p>
        </p:txBody>
      </p:sp>
      <p:sp>
        <p:nvSpPr>
          <p:cNvPr id="403" name="Badge 1"/>
          <p:cNvSpPr/>
          <p:nvPr/>
        </p:nvSpPr>
        <p:spPr>
          <a:xfrm>
            <a:off x="731520" y="3168396"/>
            <a:ext cx="566928" cy="566928"/>
          </a:xfrm>
          <a:prstGeom prst="ellipse">
            <a:avLst/>
          </a:prstGeom>
          <a:solidFill>
            <a:srgbClr val="D92D20"/>
          </a:solidFill>
          <a:ln>
            <a:noFill/>
          </a:ln>
        </p:spPr>
        <p:txBody>
          <a:bodyPr wrap="none" lIns="0" tIns="0" rIns="0" bIns="0" rtlCol="0" anchor="ctr">
            <a:noAutofit/>
          </a:bodyPr>
          <a:lstStyle/>
          <a:p>
            <a:pPr algn="ctr"/>
            <a:r>
              <a:rPr lang="en-US" sz="2800" b="1">
                <a:solidFill>
                  <a:srgbClr val="FFFFFF"/>
                </a:solidFill>
              </a:rPr>
              <a:t>1</a:t>
            </a:r>
          </a:p>
        </p:txBody>
      </p:sp>
      <p:sp>
        <p:nvSpPr>
          <p:cNvPr id="404" name="Card"/>
          <p:cNvSpPr/>
          <p:nvPr/>
        </p:nvSpPr>
        <p:spPr>
          <a:xfrm>
            <a:off x="457200" y="4389120"/>
            <a:ext cx="13716000" cy="1924812"/>
          </a:xfrm>
          <a:prstGeom prst="roundRect">
            <a:avLst>
              <a:gd name="adj" fmla="val 6500"/>
            </a:avLst>
          </a:prstGeom>
          <a:solidFill>
            <a:srgbClr val="FEF1F0"/>
          </a:solidFill>
          <a:ln w="12700">
            <a:solidFill>
              <a:srgbClr val="F4C7C3"/>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B42318"/>
                </a:solidFill>
                <a:latin typeface="Arial" panose="020B0604020202020204" pitchFamily="34" charset="0"/>
                <a:cs typeface="Arial" panose="020B0604020202020204" pitchFamily="34" charset="0"/>
              </a:rPr>
              <a:t>Vùng khuyết và răng cưa: </a:t>
            </a:r>
            <a:r>
              <a:rPr lang="vi-VN" sz="2800">
                <a:latin typeface="Arial" panose="020B0604020202020204" pitchFamily="34" charset="0"/>
                <a:cs typeface="Arial" panose="020B0604020202020204" pitchFamily="34" charset="0"/>
              </a:rPr>
              <a:t>vùng bị vật gần che đi không có dữ liệu trong ảnh. Khi dịch đầu xa, vùng này lộ ra và biên vật bị kéo giãn, răng cưa. Đây là giới hạn của phương pháp, nên phải giới hạn dịch đầu trong 0,3 m.</a:t>
            </a:r>
          </a:p>
        </p:txBody>
      </p:sp>
      <p:sp>
        <p:nvSpPr>
          <p:cNvPr id="405" name="Badge 2"/>
          <p:cNvSpPr/>
          <p:nvPr/>
        </p:nvSpPr>
        <p:spPr>
          <a:xfrm>
            <a:off x="731520" y="5068062"/>
            <a:ext cx="566928" cy="566928"/>
          </a:xfrm>
          <a:prstGeom prst="ellipse">
            <a:avLst/>
          </a:prstGeom>
          <a:solidFill>
            <a:srgbClr val="D92D20"/>
          </a:solidFill>
          <a:ln>
            <a:noFill/>
          </a:ln>
        </p:spPr>
        <p:txBody>
          <a:bodyPr wrap="none" lIns="0" tIns="0" rIns="0" bIns="0" rtlCol="0" anchor="ctr">
            <a:noAutofit/>
          </a:bodyPr>
          <a:lstStyle/>
          <a:p>
            <a:pPr algn="ctr"/>
            <a:r>
              <a:rPr lang="en-US" sz="2800" b="1">
                <a:solidFill>
                  <a:srgbClr val="FFFFFF"/>
                </a:solidFill>
              </a:rPr>
              <a:t>2</a:t>
            </a:r>
          </a:p>
        </p:txBody>
      </p:sp>
    </p:spTree>
    <p:extLst>
      <p:ext uri="{BB962C8B-B14F-4D97-AF65-F5344CB8AC3E}">
        <p14:creationId xmlns:p14="http://schemas.microsoft.com/office/powerpoint/2010/main" val="36699773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A5FF-4CF6-1566-FE56-6A43EDA0CDE7}"/>
            </a:ext>
          </a:extLst>
        </p:cNvPr>
        <p:cNvGrpSpPr/>
        <p:nvPr/>
      </p:nvGrpSpPr>
      <p:grpSpPr>
        <a:xfrm>
          <a:off x="0" y="0"/>
          <a:ext cx="0" cy="0"/>
          <a:chOff x="0" y="0"/>
          <a:chExt cx="0" cy="0"/>
        </a:xfrm>
      </p:grpSpPr>
      <p:sp>
        <p:nvSpPr>
          <p:cNvPr id="40" name="Shape 3">
            <a:extLst>
              <a:ext uri="{FF2B5EF4-FFF2-40B4-BE49-F238E27FC236}">
                <a16:creationId xmlns:a16="http://schemas.microsoft.com/office/drawing/2014/main" id="{22086E49-E0C3-821A-4234-7C1C8314590E}"/>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39DA4AC8-FD5C-A615-5A9F-363C2137B530}"/>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FD805594-0B97-B518-E89B-2DE7961D1B98}"/>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36A6FDC6-5A98-B8D5-0D75-5D2E923D7F7F}"/>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3</a:t>
            </a:r>
          </a:p>
        </p:txBody>
      </p:sp>
      <p:sp>
        <p:nvSpPr>
          <p:cNvPr id="44" name="TextBox 43">
            <a:extLst>
              <a:ext uri="{FF2B5EF4-FFF2-40B4-BE49-F238E27FC236}">
                <a16:creationId xmlns:a16="http://schemas.microsoft.com/office/drawing/2014/main" id="{49CA6C99-F036-E1FB-A9A0-CDAD7FCF0323}"/>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Kết quả và demo</a:t>
            </a:r>
          </a:p>
        </p:txBody>
      </p:sp>
      <p:pic>
        <p:nvPicPr>
          <p:cNvPr id="7" name="Picture 6">
            <a:extLst>
              <a:ext uri="{FF2B5EF4-FFF2-40B4-BE49-F238E27FC236}">
                <a16:creationId xmlns:a16="http://schemas.microsoft.com/office/drawing/2014/main" id="{94BF47DE-DB06-7E59-CC05-D13D4FA1ADA2}"/>
              </a:ext>
            </a:extLst>
          </p:cNvPr>
          <p:cNvPicPr>
            <a:picLocks noChangeAspect="1"/>
          </p:cNvPicPr>
          <p:nvPr/>
        </p:nvPicPr>
        <p:blipFill>
          <a:blip r:embed="rId2"/>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0FFA9103-B03F-2300-870B-D25242BAD7CB}"/>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3.2 Kết luận</a:t>
            </a:r>
          </a:p>
        </p:txBody>
      </p:sp>
      <p:sp>
        <p:nvSpPr>
          <p:cNvPr id="401" name="Heading"/>
          <p:cNvSpPr/>
          <p:nvPr/>
        </p:nvSpPr>
        <p:spPr>
          <a:xfrm>
            <a:off x="457200" y="1554480"/>
            <a:ext cx="13716000" cy="603504"/>
          </a:xfrm>
          <a:prstGeom prst="rect">
            <a:avLst/>
          </a:prstGeom>
          <a:noFill/>
          <a:ln>
            <a:noFill/>
          </a:ln>
        </p:spPr>
        <p:txBody>
          <a:bodyPr wrap="square" lIns="91440" tIns="45720" rIns="91440" bIns="45720" rtlCol="0" anchor="ctr">
            <a:noAutofit/>
          </a:bodyPr>
          <a:lstStyle/>
          <a:p>
            <a:pPr marL="0" indent="0" algn="l">
              <a:lnSpc>
                <a:spcPct val="100000"/>
              </a:lnSpc>
              <a:spcBef>
                <a:spcPts val="0"/>
              </a:spcBef>
              <a:buNone/>
            </a:pPr>
            <a:r>
              <a:rPr lang="en-US" sz="3200" b="1">
                <a:solidFill>
                  <a:srgbClr val="FF0000"/>
                </a:solidFill>
                <a:latin typeface="Arial" panose="020B0604020202020204" pitchFamily="34" charset="0"/>
                <a:cs typeface="Arial" panose="020B0604020202020204" pitchFamily="34" charset="0"/>
              </a:rPr>
              <a:t>Hạn chế của dự án</a:t>
            </a:r>
            <a:r>
              <a:rPr lang="vi-VN" sz="3200">
                <a:solidFill>
                  <a:srgbClr val="FF0000"/>
                </a:solidFill>
                <a:latin typeface="Arial" panose="020B0604020202020204" pitchFamily="34" charset="0"/>
                <a:cs typeface="Arial" panose="020B0604020202020204" pitchFamily="34" charset="0"/>
              </a:rPr>
              <a:t>: </a:t>
            </a:r>
            <a:endParaRPr lang="en-US" sz="3200">
              <a:solidFill>
                <a:srgbClr val="FF0000"/>
              </a:solidFill>
              <a:latin typeface="Arial" panose="020B0604020202020204" pitchFamily="34" charset="0"/>
              <a:cs typeface="Arial" panose="020B0604020202020204" pitchFamily="34" charset="0"/>
            </a:endParaRPr>
          </a:p>
        </p:txBody>
      </p:sp>
      <p:sp>
        <p:nvSpPr>
          <p:cNvPr id="402" name="Card"/>
          <p:cNvSpPr/>
          <p:nvPr/>
        </p:nvSpPr>
        <p:spPr>
          <a:xfrm>
            <a:off x="457200" y="2697480"/>
            <a:ext cx="13716000" cy="1508760"/>
          </a:xfrm>
          <a:prstGeom prst="roundRect">
            <a:avLst>
              <a:gd name="adj" fmla="val 6500"/>
            </a:avLst>
          </a:prstGeom>
          <a:solidFill>
            <a:srgbClr val="FEF1F0"/>
          </a:solidFill>
          <a:ln w="12700">
            <a:solidFill>
              <a:srgbClr val="F4C7C3"/>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B42318"/>
                </a:solidFill>
                <a:latin typeface="Arial" panose="020B0604020202020204" pitchFamily="34" charset="0"/>
                <a:cs typeface="Arial" panose="020B0604020202020204" pitchFamily="34" charset="0"/>
              </a:rPr>
              <a:t>Chỉ một lớp độ sâu cho mỗi mắt, và ảnh tĩnh: </a:t>
            </a:r>
            <a:r>
              <a:rPr lang="vi-VN" sz="2800">
                <a:latin typeface="Arial" panose="020B0604020202020204" pitchFamily="34" charset="0"/>
                <a:cs typeface="Arial" panose="020B0604020202020204" pitchFamily="34" charset="0"/>
              </a:rPr>
              <a:t>chưa hỗ trợ video hay cảnh chuyển động.</a:t>
            </a:r>
          </a:p>
        </p:txBody>
      </p:sp>
      <p:sp>
        <p:nvSpPr>
          <p:cNvPr id="403" name="Badge 3"/>
          <p:cNvSpPr/>
          <p:nvPr/>
        </p:nvSpPr>
        <p:spPr>
          <a:xfrm>
            <a:off x="731520" y="3168396"/>
            <a:ext cx="566928" cy="566928"/>
          </a:xfrm>
          <a:prstGeom prst="ellipse">
            <a:avLst/>
          </a:prstGeom>
          <a:solidFill>
            <a:srgbClr val="D92D20"/>
          </a:solidFill>
          <a:ln>
            <a:noFill/>
          </a:ln>
        </p:spPr>
        <p:txBody>
          <a:bodyPr wrap="none" lIns="0" tIns="0" rIns="0" bIns="0" rtlCol="0" anchor="ctr">
            <a:noAutofit/>
          </a:bodyPr>
          <a:lstStyle/>
          <a:p>
            <a:pPr algn="ctr"/>
            <a:r>
              <a:rPr lang="en-US" sz="2800" b="1">
                <a:solidFill>
                  <a:srgbClr val="FFFFFF"/>
                </a:solidFill>
              </a:rPr>
              <a:t>3</a:t>
            </a:r>
          </a:p>
        </p:txBody>
      </p:sp>
      <p:sp>
        <p:nvSpPr>
          <p:cNvPr id="404" name="Card"/>
          <p:cNvSpPr/>
          <p:nvPr/>
        </p:nvSpPr>
        <p:spPr>
          <a:xfrm>
            <a:off x="457200" y="4389120"/>
            <a:ext cx="13716000" cy="1508760"/>
          </a:xfrm>
          <a:prstGeom prst="roundRect">
            <a:avLst>
              <a:gd name="adj" fmla="val 6500"/>
            </a:avLst>
          </a:prstGeom>
          <a:solidFill>
            <a:srgbClr val="FEF1F0"/>
          </a:solidFill>
          <a:ln w="12700">
            <a:solidFill>
              <a:srgbClr val="F4C7C3"/>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B42318"/>
                </a:solidFill>
                <a:latin typeface="Arial" panose="020B0604020202020204" pitchFamily="34" charset="0"/>
                <a:cs typeface="Arial" panose="020B0604020202020204" pitchFamily="34" charset="0"/>
              </a:rPr>
              <a:t>Chưa chạy trên kính VR thật: </a:t>
            </a:r>
            <a:r>
              <a:rPr lang="vi-VN" sz="2800">
                <a:latin typeface="Arial" panose="020B0604020202020204" pitchFamily="34" charset="0"/>
                <a:cs typeface="Arial" panose="020B0604020202020204" pitchFamily="34" charset="0"/>
              </a:rPr>
              <a:t>đang mô phỏng đầu bằng chuột và bàn phím, hiệu năng đo trên màn hình laptop.</a:t>
            </a:r>
          </a:p>
        </p:txBody>
      </p:sp>
      <p:sp>
        <p:nvSpPr>
          <p:cNvPr id="405" name="Badge 4"/>
          <p:cNvSpPr/>
          <p:nvPr/>
        </p:nvSpPr>
        <p:spPr>
          <a:xfrm>
            <a:off x="731520" y="4860036"/>
            <a:ext cx="566928" cy="566928"/>
          </a:xfrm>
          <a:prstGeom prst="ellipse">
            <a:avLst/>
          </a:prstGeom>
          <a:solidFill>
            <a:srgbClr val="D92D20"/>
          </a:solidFill>
          <a:ln>
            <a:noFill/>
          </a:ln>
        </p:spPr>
        <p:txBody>
          <a:bodyPr wrap="none" lIns="0" tIns="0" rIns="0" bIns="0" rtlCol="0" anchor="ctr">
            <a:noAutofit/>
          </a:bodyPr>
          <a:lstStyle/>
          <a:p>
            <a:pPr algn="ctr"/>
            <a:r>
              <a:rPr lang="en-US" sz="2800" b="1">
                <a:solidFill>
                  <a:srgbClr val="FFFFFF"/>
                </a:solidFill>
              </a:rPr>
              <a:t>4</a:t>
            </a:r>
          </a:p>
        </p:txBody>
      </p:sp>
    </p:spTree>
    <p:extLst>
      <p:ext uri="{BB962C8B-B14F-4D97-AF65-F5344CB8AC3E}">
        <p14:creationId xmlns:p14="http://schemas.microsoft.com/office/powerpoint/2010/main" val="36699773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7DB1B-B61C-60AE-32CB-DFD6C3494E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AF231FE-2B42-3160-35E2-4F27384043C5}"/>
              </a:ext>
            </a:extLst>
          </p:cNvPr>
          <p:cNvPicPr>
            <a:picLocks noChangeAspect="1"/>
          </p:cNvPicPr>
          <p:nvPr/>
        </p:nvPicPr>
        <p:blipFill>
          <a:blip r:embed="rId3"/>
          <a:stretch>
            <a:fillRect/>
          </a:stretch>
        </p:blipFill>
        <p:spPr>
          <a:xfrm>
            <a:off x="12930851" y="7895863"/>
            <a:ext cx="1851949" cy="408634"/>
          </a:xfrm>
          <a:prstGeom prst="rect">
            <a:avLst/>
          </a:prstGeom>
        </p:spPr>
      </p:pic>
      <p:sp>
        <p:nvSpPr>
          <p:cNvPr id="40" name="Shape 3">
            <a:extLst>
              <a:ext uri="{FF2B5EF4-FFF2-40B4-BE49-F238E27FC236}">
                <a16:creationId xmlns:a16="http://schemas.microsoft.com/office/drawing/2014/main" id="{920B264E-55E0-5BF2-9DCE-8482BB697608}"/>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19C9C74B-A37B-1CD6-FA4E-03090FAA433C}"/>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9C7213BB-B0B5-D9BB-5AD3-49758527FDD2}"/>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C94B7959-DFA5-E01D-2D03-05E4F284854A}"/>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3</a:t>
            </a:r>
          </a:p>
        </p:txBody>
      </p:sp>
      <p:sp>
        <p:nvSpPr>
          <p:cNvPr id="44" name="TextBox 43">
            <a:extLst>
              <a:ext uri="{FF2B5EF4-FFF2-40B4-BE49-F238E27FC236}">
                <a16:creationId xmlns:a16="http://schemas.microsoft.com/office/drawing/2014/main" id="{B60DDF72-79AE-D1BB-D5AF-EFC00F7F7A80}"/>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Kết quả và demo</a:t>
            </a:r>
          </a:p>
        </p:txBody>
      </p:sp>
      <p:pic>
        <p:nvPicPr>
          <p:cNvPr id="7" name="Picture 6">
            <a:extLst>
              <a:ext uri="{FF2B5EF4-FFF2-40B4-BE49-F238E27FC236}">
                <a16:creationId xmlns:a16="http://schemas.microsoft.com/office/drawing/2014/main" id="{22BF2ED0-A59D-D5EC-A866-44CC9581EEA4}"/>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328EEC9F-9D29-32F4-9A26-4707F30F7E45}"/>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3.2 Kết luận</a:t>
            </a:r>
          </a:p>
        </p:txBody>
      </p:sp>
      <p:sp>
        <p:nvSpPr>
          <p:cNvPr id="401" name="Heading"/>
          <p:cNvSpPr/>
          <p:nvPr/>
        </p:nvSpPr>
        <p:spPr>
          <a:xfrm>
            <a:off x="457200" y="1554480"/>
            <a:ext cx="13716000" cy="603504"/>
          </a:xfrm>
          <a:prstGeom prst="rect">
            <a:avLst/>
          </a:prstGeom>
          <a:noFill/>
          <a:ln>
            <a:noFill/>
          </a:ln>
        </p:spPr>
        <p:txBody>
          <a:bodyPr wrap="square" lIns="91440" tIns="45720" rIns="91440" bIns="45720" rtlCol="0" anchor="ctr">
            <a:noAutofit/>
          </a:bodyPr>
          <a:lstStyle/>
          <a:p>
            <a:pPr marL="0" indent="0" algn="l">
              <a:lnSpc>
                <a:spcPct val="100000"/>
              </a:lnSpc>
              <a:spcBef>
                <a:spcPts val="0"/>
              </a:spcBef>
              <a:buNone/>
            </a:pPr>
            <a:r>
              <a:rPr lang="en-US" sz="3200" b="1">
                <a:solidFill>
                  <a:schemeClr val="accent2"/>
                </a:solidFill>
                <a:latin typeface="Arial" panose="020B0604020202020204" pitchFamily="34" charset="0"/>
                <a:cs typeface="Arial" panose="020B0604020202020204" pitchFamily="34" charset="0"/>
              </a:rPr>
              <a:t>Hướng phát triển</a:t>
            </a:r>
            <a:r>
              <a:rPr lang="vi-VN" sz="3200">
                <a:solidFill>
                  <a:schemeClr val="accent2"/>
                </a:solidFill>
                <a:latin typeface="Arial" panose="020B0604020202020204" pitchFamily="34" charset="0"/>
                <a:cs typeface="Arial" panose="020B0604020202020204" pitchFamily="34" charset="0"/>
              </a:rPr>
              <a:t>: </a:t>
            </a:r>
            <a:endParaRPr lang="en-US" sz="3200">
              <a:solidFill>
                <a:schemeClr val="accent2"/>
              </a:solidFill>
              <a:latin typeface="Arial" panose="020B0604020202020204" pitchFamily="34" charset="0"/>
              <a:cs typeface="Arial" panose="020B0604020202020204" pitchFamily="34" charset="0"/>
            </a:endParaRPr>
          </a:p>
        </p:txBody>
      </p:sp>
      <p:sp>
        <p:nvSpPr>
          <p:cNvPr id="402" name="Card"/>
          <p:cNvSpPr/>
          <p:nvPr/>
        </p:nvSpPr>
        <p:spPr>
          <a:xfrm>
            <a:off x="457200" y="2377440"/>
            <a:ext cx="13716000" cy="1892808"/>
          </a:xfrm>
          <a:prstGeom prst="roundRect">
            <a:avLst>
              <a:gd name="adj" fmla="val 6500"/>
            </a:avLst>
          </a:prstGeom>
          <a:solidFill>
            <a:srgbClr val="FFF5EB"/>
          </a:solidFill>
          <a:ln w="12700">
            <a:solidFill>
              <a:srgbClr val="F9D8BB"/>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B85412"/>
                </a:solidFill>
                <a:latin typeface="Arial" panose="020B0604020202020204" pitchFamily="34" charset="0"/>
                <a:cs typeface="Arial" panose="020B0604020202020204" pitchFamily="34" charset="0"/>
              </a:rPr>
              <a:t>Dùng ảnh thật: </a:t>
            </a:r>
            <a:r>
              <a:rPr lang="vi-VN" sz="2800">
                <a:latin typeface="Arial" panose="020B0604020202020204" pitchFamily="34" charset="0"/>
                <a:cs typeface="Arial" panose="020B0604020202020204" pitchFamily="34" charset="0"/>
              </a:rPr>
              <a:t>dùng mô hình AI ước lượng độ sâu (ví dụ MiDaS hay Depth Anything) để tạo ảnh độ sâu từ ảnh panorama thật. Phần Unity gần như giữ nguyên.</a:t>
            </a:r>
          </a:p>
        </p:txBody>
      </p:sp>
      <p:sp>
        <p:nvSpPr>
          <p:cNvPr id="403" name="Badge 1"/>
          <p:cNvSpPr/>
          <p:nvPr/>
        </p:nvSpPr>
        <p:spPr>
          <a:xfrm>
            <a:off x="731520" y="3040380"/>
            <a:ext cx="566928" cy="566928"/>
          </a:xfrm>
          <a:prstGeom prst="ellipse">
            <a:avLst/>
          </a:prstGeom>
          <a:solidFill>
            <a:srgbClr val="ED7D31"/>
          </a:solidFill>
          <a:ln>
            <a:noFill/>
          </a:ln>
        </p:spPr>
        <p:txBody>
          <a:bodyPr wrap="none" lIns="0" tIns="0" rIns="0" bIns="0" rtlCol="0" anchor="ctr">
            <a:noAutofit/>
          </a:bodyPr>
          <a:lstStyle/>
          <a:p>
            <a:pPr algn="ctr"/>
            <a:r>
              <a:rPr lang="en-US" sz="2800" b="1">
                <a:solidFill>
                  <a:srgbClr val="FFFFFF"/>
                </a:solidFill>
              </a:rPr>
              <a:t>1</a:t>
            </a:r>
          </a:p>
        </p:txBody>
      </p:sp>
      <p:sp>
        <p:nvSpPr>
          <p:cNvPr id="404" name="Card"/>
          <p:cNvSpPr/>
          <p:nvPr/>
        </p:nvSpPr>
        <p:spPr>
          <a:xfrm>
            <a:off x="457200" y="4453128"/>
            <a:ext cx="13716000" cy="1476756"/>
          </a:xfrm>
          <a:prstGeom prst="roundRect">
            <a:avLst>
              <a:gd name="adj" fmla="val 6500"/>
            </a:avLst>
          </a:prstGeom>
          <a:solidFill>
            <a:srgbClr val="FFF5EB"/>
          </a:solidFill>
          <a:ln w="12700">
            <a:solidFill>
              <a:srgbClr val="F9D8BB"/>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B85412"/>
                </a:solidFill>
                <a:latin typeface="Arial" panose="020B0604020202020204" pitchFamily="34" charset="0"/>
                <a:cs typeface="Arial" panose="020B0604020202020204" pitchFamily="34" charset="0"/>
              </a:rPr>
              <a:t>Giảm răng cưa: </a:t>
            </a:r>
            <a:r>
              <a:rPr lang="vi-VN" sz="2800">
                <a:latin typeface="Arial" panose="020B0604020202020204" pitchFamily="34" charset="0"/>
                <a:cs typeface="Arial" panose="020B0604020202020204" pitchFamily="34" charset="0"/>
              </a:rPr>
              <a:t>bỏ hoặc làm mờ các tam giác bị kéo giãn quá mức (chỗ độ sâu thay đổi đột ngột) ngay trong shader. Thay đổi nhỏ nhưng thấy rõ.</a:t>
            </a:r>
          </a:p>
        </p:txBody>
      </p:sp>
      <p:sp>
        <p:nvSpPr>
          <p:cNvPr id="405" name="Badge 2"/>
          <p:cNvSpPr/>
          <p:nvPr/>
        </p:nvSpPr>
        <p:spPr>
          <a:xfrm>
            <a:off x="731520" y="4908042"/>
            <a:ext cx="566928" cy="566928"/>
          </a:xfrm>
          <a:prstGeom prst="ellipse">
            <a:avLst/>
          </a:prstGeom>
          <a:solidFill>
            <a:srgbClr val="ED7D31"/>
          </a:solidFill>
          <a:ln>
            <a:noFill/>
          </a:ln>
        </p:spPr>
        <p:txBody>
          <a:bodyPr wrap="none" lIns="0" tIns="0" rIns="0" bIns="0" rtlCol="0" anchor="ctr">
            <a:noAutofit/>
          </a:bodyPr>
          <a:lstStyle/>
          <a:p>
            <a:pPr algn="ctr"/>
            <a:r>
              <a:rPr lang="en-US" sz="2800" b="1">
                <a:solidFill>
                  <a:srgbClr val="FFFFFF"/>
                </a:solidFill>
              </a:rPr>
              <a:t>2</a:t>
            </a:r>
          </a:p>
        </p:txBody>
      </p:sp>
      <p:sp>
        <p:nvSpPr>
          <p:cNvPr id="406" name="Card"/>
          <p:cNvSpPr/>
          <p:nvPr/>
        </p:nvSpPr>
        <p:spPr>
          <a:xfrm>
            <a:off x="457200" y="6112764"/>
            <a:ext cx="13716000" cy="1476756"/>
          </a:xfrm>
          <a:prstGeom prst="roundRect">
            <a:avLst>
              <a:gd name="adj" fmla="val 6500"/>
            </a:avLst>
          </a:prstGeom>
          <a:solidFill>
            <a:srgbClr val="FFF5EB"/>
          </a:solidFill>
          <a:ln w="12700">
            <a:solidFill>
              <a:srgbClr val="F9D8BB"/>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b="1">
                <a:solidFill>
                  <a:srgbClr val="B85412"/>
                </a:solidFill>
                <a:latin typeface="Arial" panose="020B0604020202020204" pitchFamily="34" charset="0"/>
                <a:cs typeface="Arial" panose="020B0604020202020204" pitchFamily="34" charset="0"/>
              </a:rPr>
              <a:t>Nạp nhiều cặp ảnh từ giao diện: </a:t>
            </a:r>
            <a:r>
              <a:rPr lang="vi-VN" sz="2800">
                <a:latin typeface="Arial" panose="020B0604020202020204" pitchFamily="34" charset="0"/>
                <a:cs typeface="Arial" panose="020B0604020202020204" pitchFamily="34" charset="0"/>
              </a:rPr>
              <a:t>cho chọn cảnh khác ngay trong ứng dụng, thêm thanh trượt chỉnh cường độ độ sâu (DepthScale).</a:t>
            </a:r>
          </a:p>
        </p:txBody>
      </p:sp>
      <p:sp>
        <p:nvSpPr>
          <p:cNvPr id="407" name="Badge 3"/>
          <p:cNvSpPr/>
          <p:nvPr/>
        </p:nvSpPr>
        <p:spPr>
          <a:xfrm>
            <a:off x="731520" y="6567678"/>
            <a:ext cx="566928" cy="566928"/>
          </a:xfrm>
          <a:prstGeom prst="ellipse">
            <a:avLst/>
          </a:prstGeom>
          <a:solidFill>
            <a:srgbClr val="ED7D31"/>
          </a:solidFill>
          <a:ln>
            <a:noFill/>
          </a:ln>
        </p:spPr>
        <p:txBody>
          <a:bodyPr wrap="none" lIns="0" tIns="0" rIns="0" bIns="0" rtlCol="0" anchor="ctr">
            <a:noAutofit/>
          </a:bodyPr>
          <a:lstStyle/>
          <a:p>
            <a:pPr algn="ctr"/>
            <a:r>
              <a:rPr lang="en-US" sz="2800" b="1">
                <a:solidFill>
                  <a:srgbClr val="FFFFFF"/>
                </a:solidFill>
              </a:rPr>
              <a:t>3</a:t>
            </a:r>
          </a:p>
        </p:txBody>
      </p:sp>
    </p:spTree>
    <p:extLst>
      <p:ext uri="{BB962C8B-B14F-4D97-AF65-F5344CB8AC3E}">
        <p14:creationId xmlns:p14="http://schemas.microsoft.com/office/powerpoint/2010/main" val="398532214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BE7A2-E506-A562-1654-85B3CF040C5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5F498D1-6D15-D7FC-598B-ADCBCEC88C13}"/>
              </a:ext>
            </a:extLst>
          </p:cNvPr>
          <p:cNvPicPr>
            <a:picLocks noChangeAspect="1"/>
          </p:cNvPicPr>
          <p:nvPr/>
        </p:nvPicPr>
        <p:blipFill>
          <a:blip r:embed="rId3"/>
          <a:stretch>
            <a:fillRect/>
          </a:stretch>
        </p:blipFill>
        <p:spPr>
          <a:xfrm>
            <a:off x="12930851" y="7895863"/>
            <a:ext cx="1851949" cy="408634"/>
          </a:xfrm>
          <a:prstGeom prst="rect">
            <a:avLst/>
          </a:prstGeom>
        </p:spPr>
      </p:pic>
      <p:sp>
        <p:nvSpPr>
          <p:cNvPr id="40" name="Shape 3">
            <a:extLst>
              <a:ext uri="{FF2B5EF4-FFF2-40B4-BE49-F238E27FC236}">
                <a16:creationId xmlns:a16="http://schemas.microsoft.com/office/drawing/2014/main" id="{88B12FEB-2A49-B5B8-CA75-C0ED285E76AD}"/>
              </a:ext>
            </a:extLst>
          </p:cNvPr>
          <p:cNvSpPr/>
          <p:nvPr/>
        </p:nvSpPr>
        <p:spPr>
          <a:xfrm>
            <a:off x="371119" y="79484"/>
            <a:ext cx="724020" cy="573258"/>
          </a:xfrm>
          <a:prstGeom prst="roundRect">
            <a:avLst>
              <a:gd name="adj" fmla="val 10264"/>
            </a:avLst>
          </a:prstGeom>
          <a:solidFill>
            <a:srgbClr val="00B050"/>
          </a:solidFill>
          <a:ln/>
        </p:spPr>
        <p:txBody>
          <a:bodyPr/>
          <a:lstStyle/>
          <a:p>
            <a:endParaRPr lang="en-US"/>
          </a:p>
        </p:txBody>
      </p:sp>
      <p:sp>
        <p:nvSpPr>
          <p:cNvPr id="47" name="Rectangle 46">
            <a:extLst>
              <a:ext uri="{FF2B5EF4-FFF2-40B4-BE49-F238E27FC236}">
                <a16:creationId xmlns:a16="http://schemas.microsoft.com/office/drawing/2014/main" id="{3CDCD873-3045-3D06-A568-6A41B022E7E7}"/>
              </a:ext>
            </a:extLst>
          </p:cNvPr>
          <p:cNvSpPr/>
          <p:nvPr/>
        </p:nvSpPr>
        <p:spPr>
          <a:xfrm>
            <a:off x="817407" y="89021"/>
            <a:ext cx="280263" cy="5732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hape 2">
            <a:extLst>
              <a:ext uri="{FF2B5EF4-FFF2-40B4-BE49-F238E27FC236}">
                <a16:creationId xmlns:a16="http://schemas.microsoft.com/office/drawing/2014/main" id="{EC98D15D-0205-B403-4222-D4B5C7320531}"/>
              </a:ext>
            </a:extLst>
          </p:cNvPr>
          <p:cNvSpPr/>
          <p:nvPr/>
        </p:nvSpPr>
        <p:spPr>
          <a:xfrm>
            <a:off x="380385" y="77503"/>
            <a:ext cx="13638133" cy="584775"/>
          </a:xfrm>
          <a:prstGeom prst="roundRect">
            <a:avLst>
              <a:gd name="adj" fmla="val 7000"/>
            </a:avLst>
          </a:prstGeom>
          <a:noFill/>
          <a:ln w="28575">
            <a:solidFill>
              <a:schemeClr val="tx2"/>
            </a:solidFill>
            <a:prstDash val="solid"/>
          </a:ln>
        </p:spPr>
        <p:txBody>
          <a:bodyPr/>
          <a:lstStyle/>
          <a:p>
            <a:endParaRPr lang="en-US"/>
          </a:p>
        </p:txBody>
      </p:sp>
      <p:sp>
        <p:nvSpPr>
          <p:cNvPr id="43" name="TextBox 42">
            <a:extLst>
              <a:ext uri="{FF2B5EF4-FFF2-40B4-BE49-F238E27FC236}">
                <a16:creationId xmlns:a16="http://schemas.microsoft.com/office/drawing/2014/main" id="{8F9EF3E1-F464-F269-69C9-FC54BF1DD304}"/>
              </a:ext>
            </a:extLst>
          </p:cNvPr>
          <p:cNvSpPr txBox="1"/>
          <p:nvPr/>
        </p:nvSpPr>
        <p:spPr>
          <a:xfrm>
            <a:off x="362695" y="15946"/>
            <a:ext cx="724020" cy="707886"/>
          </a:xfrm>
          <a:prstGeom prst="rect">
            <a:avLst/>
          </a:prstGeom>
          <a:noFill/>
        </p:spPr>
        <p:txBody>
          <a:bodyPr wrap="square" rtlCol="0">
            <a:spAutoFit/>
          </a:bodyPr>
          <a:lstStyle/>
          <a:p>
            <a:pPr algn="ctr"/>
            <a:r>
              <a:rPr lang="en-US" sz="4000" b="1">
                <a:solidFill>
                  <a:schemeClr val="bg1"/>
                </a:solidFill>
              </a:rPr>
              <a:t>3</a:t>
            </a:r>
          </a:p>
        </p:txBody>
      </p:sp>
      <p:sp>
        <p:nvSpPr>
          <p:cNvPr id="44" name="TextBox 43">
            <a:extLst>
              <a:ext uri="{FF2B5EF4-FFF2-40B4-BE49-F238E27FC236}">
                <a16:creationId xmlns:a16="http://schemas.microsoft.com/office/drawing/2014/main" id="{7A607543-5821-42FA-8D03-CE39B2E5E33F}"/>
              </a:ext>
            </a:extLst>
          </p:cNvPr>
          <p:cNvSpPr txBox="1"/>
          <p:nvPr/>
        </p:nvSpPr>
        <p:spPr>
          <a:xfrm>
            <a:off x="1101480" y="77502"/>
            <a:ext cx="12886312" cy="584775"/>
          </a:xfrm>
          <a:prstGeom prst="rect">
            <a:avLst/>
          </a:prstGeom>
          <a:noFill/>
        </p:spPr>
        <p:txBody>
          <a:bodyPr wrap="square" rtlCol="0">
            <a:spAutoFit/>
          </a:bodyPr>
          <a:lstStyle/>
          <a:p>
            <a:pPr algn="ctr"/>
            <a:r>
              <a:rPr lang="en-US" sz="3200" b="1">
                <a:solidFill>
                  <a:srgbClr val="FF0000"/>
                </a:solidFill>
              </a:rPr>
              <a:t>Kết quả và demo</a:t>
            </a:r>
          </a:p>
        </p:txBody>
      </p:sp>
      <p:pic>
        <p:nvPicPr>
          <p:cNvPr id="7" name="Picture 6">
            <a:extLst>
              <a:ext uri="{FF2B5EF4-FFF2-40B4-BE49-F238E27FC236}">
                <a16:creationId xmlns:a16="http://schemas.microsoft.com/office/drawing/2014/main" id="{474AEBB9-F9FA-9585-FC6A-42C2CEA8F380}"/>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Box 2">
            <a:extLst>
              <a:ext uri="{FF2B5EF4-FFF2-40B4-BE49-F238E27FC236}">
                <a16:creationId xmlns:a16="http://schemas.microsoft.com/office/drawing/2014/main" id="{7EE8352E-1454-6E6F-922A-8445F4B49E90}"/>
              </a:ext>
            </a:extLst>
          </p:cNvPr>
          <p:cNvSpPr txBox="1"/>
          <p:nvPr/>
        </p:nvSpPr>
        <p:spPr>
          <a:xfrm>
            <a:off x="511496" y="878736"/>
            <a:ext cx="13607407" cy="584775"/>
          </a:xfrm>
          <a:prstGeom prst="rect">
            <a:avLst/>
          </a:prstGeom>
          <a:noFill/>
        </p:spPr>
        <p:txBody>
          <a:bodyPr wrap="square" rtlCol="0">
            <a:spAutoFit/>
          </a:bodyPr>
          <a:lstStyle/>
          <a:p>
            <a:r>
              <a:rPr lang="en-US" sz="3200" b="1">
                <a:latin typeface="Arial" panose="020B0604020202020204" pitchFamily="34" charset="0"/>
                <a:cs typeface="Arial" panose="020B0604020202020204" pitchFamily="34" charset="0"/>
              </a:rPr>
              <a:t>3.3 Demo</a:t>
            </a:r>
          </a:p>
        </p:txBody>
      </p:sp>
      <p:pic>
        <p:nvPicPr>
          <p:cNvPr id="5" name="Picture 4" descr="Unity Logo, symbol, meaning, history, PNG, brand">
            <a:hlinkClick r:id="rId4" action="ppaction://hlinkfile"/>
            <a:extLst>
              <a:ext uri="{FF2B5EF4-FFF2-40B4-BE49-F238E27FC236}">
                <a16:creationId xmlns:a16="http://schemas.microsoft.com/office/drawing/2014/main" id="{9C04709B-3F32-A60E-E1CB-E06E1F041214}"/>
              </a:ext>
            </a:extLst>
          </p:cNvPr>
          <p:cNvPicPr>
            <a:picLocks noChangeAspect="1"/>
          </p:cNvPicPr>
          <p:nvPr/>
        </p:nvPicPr>
        <p:blipFill>
          <a:blip r:embed="rId5"/>
          <a:srcRect l="23750" r="23333"/>
          <a:stretch>
            <a:fillRect/>
          </a:stretch>
        </p:blipFill>
        <p:spPr>
          <a:xfrm>
            <a:off x="11284372" y="5280660"/>
            <a:ext cx="1159936" cy="1233003"/>
          </a:xfrm>
          <a:prstGeom prst="rect">
            <a:avLst/>
          </a:prstGeom>
        </p:spPr>
      </p:pic>
      <p:sp>
        <p:nvSpPr>
          <p:cNvPr id="401" name="Heading"/>
          <p:cNvSpPr/>
          <p:nvPr/>
        </p:nvSpPr>
        <p:spPr>
          <a:xfrm>
            <a:off x="457200" y="1554480"/>
            <a:ext cx="8686800" cy="544068"/>
          </a:xfrm>
          <a:prstGeom prst="rect">
            <a:avLst/>
          </a:prstGeom>
          <a:noFill/>
          <a:ln>
            <a:noFill/>
          </a:ln>
        </p:spPr>
        <p:txBody>
          <a:bodyPr wrap="square" lIns="91440" tIns="45720" rIns="91440" bIns="45720" rtlCol="0" anchor="ctr">
            <a:noAutofit/>
          </a:bodyPr>
          <a:lstStyle/>
          <a:p>
            <a:pPr marL="0" indent="0" algn="l">
              <a:lnSpc>
                <a:spcPct val="100000"/>
              </a:lnSpc>
              <a:spcBef>
                <a:spcPts val="0"/>
              </a:spcBef>
              <a:buNone/>
            </a:pPr>
            <a:r>
              <a:rPr lang="vi-VN" sz="2800" b="1">
                <a:solidFill>
                  <a:srgbClr val="0B7A3E"/>
                </a:solidFill>
                <a:latin typeface="Arial" panose="020B0604020202020204" pitchFamily="34" charset="0"/>
                <a:cs typeface="Arial" panose="020B0604020202020204" pitchFamily="34" charset="0"/>
              </a:rPr>
              <a:t>Kết quả mong đợi:</a:t>
            </a:r>
          </a:p>
        </p:txBody>
      </p:sp>
      <p:sp>
        <p:nvSpPr>
          <p:cNvPr id="402" name="Card"/>
          <p:cNvSpPr/>
          <p:nvPr/>
        </p:nvSpPr>
        <p:spPr>
          <a:xfrm>
            <a:off x="457200" y="2377440"/>
            <a:ext cx="8686800" cy="1463040"/>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a:latin typeface="Arial" panose="020B0604020202020204" pitchFamily="34" charset="0"/>
                <a:cs typeface="Arial" panose="020B0604020202020204" pitchFamily="34" charset="0"/>
              </a:rPr>
              <a:t>Ảnh được dán lên hai mesh cầu, quan sát qua hai camera stereo.</a:t>
            </a:r>
          </a:p>
        </p:txBody>
      </p:sp>
      <p:sp>
        <p:nvSpPr>
          <p:cNvPr id="403" name="Badge check"/>
          <p:cNvSpPr/>
          <p:nvPr/>
        </p:nvSpPr>
        <p:spPr>
          <a:xfrm>
            <a:off x="731520" y="2825496"/>
            <a:ext cx="566928" cy="566928"/>
          </a:xfrm>
          <a:prstGeom prst="ellipse">
            <a:avLst/>
          </a:prstGeom>
          <a:solidFill>
            <a:srgbClr val="00B050"/>
          </a:solidFill>
          <a:ln>
            <a:noFill/>
          </a:ln>
        </p:spPr>
        <p:txBody>
          <a:bodyPr wrap="square" lIns="182880" tIns="109728" rIns="182880" bIns="109728" rtlCol="0" anchor="ctr">
            <a:noAutofit/>
          </a:bodyPr>
          <a:lstStyle/>
          <a:p>
            <a:endParaRPr lang="en-US"/>
          </a:p>
        </p:txBody>
      </p:sp>
      <p:sp>
        <p:nvSpPr>
          <p:cNvPr id="404" name="Check mark"/>
          <p:cNvSpPr/>
          <p:nvPr/>
        </p:nvSpPr>
        <p:spPr>
          <a:xfrm>
            <a:off x="731520" y="2825496"/>
            <a:ext cx="566928" cy="566928"/>
          </a:xfrm>
          <a:custGeom>
            <a:avLst/>
            <a:gdLst/>
            <a:ahLst/>
            <a:cxnLst/>
            <a:rect l="0" t="0" r="r" b="b"/>
            <a:pathLst>
              <a:path w="100" h="100" fill="none">
                <a:moveTo>
                  <a:pt x="27" y="52"/>
                </a:moveTo>
                <a:lnTo>
                  <a:pt x="43" y="68"/>
                </a:lnTo>
                <a:lnTo>
                  <a:pt x="73" y="34"/>
                </a:lnTo>
              </a:path>
            </a:pathLst>
          </a:custGeom>
          <a:noFill/>
          <a:ln w="57150" cap="rnd">
            <a:solidFill>
              <a:srgbClr val="FFFFFF"/>
            </a:solidFill>
            <a:round/>
          </a:ln>
        </p:spPr>
        <p:txBody>
          <a:bodyPr/>
          <a:lstStyle/>
          <a:p>
            <a:endParaRPr lang="en-US"/>
          </a:p>
        </p:txBody>
      </p:sp>
      <p:sp>
        <p:nvSpPr>
          <p:cNvPr id="405" name="Card"/>
          <p:cNvSpPr/>
          <p:nvPr/>
        </p:nvSpPr>
        <p:spPr>
          <a:xfrm>
            <a:off x="457200" y="4023360"/>
            <a:ext cx="8686800" cy="1463040"/>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a:latin typeface="Arial" panose="020B0604020202020204" pitchFamily="34" charset="0"/>
                <a:cs typeface="Arial" panose="020B0604020202020204" pitchFamily="34" charset="0"/>
              </a:rPr>
              <a:t>Cảm nhận được thị sai chuyển động khi dịch đầu.</a:t>
            </a:r>
          </a:p>
        </p:txBody>
      </p:sp>
      <p:sp>
        <p:nvSpPr>
          <p:cNvPr id="406" name="Badge check"/>
          <p:cNvSpPr/>
          <p:nvPr/>
        </p:nvSpPr>
        <p:spPr>
          <a:xfrm>
            <a:off x="731520" y="4471416"/>
            <a:ext cx="566928" cy="566928"/>
          </a:xfrm>
          <a:prstGeom prst="ellipse">
            <a:avLst/>
          </a:prstGeom>
          <a:solidFill>
            <a:srgbClr val="00B050"/>
          </a:solidFill>
          <a:ln>
            <a:noFill/>
          </a:ln>
        </p:spPr>
        <p:txBody>
          <a:bodyPr wrap="square" lIns="182880" tIns="109728" rIns="182880" bIns="109728" rtlCol="0" anchor="ctr">
            <a:noAutofit/>
          </a:bodyPr>
          <a:lstStyle/>
          <a:p>
            <a:endParaRPr lang="en-US"/>
          </a:p>
        </p:txBody>
      </p:sp>
      <p:sp>
        <p:nvSpPr>
          <p:cNvPr id="407" name="Check mark"/>
          <p:cNvSpPr/>
          <p:nvPr/>
        </p:nvSpPr>
        <p:spPr>
          <a:xfrm>
            <a:off x="731520" y="4471416"/>
            <a:ext cx="566928" cy="566928"/>
          </a:xfrm>
          <a:custGeom>
            <a:avLst/>
            <a:gdLst/>
            <a:ahLst/>
            <a:cxnLst/>
            <a:rect l="0" t="0" r="r" b="b"/>
            <a:pathLst>
              <a:path w="100" h="100" fill="none">
                <a:moveTo>
                  <a:pt x="27" y="52"/>
                </a:moveTo>
                <a:lnTo>
                  <a:pt x="43" y="68"/>
                </a:lnTo>
                <a:lnTo>
                  <a:pt x="73" y="34"/>
                </a:lnTo>
              </a:path>
            </a:pathLst>
          </a:custGeom>
          <a:noFill/>
          <a:ln w="57150" cap="rnd">
            <a:solidFill>
              <a:srgbClr val="FFFFFF"/>
            </a:solidFill>
            <a:round/>
          </a:ln>
        </p:spPr>
        <p:txBody>
          <a:bodyPr/>
          <a:lstStyle/>
          <a:p>
            <a:endParaRPr lang="en-US"/>
          </a:p>
        </p:txBody>
      </p:sp>
      <p:sp>
        <p:nvSpPr>
          <p:cNvPr id="408" name="Card"/>
          <p:cNvSpPr/>
          <p:nvPr/>
        </p:nvSpPr>
        <p:spPr>
          <a:xfrm>
            <a:off x="457200" y="5669280"/>
            <a:ext cx="8686800" cy="1879092"/>
          </a:xfrm>
          <a:prstGeom prst="roundRect">
            <a:avLst>
              <a:gd name="adj" fmla="val 6500"/>
            </a:avLst>
          </a:prstGeom>
          <a:solidFill>
            <a:srgbClr val="EEF8F2"/>
          </a:solidFill>
          <a:ln w="12700">
            <a:solidFill>
              <a:srgbClr val="CDE7D6"/>
            </a:solidFill>
          </a:ln>
          <a:effectLst>
            <a:outerShdw blurRad="76200" dist="25400" dir="5400000" algn="t" rotWithShape="0">
              <a:srgbClr val="000000">
                <a:alpha val="13000"/>
              </a:srgbClr>
            </a:outerShdw>
          </a:effectLst>
        </p:spPr>
        <p:txBody>
          <a:bodyPr wrap="square" lIns="1042416" tIns="201168" rIns="274320" bIns="201168" rtlCol="0" anchor="ctr">
            <a:noAutofit/>
          </a:bodyPr>
          <a:lstStyle/>
          <a:p>
            <a:pPr marL="0" indent="0" algn="l">
              <a:lnSpc>
                <a:spcPct val="100000"/>
              </a:lnSpc>
              <a:spcBef>
                <a:spcPts val="0"/>
              </a:spcBef>
              <a:buNone/>
            </a:pPr>
            <a:r>
              <a:rPr lang="vi-VN" sz="2800">
                <a:latin typeface="Arial" panose="020B0604020202020204" pitchFamily="34" charset="0"/>
                <a:cs typeface="Arial" panose="020B0604020202020204" pitchFamily="34" charset="0"/>
              </a:rPr>
              <a:t>Thấy rõ sự khác nhau khi bật và tắt displacement (hình cầu tròn so với mesh cầu).</a:t>
            </a:r>
          </a:p>
        </p:txBody>
      </p:sp>
      <p:sp>
        <p:nvSpPr>
          <p:cNvPr id="409" name="Badge check"/>
          <p:cNvSpPr/>
          <p:nvPr/>
        </p:nvSpPr>
        <p:spPr>
          <a:xfrm>
            <a:off x="731520" y="6325362"/>
            <a:ext cx="566928" cy="566928"/>
          </a:xfrm>
          <a:prstGeom prst="ellipse">
            <a:avLst/>
          </a:prstGeom>
          <a:solidFill>
            <a:srgbClr val="00B050"/>
          </a:solidFill>
          <a:ln>
            <a:noFill/>
          </a:ln>
        </p:spPr>
        <p:txBody>
          <a:bodyPr wrap="square" lIns="182880" tIns="109728" rIns="182880" bIns="109728" rtlCol="0" anchor="ctr">
            <a:noAutofit/>
          </a:bodyPr>
          <a:lstStyle/>
          <a:p>
            <a:endParaRPr lang="en-US"/>
          </a:p>
        </p:txBody>
      </p:sp>
      <p:sp>
        <p:nvSpPr>
          <p:cNvPr id="410" name="Check mark"/>
          <p:cNvSpPr/>
          <p:nvPr/>
        </p:nvSpPr>
        <p:spPr>
          <a:xfrm>
            <a:off x="731520" y="6325362"/>
            <a:ext cx="566928" cy="566928"/>
          </a:xfrm>
          <a:custGeom>
            <a:avLst/>
            <a:gdLst/>
            <a:ahLst/>
            <a:cxnLst/>
            <a:rect l="0" t="0" r="r" b="b"/>
            <a:pathLst>
              <a:path w="100" h="100" fill="none">
                <a:moveTo>
                  <a:pt x="27" y="52"/>
                </a:moveTo>
                <a:lnTo>
                  <a:pt x="43" y="68"/>
                </a:lnTo>
                <a:lnTo>
                  <a:pt x="73" y="34"/>
                </a:lnTo>
              </a:path>
            </a:pathLst>
          </a:custGeom>
          <a:noFill/>
          <a:ln w="57150" cap="rnd">
            <a:solidFill>
              <a:srgbClr val="FFFFFF"/>
            </a:solidFill>
            <a:round/>
          </a:ln>
        </p:spPr>
        <p:txBody>
          <a:bodyPr/>
          <a:lstStyle/>
          <a:p>
            <a:endParaRPr lang="en-US"/>
          </a:p>
        </p:txBody>
      </p:sp>
      <p:sp>
        <p:nvSpPr>
          <p:cNvPr id="411" name="Card"/>
          <p:cNvSpPr/>
          <p:nvPr/>
        </p:nvSpPr>
        <p:spPr>
          <a:xfrm>
            <a:off x="9555480" y="2377440"/>
            <a:ext cx="4617720" cy="2628900"/>
          </a:xfrm>
          <a:prstGeom prst="roundRect">
            <a:avLst>
              <a:gd name="adj" fmla="val 6500"/>
            </a:avLst>
          </a:prstGeom>
          <a:solidFill>
            <a:srgbClr val="FFF5EB"/>
          </a:solidFill>
          <a:ln w="12700">
            <a:solidFill>
              <a:srgbClr val="F9D8BB"/>
            </a:solidFill>
          </a:ln>
          <a:effectLst>
            <a:outerShdw blurRad="76200" dist="25400" dir="5400000" algn="t" rotWithShape="0">
              <a:srgbClr val="000000">
                <a:alpha val="13000"/>
              </a:srgbClr>
            </a:outerShdw>
          </a:effectLst>
        </p:spPr>
        <p:txBody>
          <a:bodyPr wrap="square" lIns="274320" tIns="274320" rIns="274320" bIns="274320" rtlCol="0" anchor="ctr">
            <a:noAutofit/>
          </a:bodyPr>
          <a:lstStyle/>
          <a:p>
            <a:pPr marL="0" indent="0" algn="l">
              <a:lnSpc>
                <a:spcPct val="100000"/>
              </a:lnSpc>
              <a:spcBef>
                <a:spcPts val="0"/>
              </a:spcBef>
              <a:buNone/>
            </a:pPr>
            <a:r>
              <a:rPr lang="vi-VN" sz="2800" b="1">
                <a:solidFill>
                  <a:srgbClr val="B85412"/>
                </a:solidFill>
                <a:latin typeface="Arial" panose="020B0604020202020204" pitchFamily="34" charset="0"/>
                <a:cs typeface="Arial" panose="020B0604020202020204" pitchFamily="34" charset="0"/>
              </a:rPr>
              <a:t>Thao tác</a:t>
            </a:r>
            <a:r>
              <a:rPr lang="vi-VN" sz="2800">
                <a:latin typeface="Arial" panose="020B0604020202020204" pitchFamily="34" charset="0"/>
                <a:cs typeface="Arial" panose="020B0604020202020204" pitchFamily="34" charset="0"/>
              </a:rPr>
              <a:t>: chuột phải để xoay, WASD để dịch đầu, nút Reset vị trí, nút mức mesh, nút Displacement ON/OFF.</a:t>
            </a:r>
          </a:p>
        </p:txBody>
      </p:sp>
    </p:spTree>
    <p:extLst>
      <p:ext uri="{BB962C8B-B14F-4D97-AF65-F5344CB8AC3E}">
        <p14:creationId xmlns:p14="http://schemas.microsoft.com/office/powerpoint/2010/main" val="91262888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B33EB-13DA-F873-BC32-BE85C6AF9B0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5F433D8-D4F4-2076-FC6B-D597AF2766D0}"/>
              </a:ext>
            </a:extLst>
          </p:cNvPr>
          <p:cNvPicPr>
            <a:picLocks noChangeAspect="1"/>
          </p:cNvPicPr>
          <p:nvPr/>
        </p:nvPicPr>
        <p:blipFill>
          <a:blip r:embed="rId3"/>
          <a:stretch>
            <a:fillRect/>
          </a:stretch>
        </p:blipFill>
        <p:spPr>
          <a:xfrm>
            <a:off x="12793691" y="7819663"/>
            <a:ext cx="1851949" cy="408634"/>
          </a:xfrm>
          <a:prstGeom prst="rect">
            <a:avLst/>
          </a:prstGeom>
        </p:spPr>
      </p:pic>
      <p:pic>
        <p:nvPicPr>
          <p:cNvPr id="4" name="Picture 3">
            <a:extLst>
              <a:ext uri="{FF2B5EF4-FFF2-40B4-BE49-F238E27FC236}">
                <a16:creationId xmlns:a16="http://schemas.microsoft.com/office/drawing/2014/main" id="{21B9B879-9EDF-F697-87CD-36CF2BECFED7}"/>
              </a:ext>
            </a:extLst>
          </p:cNvPr>
          <p:cNvPicPr>
            <a:picLocks noChangeAspect="1"/>
          </p:cNvPicPr>
          <p:nvPr/>
        </p:nvPicPr>
        <p:blipFill>
          <a:blip r:embed="rId3"/>
          <a:stretch>
            <a:fillRect/>
          </a:stretch>
        </p:blipFill>
        <p:spPr>
          <a:xfrm>
            <a:off x="12778451" y="7743463"/>
            <a:ext cx="1851949" cy="408634"/>
          </a:xfrm>
          <a:prstGeom prst="rect">
            <a:avLst/>
          </a:prstGeom>
        </p:spPr>
      </p:pic>
      <p:sp>
        <p:nvSpPr>
          <p:cNvPr id="3" name="Text 0">
            <a:extLst>
              <a:ext uri="{FF2B5EF4-FFF2-40B4-BE49-F238E27FC236}">
                <a16:creationId xmlns:a16="http://schemas.microsoft.com/office/drawing/2014/main" id="{EE838768-F1E7-91E1-09AC-59E523C4E787}"/>
              </a:ext>
            </a:extLst>
          </p:cNvPr>
          <p:cNvSpPr/>
          <p:nvPr/>
        </p:nvSpPr>
        <p:spPr>
          <a:xfrm>
            <a:off x="-115747" y="2277181"/>
            <a:ext cx="14630400" cy="708779"/>
          </a:xfrm>
          <a:prstGeom prst="rect">
            <a:avLst/>
          </a:prstGeom>
          <a:noFill/>
          <a:ln/>
        </p:spPr>
        <p:txBody>
          <a:bodyPr wrap="none" lIns="0" tIns="0" rIns="0" bIns="0" rtlCol="0" anchor="t"/>
          <a:lstStyle/>
          <a:p>
            <a:pPr marL="0" indent="0" algn="ctr">
              <a:lnSpc>
                <a:spcPts val="5550"/>
              </a:lnSpc>
              <a:buNone/>
            </a:pPr>
            <a:r>
              <a:rPr lang="en-US" sz="4450" b="1">
                <a:solidFill>
                  <a:srgbClr val="030303"/>
                </a:solidFill>
                <a:latin typeface="Arimo Semi Bold" pitchFamily="34" charset="0"/>
                <a:ea typeface="Arimo Semi Bold" pitchFamily="34" charset="-122"/>
                <a:cs typeface="Arimo Semi Bold" pitchFamily="34" charset="-120"/>
              </a:rPr>
              <a:t>Cảm ơn Thầy và các bạn đã chú ý lắng nghe!</a:t>
            </a:r>
            <a:endParaRPr lang="en-US" sz="4450" b="1" dirty="0"/>
          </a:p>
        </p:txBody>
      </p:sp>
      <p:pic>
        <p:nvPicPr>
          <p:cNvPr id="5" name="Picture 4" descr="Like - Free social media icons">
            <a:extLst>
              <a:ext uri="{FF2B5EF4-FFF2-40B4-BE49-F238E27FC236}">
                <a16:creationId xmlns:a16="http://schemas.microsoft.com/office/drawing/2014/main" id="{00E9A1B8-21A9-505F-6FC6-23BAEA6362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4883" y="4114800"/>
            <a:ext cx="3520633" cy="3520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5556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1385</TotalTime>
  <Words>1846</Words>
  <Application>Microsoft Office PowerPoint</Application>
  <PresentationFormat>Custom</PresentationFormat>
  <Paragraphs>285</Paragraphs>
  <Slides>27</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Times New Roman</vt:lpstr>
      <vt:lpstr>Arimo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admin_nguyen</cp:lastModifiedBy>
  <cp:revision>93</cp:revision>
  <dcterms:created xsi:type="dcterms:W3CDTF">2026-04-16T12:58:21Z</dcterms:created>
  <dcterms:modified xsi:type="dcterms:W3CDTF">2026-10-24T06:58:55Z</dcterms:modified>
</cp:coreProperties>
</file>